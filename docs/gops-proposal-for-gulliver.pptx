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image" Target="../media/image14.jpg"/><Relationship Id="rId5" Type="http://schemas.openxmlformats.org/officeDocument/2006/relationships/image" Target="../media/image1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image" Target="../media/image1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22415" y="-1463040"/>
            <a:ext cx="6766560" cy="4206240"/>
          </a:xfrm>
          <a:prstGeom prst="roundRect">
            <a:avLst>
              <a:gd name="adj" fmla="val 50000"/>
            </a:avLst>
          </a:prstGeom>
          <a:solidFill>
            <a:srgbClr val="F3DC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77240"/>
            <a:ext cx="7315200" cy="320040"/>
          </a:xfrm>
          <a:prstGeom prst="rect">
            <a:avLst/>
          </a:prstGeom>
          <a:noFill/>
        </p:spPr>
        <p:txBody>
          <a:bodyPr wrap="square" anchor="t" lIns="0" rIns="0" tIns="0" bIns="0">
            <a:spAutoFit/>
          </a:bodyPr>
          <a:lstStyle/>
          <a:p>
            <a:pPr algn="l">
              <a:lnSpc>
                <a:spcPct val="128000"/>
              </a:lnSpc>
            </a:pPr>
            <a:r>
              <a:rPr sz="1300" b="1" i="0">
                <a:solidFill>
                  <a:srgbClr val="C8722F"/>
                </a:solidFill>
                <a:latin typeface="Yu Gothic"/>
              </a:rPr>
              <a:t>ご提案資料　／　PROPOSAL</a:t>
            </a:r>
          </a:p>
        </p:txBody>
      </p:sp>
      <p:sp>
        <p:nvSpPr>
          <p:cNvPr id="4" name="TextBox 3"/>
          <p:cNvSpPr txBox="1"/>
          <p:nvPr/>
        </p:nvSpPr>
        <p:spPr>
          <a:xfrm>
            <a:off x="777240" y="1143000"/>
            <a:ext cx="9601200" cy="1005840"/>
          </a:xfrm>
          <a:prstGeom prst="rect">
            <a:avLst/>
          </a:prstGeom>
          <a:noFill/>
        </p:spPr>
        <p:txBody>
          <a:bodyPr wrap="square" anchor="t" lIns="0" rIns="0" tIns="0" bIns="0">
            <a:spAutoFit/>
          </a:bodyPr>
          <a:lstStyle/>
          <a:p>
            <a:pPr algn="l">
              <a:lnSpc>
                <a:spcPct val="128000"/>
              </a:lnSpc>
            </a:pPr>
            <a:r>
              <a:rPr sz="5200" b="1" i="0">
                <a:solidFill>
                  <a:srgbClr val="2A2724"/>
                </a:solidFill>
                <a:latin typeface="Yu Gothic"/>
              </a:rPr>
              <a:t>G-OPS（仮称）</a:t>
            </a:r>
          </a:p>
        </p:txBody>
      </p:sp>
      <p:sp>
        <p:nvSpPr>
          <p:cNvPr id="5" name="TextBox 4"/>
          <p:cNvSpPr txBox="1"/>
          <p:nvPr/>
        </p:nvSpPr>
        <p:spPr>
          <a:xfrm>
            <a:off x="822960" y="2148840"/>
            <a:ext cx="7315200" cy="502920"/>
          </a:xfrm>
          <a:prstGeom prst="rect">
            <a:avLst/>
          </a:prstGeom>
          <a:noFill/>
        </p:spPr>
        <p:txBody>
          <a:bodyPr wrap="square" anchor="t" lIns="0" rIns="0" tIns="0" bIns="0">
            <a:spAutoFit/>
          </a:bodyPr>
          <a:lstStyle/>
          <a:p>
            <a:pPr algn="l">
              <a:lnSpc>
                <a:spcPct val="128000"/>
              </a:lnSpc>
            </a:pPr>
            <a:r>
              <a:rPr sz="2200" b="0" i="0">
                <a:solidFill>
                  <a:srgbClr val="6B655D"/>
                </a:solidFill>
                <a:latin typeface="Yu Gothic"/>
              </a:rPr>
              <a:t>G-SYS Operations Portal</a:t>
            </a:r>
          </a:p>
        </p:txBody>
      </p:sp>
      <p:sp>
        <p:nvSpPr>
          <p:cNvPr id="6" name="Rectangle 5"/>
          <p:cNvSpPr/>
          <p:nvPr/>
        </p:nvSpPr>
        <p:spPr>
          <a:xfrm>
            <a:off x="822960" y="2724912"/>
            <a:ext cx="41148" cy="822960"/>
          </a:xfrm>
          <a:prstGeom prst="rect">
            <a:avLst/>
          </a:prstGeom>
          <a:solidFill>
            <a:srgbClr val="C87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724912"/>
            <a:ext cx="6949440" cy="822960"/>
          </a:xfrm>
          <a:prstGeom prst="rect">
            <a:avLst/>
          </a:prstGeom>
          <a:noFill/>
        </p:spPr>
        <p:txBody>
          <a:bodyPr wrap="square" anchor="t" lIns="0" rIns="0" tIns="0" bIns="0">
            <a:spAutoFit/>
          </a:bodyPr>
          <a:lstStyle/>
          <a:p>
            <a:pPr algn="l">
              <a:lnSpc>
                <a:spcPct val="135000"/>
              </a:lnSpc>
            </a:pPr>
            <a:r>
              <a:rPr sz="1500" b="0" i="0">
                <a:solidFill>
                  <a:srgbClr val="6B655D"/>
                </a:solidFill>
                <a:latin typeface="Yu Gothic"/>
              </a:rPr>
              <a:t>既存のG-SYSを置き換えるのではなく、活かしながら—</a:t>
            </a:r>
          </a:p>
          <a:p>
            <a:pPr algn="l">
              <a:lnSpc>
                <a:spcPct val="135000"/>
              </a:lnSpc>
            </a:pPr>
            <a:r>
              <a:rPr sz="1500" b="0" i="0">
                <a:solidFill>
                  <a:srgbClr val="6B655D"/>
                </a:solidFill>
                <a:latin typeface="Yu Gothic"/>
              </a:rPr>
              <a:t>発注を中心とした業務を、ひとつの画面でつなげます。</a:t>
            </a:r>
          </a:p>
        </p:txBody>
      </p:sp>
      <p:cxnSp>
        <p:nvCxnSpPr>
          <p:cNvPr id="8" name="Connector 7"/>
          <p:cNvCxnSpPr/>
          <p:nvPr/>
        </p:nvCxnSpPr>
        <p:spPr>
          <a:xfrm>
            <a:off x="822960" y="5257800"/>
            <a:ext cx="10545775" cy="0"/>
          </a:xfrm>
          <a:prstGeom prst="line">
            <a:avLst/>
          </a:prstGeom>
          <a:ln w="12700">
            <a:solidFill>
              <a:srgbClr val="E4DED5"/>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22960" y="5440680"/>
            <a:ext cx="5486400" cy="365760"/>
          </a:xfrm>
          <a:prstGeom prst="rect">
            <a:avLst/>
          </a:prstGeom>
          <a:noFill/>
        </p:spPr>
        <p:txBody>
          <a:bodyPr wrap="square" anchor="t" lIns="0" rIns="0" tIns="0" bIns="0">
            <a:spAutoFit/>
          </a:bodyPr>
          <a:lstStyle/>
          <a:p>
            <a:pPr algn="l">
              <a:lnSpc>
                <a:spcPct val="128000"/>
              </a:lnSpc>
            </a:pPr>
            <a:r>
              <a:rPr sz="1500" b="1" i="0">
                <a:solidFill>
                  <a:srgbClr val="2A2724"/>
                </a:solidFill>
                <a:latin typeface="Yu Gothic"/>
              </a:rPr>
              <a:t>Gulliver株式会社 御中</a:t>
            </a:r>
          </a:p>
        </p:txBody>
      </p:sp>
      <p:sp>
        <p:nvSpPr>
          <p:cNvPr id="10" name="TextBox 9"/>
          <p:cNvSpPr txBox="1"/>
          <p:nvPr/>
        </p:nvSpPr>
        <p:spPr>
          <a:xfrm>
            <a:off x="8442655" y="5440680"/>
            <a:ext cx="2926080" cy="548640"/>
          </a:xfrm>
          <a:prstGeom prst="rect">
            <a:avLst/>
          </a:prstGeom>
          <a:noFill/>
        </p:spPr>
        <p:txBody>
          <a:bodyPr wrap="square" anchor="t" lIns="0" rIns="0" tIns="0" bIns="0">
            <a:spAutoFit/>
          </a:bodyPr>
          <a:lstStyle/>
          <a:p>
            <a:pPr algn="r">
              <a:lnSpc>
                <a:spcPct val="128000"/>
              </a:lnSpc>
            </a:pPr>
            <a:r>
              <a:rPr sz="1200" b="0" i="0">
                <a:solidFill>
                  <a:srgbClr val="9A938A"/>
                </a:solidFill>
                <a:latin typeface="Yu Gothic"/>
              </a:rPr>
              <a:t>Phase1</a:t>
            </a:r>
          </a:p>
          <a:p>
            <a:pPr algn="r">
              <a:lnSpc>
                <a:spcPct val="128000"/>
              </a:lnSpc>
            </a:pPr>
            <a:r>
              <a:rPr sz="1200" b="0" i="0">
                <a:solidFill>
                  <a:srgbClr val="9A938A"/>
                </a:solidFill>
                <a:latin typeface="Yu Gothic"/>
              </a:rPr>
              <a:t>2026年9月</a:t>
            </a:r>
          </a:p>
        </p:txBody>
      </p:sp>
      <p:sp>
        <p:nvSpPr>
          <p:cNvPr id="11" name="TextBox 10"/>
          <p:cNvSpPr txBox="1"/>
          <p:nvPr/>
        </p:nvSpPr>
        <p:spPr>
          <a:xfrm>
            <a:off x="822960" y="5989320"/>
            <a:ext cx="10545775" cy="548640"/>
          </a:xfrm>
          <a:prstGeom prst="rect">
            <a:avLst/>
          </a:prstGeom>
          <a:noFill/>
        </p:spPr>
        <p:txBody>
          <a:bodyPr wrap="square" anchor="t" lIns="0" rIns="0" tIns="0" bIns="0">
            <a:spAutoFit/>
          </a:bodyPr>
          <a:lstStyle/>
          <a:p>
            <a:pPr algn="l">
              <a:lnSpc>
                <a:spcPct val="128000"/>
              </a:lnSpc>
            </a:pPr>
            <a:r>
              <a:rPr sz="1050" b="0" i="0">
                <a:solidFill>
                  <a:srgbClr val="9A938A"/>
                </a:solidFill>
                <a:latin typeface="Yu Gothic"/>
              </a:rPr>
              <a:t>本資料は、実際に動作している検証環境（PoC）の画面をもとに構成しています。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5486400" cy="274320"/>
          </a:xfrm>
          <a:prstGeom prst="rect">
            <a:avLst/>
          </a:prstGeom>
          <a:noFill/>
        </p:spPr>
        <p:txBody>
          <a:bodyPr wrap="square" anchor="t" lIns="0" rIns="0" tIns="0" bIns="0">
            <a:spAutoFit/>
          </a:bodyPr>
          <a:lstStyle/>
          <a:p>
            <a:pPr algn="l">
              <a:lnSpc>
                <a:spcPct val="128000"/>
              </a:lnSpc>
            </a:pPr>
            <a:r>
              <a:rPr sz="1150" b="1" i="0">
                <a:solidFill>
                  <a:srgbClr val="C8722F"/>
                </a:solidFill>
                <a:latin typeface="Yu Gothic"/>
              </a:rPr>
              <a:t>OVERVIEW</a:t>
            </a:r>
          </a:p>
        </p:txBody>
      </p:sp>
      <p:sp>
        <p:nvSpPr>
          <p:cNvPr id="3" name="TextBox 2"/>
          <p:cNvSpPr txBox="1"/>
          <p:nvPr/>
        </p:nvSpPr>
        <p:spPr>
          <a:xfrm>
            <a:off x="9402775" y="384048"/>
            <a:ext cx="2286000" cy="274320"/>
          </a:xfrm>
          <a:prstGeom prst="rect">
            <a:avLst/>
          </a:prstGeom>
          <a:noFill/>
        </p:spPr>
        <p:txBody>
          <a:bodyPr wrap="square" anchor="t" lIns="0" rIns="0" tIns="0" bIns="0">
            <a:spAutoFit/>
          </a:bodyPr>
          <a:lstStyle/>
          <a:p>
            <a:pPr algn="r">
              <a:lnSpc>
                <a:spcPct val="128000"/>
              </a:lnSpc>
            </a:pPr>
            <a:r>
              <a:rPr sz="1050" b="0" i="0">
                <a:solidFill>
                  <a:srgbClr val="9A938A"/>
                </a:solidFill>
                <a:latin typeface="Yu Gothic"/>
              </a:rPr>
              <a:t>02 / 12</a:t>
            </a:r>
          </a:p>
        </p:txBody>
      </p:sp>
      <p:sp>
        <p:nvSpPr>
          <p:cNvPr id="4" name="TextBox 3"/>
          <p:cNvSpPr txBox="1"/>
          <p:nvPr/>
        </p:nvSpPr>
        <p:spPr>
          <a:xfrm>
            <a:off x="502920" y="658368"/>
            <a:ext cx="11185855" cy="548640"/>
          </a:xfrm>
          <a:prstGeom prst="rect">
            <a:avLst/>
          </a:prstGeom>
          <a:noFill/>
        </p:spPr>
        <p:txBody>
          <a:bodyPr wrap="square" anchor="t" lIns="0" rIns="0" tIns="0" bIns="0">
            <a:spAutoFit/>
          </a:bodyPr>
          <a:lstStyle/>
          <a:p>
            <a:pPr algn="l">
              <a:lnSpc>
                <a:spcPct val="128000"/>
              </a:lnSpc>
            </a:pPr>
            <a:r>
              <a:rPr sz="2700" b="1" i="0">
                <a:solidFill>
                  <a:srgbClr val="2A2724"/>
                </a:solidFill>
                <a:latin typeface="Yu Gothic"/>
              </a:rPr>
              <a:t>G-OPSの全体像</a:t>
            </a:r>
          </a:p>
        </p:txBody>
      </p:sp>
      <p:sp>
        <p:nvSpPr>
          <p:cNvPr id="5" name="TextBox 4"/>
          <p:cNvSpPr txBox="1"/>
          <p:nvPr/>
        </p:nvSpPr>
        <p:spPr>
          <a:xfrm>
            <a:off x="502920" y="1115568"/>
            <a:ext cx="11185855" cy="365760"/>
          </a:xfrm>
          <a:prstGeom prst="rect">
            <a:avLst/>
          </a:prstGeom>
          <a:noFill/>
        </p:spPr>
        <p:txBody>
          <a:bodyPr wrap="square" anchor="t" lIns="0" rIns="0" tIns="0" bIns="0">
            <a:spAutoFit/>
          </a:bodyPr>
          <a:lstStyle/>
          <a:p>
            <a:pPr algn="l">
              <a:lnSpc>
                <a:spcPct val="128000"/>
              </a:lnSpc>
            </a:pPr>
            <a:r>
              <a:rPr sz="1300" b="0" i="0">
                <a:solidFill>
                  <a:srgbClr val="6B655D"/>
                </a:solidFill>
                <a:latin typeface="Yu Gothic"/>
              </a:rPr>
              <a:t>G-SYSを置き換えるのではなく、既存の資産を活かしながら業務を広げるという考え方です。</a:t>
            </a:r>
          </a:p>
        </p:txBody>
      </p:sp>
      <p:cxnSp>
        <p:nvCxnSpPr>
          <p:cNvPr id="6" name="Connector 5"/>
          <p:cNvCxnSpPr/>
          <p:nvPr/>
        </p:nvCxnSpPr>
        <p:spPr>
          <a:xfrm>
            <a:off x="502920" y="1609343"/>
            <a:ext cx="11185855" cy="0"/>
          </a:xfrm>
          <a:prstGeom prst="line">
            <a:avLst/>
          </a:prstGeom>
          <a:ln w="12700">
            <a:solidFill>
              <a:srgbClr val="E4DED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1901952"/>
            <a:ext cx="5212080" cy="3291840"/>
          </a:xfrm>
          <a:prstGeom prst="rect">
            <a:avLst/>
          </a:prstGeom>
          <a:noFill/>
        </p:spPr>
        <p:txBody>
          <a:bodyPr wrap="square" anchor="t" lIns="0" rIns="0" tIns="0" bIns="0">
            <a:spAutoFit/>
          </a:bodyPr>
          <a:lstStyle/>
          <a:p>
            <a:pPr algn="l">
              <a:lnSpc>
                <a:spcPct val="145000"/>
              </a:lnSpc>
            </a:pPr>
            <a:r>
              <a:rPr sz="1350" b="0" i="0">
                <a:solidFill>
                  <a:srgbClr val="2A2724"/>
                </a:solidFill>
                <a:latin typeface="Yu Gothic"/>
              </a:rPr>
              <a:t>G-OPSは、G-SYSに置き換わる新しいシステムではありません。G-SYSが持つ在庫・発注実績・発注判断のロジックといった既存の資産をそのまま活用しながら、その上で発注や関連業務をひとつの画面で行えるようにする仕組みです。</a:t>
            </a:r>
          </a:p>
          <a:p>
            <a:pPr algn="l">
              <a:lnSpc>
                <a:spcPct val="145000"/>
              </a:lnSpc>
            </a:pPr>
            <a:r>
              <a:rPr sz="1350" b="0" i="0">
                <a:solidFill>
                  <a:srgbClr val="2A2724"/>
                </a:solidFill>
                <a:latin typeface="Yu Gothic"/>
              </a:rPr>
              <a:t/>
            </a:r>
          </a:p>
          <a:p>
            <a:pPr algn="l">
              <a:lnSpc>
                <a:spcPct val="145000"/>
              </a:lnSpc>
            </a:pPr>
            <a:r>
              <a:rPr sz="1350" b="0" i="0">
                <a:solidFill>
                  <a:srgbClr val="2A2724"/>
                </a:solidFill>
                <a:latin typeface="Yu Gothic"/>
              </a:rPr>
              <a:t>G-SYSのデータは常に参照専用（読み取り専用）で扱われ、G-SYS本体に書き込みが行われることはありません。発注の履歴・承認・監査ログといったG-OPS独自の業務データは、G-SYSとは別の専用データベースで管理します。</a:t>
            </a:r>
          </a:p>
        </p:txBody>
      </p:sp>
      <p:pic>
        <p:nvPicPr>
          <p:cNvPr id="8" name="Picture 7" descr="diagram_a.png"/>
          <p:cNvPicPr>
            <a:picLocks noChangeAspect="1"/>
          </p:cNvPicPr>
          <p:nvPr/>
        </p:nvPicPr>
        <p:blipFill>
          <a:blip r:embed="rId2"/>
          <a:stretch>
            <a:fillRect/>
          </a:stretch>
        </p:blipFill>
        <p:spPr>
          <a:xfrm>
            <a:off x="7208215" y="1856231"/>
            <a:ext cx="4206240" cy="4056017"/>
          </a:xfrm>
          <a:prstGeom prst="rect">
            <a:avLst/>
          </a:prstGeom>
        </p:spPr>
      </p:pic>
      <p:sp>
        <p:nvSpPr>
          <p:cNvPr id="9" name="TextBox 8"/>
          <p:cNvSpPr txBox="1"/>
          <p:nvPr/>
        </p:nvSpPr>
        <p:spPr>
          <a:xfrm>
            <a:off x="7116775" y="5957969"/>
            <a:ext cx="4389120" cy="685800"/>
          </a:xfrm>
          <a:prstGeom prst="rect">
            <a:avLst/>
          </a:prstGeom>
          <a:noFill/>
        </p:spPr>
        <p:txBody>
          <a:bodyPr wrap="square" anchor="t" lIns="0" rIns="0" tIns="0" bIns="0">
            <a:spAutoFit/>
          </a:bodyPr>
          <a:lstStyle/>
          <a:p>
            <a:pPr algn="l">
              <a:lnSpc>
                <a:spcPct val="130000"/>
              </a:lnSpc>
            </a:pPr>
            <a:r>
              <a:rPr sz="1000" b="0" i="0">
                <a:solidFill>
                  <a:srgbClr val="6B655D"/>
                </a:solidFill>
                <a:latin typeface="Yu Gothic"/>
              </a:rPr>
              <a:t>G-OPSはG-SYSのデータを読み取り専用で参照します（Legacy AdapterはG-OPS側の新設コンポーネント）。発注履歴・承認・監査ログはPortal DBで管理します。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5486400" cy="274320"/>
          </a:xfrm>
          <a:prstGeom prst="rect">
            <a:avLst/>
          </a:prstGeom>
          <a:noFill/>
        </p:spPr>
        <p:txBody>
          <a:bodyPr wrap="square" anchor="t" lIns="0" rIns="0" tIns="0" bIns="0">
            <a:spAutoFit/>
          </a:bodyPr>
          <a:lstStyle/>
          <a:p>
            <a:pPr algn="l">
              <a:lnSpc>
                <a:spcPct val="128000"/>
              </a:lnSpc>
            </a:pPr>
            <a:r>
              <a:rPr sz="1150" b="1" i="0">
                <a:solidFill>
                  <a:srgbClr val="C8722F"/>
                </a:solidFill>
                <a:latin typeface="Yu Gothic"/>
              </a:rPr>
              <a:t>SCENE 1</a:t>
            </a:r>
          </a:p>
        </p:txBody>
      </p:sp>
      <p:sp>
        <p:nvSpPr>
          <p:cNvPr id="3" name="TextBox 2"/>
          <p:cNvSpPr txBox="1"/>
          <p:nvPr/>
        </p:nvSpPr>
        <p:spPr>
          <a:xfrm>
            <a:off x="9402775" y="384048"/>
            <a:ext cx="2286000" cy="274320"/>
          </a:xfrm>
          <a:prstGeom prst="rect">
            <a:avLst/>
          </a:prstGeom>
          <a:noFill/>
        </p:spPr>
        <p:txBody>
          <a:bodyPr wrap="square" anchor="t" lIns="0" rIns="0" tIns="0" bIns="0">
            <a:spAutoFit/>
          </a:bodyPr>
          <a:lstStyle/>
          <a:p>
            <a:pPr algn="r">
              <a:lnSpc>
                <a:spcPct val="128000"/>
              </a:lnSpc>
            </a:pPr>
            <a:r>
              <a:rPr sz="1050" b="0" i="0">
                <a:solidFill>
                  <a:srgbClr val="9A938A"/>
                </a:solidFill>
                <a:latin typeface="Yu Gothic"/>
              </a:rPr>
              <a:t>03 / 12</a:t>
            </a:r>
          </a:p>
        </p:txBody>
      </p:sp>
      <p:sp>
        <p:nvSpPr>
          <p:cNvPr id="4" name="TextBox 3"/>
          <p:cNvSpPr txBox="1"/>
          <p:nvPr/>
        </p:nvSpPr>
        <p:spPr>
          <a:xfrm>
            <a:off x="502920" y="658368"/>
            <a:ext cx="11185855" cy="548640"/>
          </a:xfrm>
          <a:prstGeom prst="rect">
            <a:avLst/>
          </a:prstGeom>
          <a:noFill/>
        </p:spPr>
        <p:txBody>
          <a:bodyPr wrap="square" anchor="t" lIns="0" rIns="0" tIns="0" bIns="0">
            <a:spAutoFit/>
          </a:bodyPr>
          <a:lstStyle/>
          <a:p>
            <a:pPr algn="l">
              <a:lnSpc>
                <a:spcPct val="128000"/>
              </a:lnSpc>
            </a:pPr>
            <a:r>
              <a:rPr sz="2700" b="1" i="0">
                <a:solidFill>
                  <a:srgbClr val="2A2724"/>
                </a:solidFill>
                <a:latin typeface="Yu Gothic"/>
              </a:rPr>
              <a:t>Dashboard — 今日やるべきことがわかる</a:t>
            </a:r>
          </a:p>
        </p:txBody>
      </p:sp>
      <p:sp>
        <p:nvSpPr>
          <p:cNvPr id="5" name="TextBox 4"/>
          <p:cNvSpPr txBox="1"/>
          <p:nvPr/>
        </p:nvSpPr>
        <p:spPr>
          <a:xfrm>
            <a:off x="502920" y="1115568"/>
            <a:ext cx="11185855" cy="365760"/>
          </a:xfrm>
          <a:prstGeom prst="rect">
            <a:avLst/>
          </a:prstGeom>
          <a:noFill/>
        </p:spPr>
        <p:txBody>
          <a:bodyPr wrap="square" anchor="t" lIns="0" rIns="0" tIns="0" bIns="0">
            <a:spAutoFit/>
          </a:bodyPr>
          <a:lstStyle/>
          <a:p>
            <a:pPr algn="l">
              <a:lnSpc>
                <a:spcPct val="128000"/>
              </a:lnSpc>
            </a:pPr>
            <a:r>
              <a:rPr sz="1300" b="0" i="0">
                <a:solidFill>
                  <a:srgbClr val="6B655D"/>
                </a:solidFill>
                <a:latin typeface="Yu Gothic"/>
              </a:rPr>
              <a:t>ログイン後、最初に表示される画面です。今すぐ対応すべきことが一目で把握できます。</a:t>
            </a:r>
          </a:p>
        </p:txBody>
      </p:sp>
      <p:cxnSp>
        <p:nvCxnSpPr>
          <p:cNvPr id="6" name="Connector 5"/>
          <p:cNvCxnSpPr/>
          <p:nvPr/>
        </p:nvCxnSpPr>
        <p:spPr>
          <a:xfrm>
            <a:off x="502920" y="1609343"/>
            <a:ext cx="11185855" cy="0"/>
          </a:xfrm>
          <a:prstGeom prst="line">
            <a:avLst/>
          </a:prstGeom>
          <a:ln w="12700">
            <a:solidFill>
              <a:srgbClr val="E4DED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1856231"/>
            <a:ext cx="11185855" cy="640080"/>
          </a:xfrm>
          <a:prstGeom prst="rect">
            <a:avLst/>
          </a:prstGeom>
          <a:noFill/>
        </p:spPr>
        <p:txBody>
          <a:bodyPr wrap="square" anchor="t" lIns="0" rIns="0" tIns="0" bIns="0">
            <a:spAutoFit/>
          </a:bodyPr>
          <a:lstStyle/>
          <a:p>
            <a:pPr algn="l">
              <a:lnSpc>
                <a:spcPct val="140000"/>
              </a:lnSpc>
            </a:pPr>
            <a:r>
              <a:rPr sz="1300" b="0" i="0">
                <a:solidFill>
                  <a:srgbClr val="2A2724"/>
                </a:solidFill>
                <a:latin typeface="Yu Gothic"/>
              </a:rPr>
              <a:t>承認待ちの件数、メーカーからの回答待ち件数、確認が必要な案件数などが並びます。分析用のグラフ画面ではなく、あくまで「今日、何から手をつけるか」を示す起点です。件数をクリックすると、該当する一覧画面へそのまま進みます。</a:t>
            </a:r>
          </a:p>
        </p:txBody>
      </p:sp>
      <p:sp>
        <p:nvSpPr>
          <p:cNvPr id="8" name="Rounded Rectangle 7"/>
          <p:cNvSpPr/>
          <p:nvPr/>
        </p:nvSpPr>
        <p:spPr>
          <a:xfrm>
            <a:off x="1706727" y="2587752"/>
            <a:ext cx="8778240" cy="3123888"/>
          </a:xfrm>
          <a:prstGeom prst="roundRect">
            <a:avLst>
              <a:gd name="adj" fmla="val 2000"/>
            </a:avLst>
          </a:prstGeom>
          <a:solidFill>
            <a:srgbClr val="FFFFFF"/>
          </a:solidFill>
          <a:ln w="12700">
            <a:solidFill>
              <a:srgbClr val="D3CA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06727" y="2587752"/>
            <a:ext cx="8778240" cy="237744"/>
          </a:xfrm>
          <a:prstGeom prst="rect">
            <a:avLst/>
          </a:prstGeom>
          <a:solidFill>
            <a:srgbClr val="F3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798167" y="2674620"/>
            <a:ext cx="64008" cy="64008"/>
          </a:xfrm>
          <a:prstGeom prst="ellipse">
            <a:avLst/>
          </a:prstGeom>
          <a:solidFill>
            <a:srgbClr val="D3CA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926183" y="2674620"/>
            <a:ext cx="64008" cy="64008"/>
          </a:xfrm>
          <a:prstGeom prst="ellipse">
            <a:avLst/>
          </a:prstGeom>
          <a:solidFill>
            <a:srgbClr val="D3CA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054199" y="2674620"/>
            <a:ext cx="64008" cy="64008"/>
          </a:xfrm>
          <a:prstGeom prst="ellipse">
            <a:avLst/>
          </a:prstGeom>
          <a:solidFill>
            <a:srgbClr val="D3CA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209647" y="2587752"/>
            <a:ext cx="8183879" cy="237744"/>
          </a:xfrm>
          <a:prstGeom prst="rect">
            <a:avLst/>
          </a:prstGeom>
          <a:noFill/>
        </p:spPr>
        <p:txBody>
          <a:bodyPr wrap="square" anchor="ctr" lIns="0" rIns="0" tIns="0" bIns="0">
            <a:spAutoFit/>
          </a:bodyPr>
          <a:lstStyle/>
          <a:p>
            <a:pPr algn="l">
              <a:lnSpc>
                <a:spcPct val="128000"/>
              </a:lnSpc>
            </a:pPr>
            <a:r>
              <a:rPr sz="900" b="0" i="0">
                <a:solidFill>
                  <a:srgbClr val="9A938A"/>
                </a:solidFill>
                <a:latin typeface="Yu Gothic"/>
              </a:rPr>
              <a:t>gops.local /</a:t>
            </a:r>
          </a:p>
        </p:txBody>
      </p:sp>
      <p:pic>
        <p:nvPicPr>
          <p:cNvPr id="14" name="Picture 13" descr="scene1_dashboard.jpg"/>
          <p:cNvPicPr>
            <a:picLocks noChangeAspect="1"/>
          </p:cNvPicPr>
          <p:nvPr/>
        </p:nvPicPr>
        <p:blipFill>
          <a:blip r:embed="rId2"/>
          <a:stretch>
            <a:fillRect/>
          </a:stretch>
        </p:blipFill>
        <p:spPr>
          <a:xfrm>
            <a:off x="1706727" y="2825496"/>
            <a:ext cx="8778240" cy="2575248"/>
          </a:xfrm>
          <a:prstGeom prst="rect">
            <a:avLst/>
          </a:prstGeom>
        </p:spPr>
      </p:pic>
      <p:cxnSp>
        <p:nvCxnSpPr>
          <p:cNvPr id="15" name="Connector 14"/>
          <p:cNvCxnSpPr/>
          <p:nvPr/>
        </p:nvCxnSpPr>
        <p:spPr>
          <a:xfrm>
            <a:off x="1706727" y="5400744"/>
            <a:ext cx="8778240" cy="0"/>
          </a:xfrm>
          <a:prstGeom prst="line">
            <a:avLst/>
          </a:prstGeom>
          <a:ln w="9525">
            <a:solidFill>
              <a:srgbClr val="E4DED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816455" y="5437320"/>
            <a:ext cx="8558784" cy="256032"/>
          </a:xfrm>
          <a:prstGeom prst="rect">
            <a:avLst/>
          </a:prstGeom>
          <a:noFill/>
        </p:spPr>
        <p:txBody>
          <a:bodyPr wrap="square" anchor="ctr" lIns="0" rIns="0" tIns="0" bIns="0">
            <a:spAutoFit/>
          </a:bodyPr>
          <a:lstStyle/>
          <a:p>
            <a:pPr algn="l">
              <a:lnSpc>
                <a:spcPct val="128000"/>
              </a:lnSpc>
            </a:pPr>
            <a:r>
              <a:rPr sz="1050" b="0" i="0">
                <a:solidFill>
                  <a:srgbClr val="6B655D"/>
                </a:solidFill>
                <a:latin typeface="Yu Gothic"/>
              </a:rPr>
              <a:t>Dashboard — 承認待ち・メーカー回答待ち・要確認などの件数がブランド別にも確認できます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5486400" cy="274320"/>
          </a:xfrm>
          <a:prstGeom prst="rect">
            <a:avLst/>
          </a:prstGeom>
          <a:noFill/>
        </p:spPr>
        <p:txBody>
          <a:bodyPr wrap="square" anchor="t" lIns="0" rIns="0" tIns="0" bIns="0">
            <a:spAutoFit/>
          </a:bodyPr>
          <a:lstStyle/>
          <a:p>
            <a:pPr algn="l">
              <a:lnSpc>
                <a:spcPct val="128000"/>
              </a:lnSpc>
            </a:pPr>
            <a:r>
              <a:rPr sz="1150" b="1" i="0">
                <a:solidFill>
                  <a:srgbClr val="C8722F"/>
                </a:solidFill>
                <a:latin typeface="Yu Gothic"/>
              </a:rPr>
              <a:t>SCENE 2</a:t>
            </a:r>
          </a:p>
        </p:txBody>
      </p:sp>
      <p:sp>
        <p:nvSpPr>
          <p:cNvPr id="3" name="TextBox 2"/>
          <p:cNvSpPr txBox="1"/>
          <p:nvPr/>
        </p:nvSpPr>
        <p:spPr>
          <a:xfrm>
            <a:off x="9402775" y="384048"/>
            <a:ext cx="2286000" cy="274320"/>
          </a:xfrm>
          <a:prstGeom prst="rect">
            <a:avLst/>
          </a:prstGeom>
          <a:noFill/>
        </p:spPr>
        <p:txBody>
          <a:bodyPr wrap="square" anchor="t" lIns="0" rIns="0" tIns="0" bIns="0">
            <a:spAutoFit/>
          </a:bodyPr>
          <a:lstStyle/>
          <a:p>
            <a:pPr algn="r">
              <a:lnSpc>
                <a:spcPct val="128000"/>
              </a:lnSpc>
            </a:pPr>
            <a:r>
              <a:rPr sz="1050" b="0" i="0">
                <a:solidFill>
                  <a:srgbClr val="9A938A"/>
                </a:solidFill>
                <a:latin typeface="Yu Gothic"/>
              </a:rPr>
              <a:t>04 / 12</a:t>
            </a:r>
          </a:p>
        </p:txBody>
      </p:sp>
      <p:sp>
        <p:nvSpPr>
          <p:cNvPr id="4" name="TextBox 3"/>
          <p:cNvSpPr txBox="1"/>
          <p:nvPr/>
        </p:nvSpPr>
        <p:spPr>
          <a:xfrm>
            <a:off x="502920" y="658368"/>
            <a:ext cx="11185855" cy="548640"/>
          </a:xfrm>
          <a:prstGeom prst="rect">
            <a:avLst/>
          </a:prstGeom>
          <a:noFill/>
        </p:spPr>
        <p:txBody>
          <a:bodyPr wrap="square" anchor="t" lIns="0" rIns="0" tIns="0" bIns="0">
            <a:spAutoFit/>
          </a:bodyPr>
          <a:lstStyle/>
          <a:p>
            <a:pPr algn="l">
              <a:lnSpc>
                <a:spcPct val="128000"/>
              </a:lnSpc>
            </a:pPr>
            <a:r>
              <a:rPr sz="2700" b="1" i="0">
                <a:solidFill>
                  <a:srgbClr val="2A2724"/>
                </a:solidFill>
                <a:latin typeface="Yu Gothic"/>
              </a:rPr>
              <a:t>発注判断 — 何を、いくつ発注すべきか</a:t>
            </a:r>
          </a:p>
        </p:txBody>
      </p:sp>
      <p:sp>
        <p:nvSpPr>
          <p:cNvPr id="5" name="TextBox 4"/>
          <p:cNvSpPr txBox="1"/>
          <p:nvPr/>
        </p:nvSpPr>
        <p:spPr>
          <a:xfrm>
            <a:off x="502920" y="1115568"/>
            <a:ext cx="11185855" cy="365760"/>
          </a:xfrm>
          <a:prstGeom prst="rect">
            <a:avLst/>
          </a:prstGeom>
          <a:noFill/>
        </p:spPr>
        <p:txBody>
          <a:bodyPr wrap="square" anchor="t" lIns="0" rIns="0" tIns="0" bIns="0">
            <a:spAutoFit/>
          </a:bodyPr>
          <a:lstStyle/>
          <a:p>
            <a:pPr algn="l">
              <a:lnSpc>
                <a:spcPct val="128000"/>
              </a:lnSpc>
            </a:pPr>
            <a:r>
              <a:rPr sz="1300" b="0" i="0">
                <a:solidFill>
                  <a:srgbClr val="6B655D"/>
                </a:solidFill>
                <a:latin typeface="Yu Gothic"/>
              </a:rPr>
              <a:t>既存G-SYSのデータと計算ロジックを、そのまま活用します。</a:t>
            </a:r>
          </a:p>
        </p:txBody>
      </p:sp>
      <p:cxnSp>
        <p:nvCxnSpPr>
          <p:cNvPr id="6" name="Connector 5"/>
          <p:cNvCxnSpPr/>
          <p:nvPr/>
        </p:nvCxnSpPr>
        <p:spPr>
          <a:xfrm>
            <a:off x="502920" y="1609343"/>
            <a:ext cx="11185855" cy="0"/>
          </a:xfrm>
          <a:prstGeom prst="line">
            <a:avLst/>
          </a:prstGeom>
          <a:ln w="12700">
            <a:solidFill>
              <a:srgbClr val="E4DED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1828800"/>
            <a:ext cx="11185855" cy="548640"/>
          </a:xfrm>
          <a:prstGeom prst="rect">
            <a:avLst/>
          </a:prstGeom>
          <a:noFill/>
        </p:spPr>
        <p:txBody>
          <a:bodyPr wrap="square" anchor="t" lIns="0" rIns="0" tIns="0" bIns="0">
            <a:spAutoFit/>
          </a:bodyPr>
          <a:lstStyle/>
          <a:p>
            <a:pPr algn="l">
              <a:lnSpc>
                <a:spcPct val="135000"/>
              </a:lnSpc>
            </a:pPr>
            <a:r>
              <a:rPr sz="1250" b="0" i="0">
                <a:solidFill>
                  <a:srgbClr val="2A2724"/>
                </a:solidFill>
                <a:latin typeface="Yu Gothic"/>
              </a:rPr>
              <a:t>発注候補一覧では、現在庫・安全在庫・当月の販売実績・リードタイムなどをもとに、G-SYS側に既にある発注判断ロジックから推奨発注数量が算出されます。G-OPS側で新しい計算式は作っていません。SKUをクリックすると、在庫状況や過去のG-SYS発注実績を詳しく確認できます。</a:t>
            </a:r>
          </a:p>
        </p:txBody>
      </p:sp>
      <p:sp>
        <p:nvSpPr>
          <p:cNvPr id="8" name="Rounded Rectangle 7"/>
          <p:cNvSpPr/>
          <p:nvPr/>
        </p:nvSpPr>
        <p:spPr>
          <a:xfrm>
            <a:off x="502920" y="2468880"/>
            <a:ext cx="5432907" cy="2738434"/>
          </a:xfrm>
          <a:prstGeom prst="roundRect">
            <a:avLst>
              <a:gd name="adj" fmla="val 2000"/>
            </a:avLst>
          </a:prstGeom>
          <a:solidFill>
            <a:srgbClr val="FFFFFF"/>
          </a:solidFill>
          <a:ln w="12700">
            <a:solidFill>
              <a:srgbClr val="D3CA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2468880"/>
            <a:ext cx="5432907" cy="237744"/>
          </a:xfrm>
          <a:prstGeom prst="rect">
            <a:avLst/>
          </a:prstGeom>
          <a:solidFill>
            <a:srgbClr val="F3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94360" y="2555748"/>
            <a:ext cx="64008" cy="64008"/>
          </a:xfrm>
          <a:prstGeom prst="ellipse">
            <a:avLst/>
          </a:prstGeom>
          <a:solidFill>
            <a:srgbClr val="D3CA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22376" y="2555748"/>
            <a:ext cx="64008" cy="64008"/>
          </a:xfrm>
          <a:prstGeom prst="ellipse">
            <a:avLst/>
          </a:prstGeom>
          <a:solidFill>
            <a:srgbClr val="D3CA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50392" y="2555748"/>
            <a:ext cx="64008" cy="64008"/>
          </a:xfrm>
          <a:prstGeom prst="ellipse">
            <a:avLst/>
          </a:prstGeom>
          <a:solidFill>
            <a:srgbClr val="D3CA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2468880"/>
            <a:ext cx="4838547" cy="237744"/>
          </a:xfrm>
          <a:prstGeom prst="rect">
            <a:avLst/>
          </a:prstGeom>
          <a:noFill/>
        </p:spPr>
        <p:txBody>
          <a:bodyPr wrap="square" anchor="ctr" lIns="0" rIns="0" tIns="0" bIns="0">
            <a:spAutoFit/>
          </a:bodyPr>
          <a:lstStyle/>
          <a:p>
            <a:pPr algn="l">
              <a:lnSpc>
                <a:spcPct val="128000"/>
              </a:lnSpc>
            </a:pPr>
            <a:r>
              <a:rPr sz="900" b="0" i="0">
                <a:solidFill>
                  <a:srgbClr val="9A938A"/>
                </a:solidFill>
                <a:latin typeface="Yu Gothic"/>
              </a:rPr>
              <a:t>/candidates</a:t>
            </a:r>
          </a:p>
        </p:txBody>
      </p:sp>
      <p:pic>
        <p:nvPicPr>
          <p:cNvPr id="14" name="Picture 13" descr="scene2a_candidate_list.jpg"/>
          <p:cNvPicPr>
            <a:picLocks noChangeAspect="1"/>
          </p:cNvPicPr>
          <p:nvPr/>
        </p:nvPicPr>
        <p:blipFill>
          <a:blip r:embed="rId2"/>
          <a:stretch>
            <a:fillRect/>
          </a:stretch>
        </p:blipFill>
        <p:spPr>
          <a:xfrm>
            <a:off x="502920" y="2706624"/>
            <a:ext cx="5432907" cy="2189794"/>
          </a:xfrm>
          <a:prstGeom prst="rect">
            <a:avLst/>
          </a:prstGeom>
        </p:spPr>
      </p:pic>
      <p:cxnSp>
        <p:nvCxnSpPr>
          <p:cNvPr id="15" name="Connector 14"/>
          <p:cNvCxnSpPr/>
          <p:nvPr/>
        </p:nvCxnSpPr>
        <p:spPr>
          <a:xfrm>
            <a:off x="502920" y="4896418"/>
            <a:ext cx="5432907" cy="0"/>
          </a:xfrm>
          <a:prstGeom prst="line">
            <a:avLst/>
          </a:prstGeom>
          <a:ln w="9525">
            <a:solidFill>
              <a:srgbClr val="E4DED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2648" y="4932994"/>
            <a:ext cx="5213451" cy="256032"/>
          </a:xfrm>
          <a:prstGeom prst="rect">
            <a:avLst/>
          </a:prstGeom>
          <a:noFill/>
        </p:spPr>
        <p:txBody>
          <a:bodyPr wrap="square" anchor="ctr" lIns="0" rIns="0" tIns="0" bIns="0">
            <a:spAutoFit/>
          </a:bodyPr>
          <a:lstStyle/>
          <a:p>
            <a:pPr algn="l">
              <a:lnSpc>
                <a:spcPct val="128000"/>
              </a:lnSpc>
            </a:pPr>
            <a:r>
              <a:rPr sz="1050" b="0" i="0">
                <a:solidFill>
                  <a:srgbClr val="6B655D"/>
                </a:solidFill>
                <a:latin typeface="Yu Gothic"/>
              </a:rPr>
              <a:t>発注候補一覧 — 推奨発注数量・在庫状況・商品状態を横断的に確認</a:t>
            </a:r>
          </a:p>
        </p:txBody>
      </p:sp>
      <p:sp>
        <p:nvSpPr>
          <p:cNvPr id="17" name="Rounded Rectangle 16"/>
          <p:cNvSpPr/>
          <p:nvPr/>
        </p:nvSpPr>
        <p:spPr>
          <a:xfrm>
            <a:off x="6255867" y="2468880"/>
            <a:ext cx="5432907" cy="1657396"/>
          </a:xfrm>
          <a:prstGeom prst="roundRect">
            <a:avLst>
              <a:gd name="adj" fmla="val 2000"/>
            </a:avLst>
          </a:prstGeom>
          <a:solidFill>
            <a:srgbClr val="FFFFFF"/>
          </a:solidFill>
          <a:ln w="12700">
            <a:solidFill>
              <a:srgbClr val="D3CA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55867" y="2468880"/>
            <a:ext cx="5432907" cy="237744"/>
          </a:xfrm>
          <a:prstGeom prst="rect">
            <a:avLst/>
          </a:prstGeom>
          <a:solidFill>
            <a:srgbClr val="F3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347307" y="2555748"/>
            <a:ext cx="64008" cy="64008"/>
          </a:xfrm>
          <a:prstGeom prst="ellipse">
            <a:avLst/>
          </a:prstGeom>
          <a:solidFill>
            <a:srgbClr val="D3CA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75323" y="2555748"/>
            <a:ext cx="64008" cy="64008"/>
          </a:xfrm>
          <a:prstGeom prst="ellipse">
            <a:avLst/>
          </a:prstGeom>
          <a:solidFill>
            <a:srgbClr val="D3CA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603339" y="2555748"/>
            <a:ext cx="64008" cy="64008"/>
          </a:xfrm>
          <a:prstGeom prst="ellipse">
            <a:avLst/>
          </a:prstGeom>
          <a:solidFill>
            <a:srgbClr val="D3CA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58787" y="2468880"/>
            <a:ext cx="4838547" cy="237744"/>
          </a:xfrm>
          <a:prstGeom prst="rect">
            <a:avLst/>
          </a:prstGeom>
          <a:noFill/>
        </p:spPr>
        <p:txBody>
          <a:bodyPr wrap="square" anchor="ctr" lIns="0" rIns="0" tIns="0" bIns="0">
            <a:spAutoFit/>
          </a:bodyPr>
          <a:lstStyle/>
          <a:p>
            <a:pPr algn="l">
              <a:lnSpc>
                <a:spcPct val="128000"/>
              </a:lnSpc>
            </a:pPr>
            <a:r>
              <a:rPr sz="900" b="0" i="0">
                <a:solidFill>
                  <a:srgbClr val="9A938A"/>
                </a:solidFill>
                <a:latin typeface="Yu Gothic"/>
              </a:rPr>
              <a:t>/items/OD-TENT-001</a:t>
            </a:r>
          </a:p>
        </p:txBody>
      </p:sp>
      <p:pic>
        <p:nvPicPr>
          <p:cNvPr id="23" name="Picture 22" descr="scene2b_sku_detail.jpg"/>
          <p:cNvPicPr>
            <a:picLocks noChangeAspect="1"/>
          </p:cNvPicPr>
          <p:nvPr/>
        </p:nvPicPr>
        <p:blipFill>
          <a:blip r:embed="rId3"/>
          <a:stretch>
            <a:fillRect/>
          </a:stretch>
        </p:blipFill>
        <p:spPr>
          <a:xfrm>
            <a:off x="6255867" y="2706624"/>
            <a:ext cx="5432907" cy="1108756"/>
          </a:xfrm>
          <a:prstGeom prst="rect">
            <a:avLst/>
          </a:prstGeom>
        </p:spPr>
      </p:pic>
      <p:cxnSp>
        <p:nvCxnSpPr>
          <p:cNvPr id="24" name="Connector 23"/>
          <p:cNvCxnSpPr/>
          <p:nvPr/>
        </p:nvCxnSpPr>
        <p:spPr>
          <a:xfrm>
            <a:off x="6255867" y="3815380"/>
            <a:ext cx="5432908" cy="0"/>
          </a:xfrm>
          <a:prstGeom prst="line">
            <a:avLst/>
          </a:prstGeom>
          <a:ln w="9525">
            <a:solidFill>
              <a:srgbClr val="E4DED5"/>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365595" y="3851956"/>
            <a:ext cx="5213451" cy="256032"/>
          </a:xfrm>
          <a:prstGeom prst="rect">
            <a:avLst/>
          </a:prstGeom>
          <a:noFill/>
        </p:spPr>
        <p:txBody>
          <a:bodyPr wrap="square" anchor="ctr" lIns="0" rIns="0" tIns="0" bIns="0">
            <a:spAutoFit/>
          </a:bodyPr>
          <a:lstStyle/>
          <a:p>
            <a:pPr algn="l">
              <a:lnSpc>
                <a:spcPct val="128000"/>
              </a:lnSpc>
            </a:pPr>
            <a:r>
              <a:rPr sz="1050" b="0" i="0">
                <a:solidFill>
                  <a:srgbClr val="6B655D"/>
                </a:solidFill>
                <a:latin typeface="Yu Gothic"/>
              </a:rPr>
              <a:t>商品詳細（SKU Detail）— 在庫情報・発注情報・G-SYS発注実績</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5486400" cy="274320"/>
          </a:xfrm>
          <a:prstGeom prst="rect">
            <a:avLst/>
          </a:prstGeom>
          <a:noFill/>
        </p:spPr>
        <p:txBody>
          <a:bodyPr wrap="square" anchor="t" lIns="0" rIns="0" tIns="0" bIns="0">
            <a:spAutoFit/>
          </a:bodyPr>
          <a:lstStyle/>
          <a:p>
            <a:pPr algn="l">
              <a:lnSpc>
                <a:spcPct val="128000"/>
              </a:lnSpc>
            </a:pPr>
            <a:r>
              <a:rPr sz="1150" b="1" i="0">
                <a:solidFill>
                  <a:srgbClr val="C8722F"/>
                </a:solidFill>
                <a:latin typeface="Yu Gothic"/>
              </a:rPr>
              <a:t>SCENE 3</a:t>
            </a:r>
          </a:p>
        </p:txBody>
      </p:sp>
      <p:sp>
        <p:nvSpPr>
          <p:cNvPr id="3" name="TextBox 2"/>
          <p:cNvSpPr txBox="1"/>
          <p:nvPr/>
        </p:nvSpPr>
        <p:spPr>
          <a:xfrm>
            <a:off x="9402775" y="384048"/>
            <a:ext cx="2286000" cy="274320"/>
          </a:xfrm>
          <a:prstGeom prst="rect">
            <a:avLst/>
          </a:prstGeom>
          <a:noFill/>
        </p:spPr>
        <p:txBody>
          <a:bodyPr wrap="square" anchor="t" lIns="0" rIns="0" tIns="0" bIns="0">
            <a:spAutoFit/>
          </a:bodyPr>
          <a:lstStyle/>
          <a:p>
            <a:pPr algn="r">
              <a:lnSpc>
                <a:spcPct val="128000"/>
              </a:lnSpc>
            </a:pPr>
            <a:r>
              <a:rPr sz="1050" b="0" i="0">
                <a:solidFill>
                  <a:srgbClr val="9A938A"/>
                </a:solidFill>
                <a:latin typeface="Yu Gothic"/>
              </a:rPr>
              <a:t>05 / 12</a:t>
            </a:r>
          </a:p>
        </p:txBody>
      </p:sp>
      <p:sp>
        <p:nvSpPr>
          <p:cNvPr id="4" name="TextBox 3"/>
          <p:cNvSpPr txBox="1"/>
          <p:nvPr/>
        </p:nvSpPr>
        <p:spPr>
          <a:xfrm>
            <a:off x="502920" y="658368"/>
            <a:ext cx="11185855" cy="548640"/>
          </a:xfrm>
          <a:prstGeom prst="rect">
            <a:avLst/>
          </a:prstGeom>
          <a:noFill/>
        </p:spPr>
        <p:txBody>
          <a:bodyPr wrap="square" anchor="t" lIns="0" rIns="0" tIns="0" bIns="0">
            <a:spAutoFit/>
          </a:bodyPr>
          <a:lstStyle/>
          <a:p>
            <a:pPr algn="l">
              <a:lnSpc>
                <a:spcPct val="128000"/>
              </a:lnSpc>
            </a:pPr>
            <a:r>
              <a:rPr sz="2700" b="1" i="0">
                <a:solidFill>
                  <a:srgbClr val="2A2724"/>
                </a:solidFill>
                <a:latin typeface="Yu Gothic"/>
              </a:rPr>
              <a:t>発注作成 — 最終的に決めるのは人</a:t>
            </a:r>
          </a:p>
        </p:txBody>
      </p:sp>
      <p:sp>
        <p:nvSpPr>
          <p:cNvPr id="5" name="TextBox 4"/>
          <p:cNvSpPr txBox="1"/>
          <p:nvPr/>
        </p:nvSpPr>
        <p:spPr>
          <a:xfrm>
            <a:off x="502920" y="1115568"/>
            <a:ext cx="11185855" cy="365760"/>
          </a:xfrm>
          <a:prstGeom prst="rect">
            <a:avLst/>
          </a:prstGeom>
          <a:noFill/>
        </p:spPr>
        <p:txBody>
          <a:bodyPr wrap="square" anchor="t" lIns="0" rIns="0" tIns="0" bIns="0">
            <a:spAutoFit/>
          </a:bodyPr>
          <a:lstStyle/>
          <a:p>
            <a:pPr algn="l">
              <a:lnSpc>
                <a:spcPct val="128000"/>
              </a:lnSpc>
            </a:pPr>
            <a:r>
              <a:rPr sz="1300" b="0" i="0">
                <a:solidFill>
                  <a:srgbClr val="6B655D"/>
                </a:solidFill>
                <a:latin typeface="Yu Gothic"/>
              </a:rPr>
              <a:t>推奨数量はあくまで参考値。実際の数量は担当者が判断します。</a:t>
            </a:r>
          </a:p>
        </p:txBody>
      </p:sp>
      <p:cxnSp>
        <p:nvCxnSpPr>
          <p:cNvPr id="6" name="Connector 5"/>
          <p:cNvCxnSpPr/>
          <p:nvPr/>
        </p:nvCxnSpPr>
        <p:spPr>
          <a:xfrm>
            <a:off x="502920" y="1609343"/>
            <a:ext cx="11185855" cy="0"/>
          </a:xfrm>
          <a:prstGeom prst="line">
            <a:avLst/>
          </a:prstGeom>
          <a:ln w="12700">
            <a:solidFill>
              <a:srgbClr val="E4DED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1828800"/>
            <a:ext cx="11185855" cy="548640"/>
          </a:xfrm>
          <a:prstGeom prst="rect">
            <a:avLst/>
          </a:prstGeom>
          <a:noFill/>
        </p:spPr>
        <p:txBody>
          <a:bodyPr wrap="square" anchor="t" lIns="0" rIns="0" tIns="0" bIns="0">
            <a:spAutoFit/>
          </a:bodyPr>
          <a:lstStyle/>
          <a:p>
            <a:pPr algn="l">
              <a:lnSpc>
                <a:spcPct val="135000"/>
              </a:lnSpc>
            </a:pPr>
            <a:r>
              <a:rPr sz="1250" b="0" i="0">
                <a:solidFill>
                  <a:srgbClr val="2A2724"/>
                </a:solidFill>
                <a:latin typeface="Yu Gothic"/>
              </a:rPr>
              <a:t>推奨発注数量を参考にしながら、担当者が画面上で数量を確認・修正して発注内容を組み立てます。承認を依頼するまでは何度でも保存し直せます。内容を確定する前に、「PO プレビュー」でメーカーへの送付内容を最終確認できます。</a:t>
            </a:r>
          </a:p>
        </p:txBody>
      </p:sp>
      <p:sp>
        <p:nvSpPr>
          <p:cNvPr id="8" name="Rounded Rectangle 7"/>
          <p:cNvSpPr/>
          <p:nvPr/>
        </p:nvSpPr>
        <p:spPr>
          <a:xfrm>
            <a:off x="502920" y="2468880"/>
            <a:ext cx="5432907" cy="1726693"/>
          </a:xfrm>
          <a:prstGeom prst="roundRect">
            <a:avLst>
              <a:gd name="adj" fmla="val 2000"/>
            </a:avLst>
          </a:prstGeom>
          <a:solidFill>
            <a:srgbClr val="FFFFFF"/>
          </a:solidFill>
          <a:ln w="12700">
            <a:solidFill>
              <a:srgbClr val="D3CA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2468880"/>
            <a:ext cx="5432907" cy="237744"/>
          </a:xfrm>
          <a:prstGeom prst="rect">
            <a:avLst/>
          </a:prstGeom>
          <a:solidFill>
            <a:srgbClr val="F3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94360" y="2555748"/>
            <a:ext cx="64008" cy="64008"/>
          </a:xfrm>
          <a:prstGeom prst="ellipse">
            <a:avLst/>
          </a:prstGeom>
          <a:solidFill>
            <a:srgbClr val="D3CA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22376" y="2555748"/>
            <a:ext cx="64008" cy="64008"/>
          </a:xfrm>
          <a:prstGeom prst="ellipse">
            <a:avLst/>
          </a:prstGeom>
          <a:solidFill>
            <a:srgbClr val="D3CA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50392" y="2555748"/>
            <a:ext cx="64008" cy="64008"/>
          </a:xfrm>
          <a:prstGeom prst="ellipse">
            <a:avLst/>
          </a:prstGeom>
          <a:solidFill>
            <a:srgbClr val="D3CA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2468880"/>
            <a:ext cx="4838547" cy="237744"/>
          </a:xfrm>
          <a:prstGeom prst="rect">
            <a:avLst/>
          </a:prstGeom>
          <a:noFill/>
        </p:spPr>
        <p:txBody>
          <a:bodyPr wrap="square" anchor="ctr" lIns="0" rIns="0" tIns="0" bIns="0">
            <a:spAutoFit/>
          </a:bodyPr>
          <a:lstStyle/>
          <a:p>
            <a:pPr algn="l">
              <a:lnSpc>
                <a:spcPct val="128000"/>
              </a:lnSpc>
            </a:pPr>
            <a:r>
              <a:rPr sz="900" b="0" i="0">
                <a:solidFill>
                  <a:srgbClr val="9A938A"/>
                </a:solidFill>
                <a:latin typeface="Yu Gothic"/>
              </a:rPr>
              <a:t>/orders/drafts/3</a:t>
            </a:r>
          </a:p>
        </p:txBody>
      </p:sp>
      <p:pic>
        <p:nvPicPr>
          <p:cNvPr id="14" name="Picture 13" descr="scene3a_order_draft.jpg"/>
          <p:cNvPicPr>
            <a:picLocks noChangeAspect="1"/>
          </p:cNvPicPr>
          <p:nvPr/>
        </p:nvPicPr>
        <p:blipFill>
          <a:blip r:embed="rId2"/>
          <a:stretch>
            <a:fillRect/>
          </a:stretch>
        </p:blipFill>
        <p:spPr>
          <a:xfrm>
            <a:off x="502920" y="2706624"/>
            <a:ext cx="5432907" cy="1178053"/>
          </a:xfrm>
          <a:prstGeom prst="rect">
            <a:avLst/>
          </a:prstGeom>
        </p:spPr>
      </p:pic>
      <p:cxnSp>
        <p:nvCxnSpPr>
          <p:cNvPr id="15" name="Connector 14"/>
          <p:cNvCxnSpPr/>
          <p:nvPr/>
        </p:nvCxnSpPr>
        <p:spPr>
          <a:xfrm>
            <a:off x="502920" y="3884677"/>
            <a:ext cx="5432907" cy="0"/>
          </a:xfrm>
          <a:prstGeom prst="line">
            <a:avLst/>
          </a:prstGeom>
          <a:ln w="9525">
            <a:solidFill>
              <a:srgbClr val="E4DED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2648" y="3921253"/>
            <a:ext cx="5213451" cy="256032"/>
          </a:xfrm>
          <a:prstGeom prst="rect">
            <a:avLst/>
          </a:prstGeom>
          <a:noFill/>
        </p:spPr>
        <p:txBody>
          <a:bodyPr wrap="square" anchor="ctr" lIns="0" rIns="0" tIns="0" bIns="0">
            <a:spAutoFit/>
          </a:bodyPr>
          <a:lstStyle/>
          <a:p>
            <a:pPr algn="l">
              <a:lnSpc>
                <a:spcPct val="128000"/>
              </a:lnSpc>
            </a:pPr>
            <a:r>
              <a:rPr sz="1050" b="0" i="0">
                <a:solidFill>
                  <a:srgbClr val="6B655D"/>
                </a:solidFill>
                <a:latin typeface="Yu Gothic"/>
              </a:rPr>
              <a:t>発注ドラフト（下書き）— 推奨数量10に対し、担当者の判断で12へ調整</a:t>
            </a:r>
          </a:p>
        </p:txBody>
      </p:sp>
      <p:sp>
        <p:nvSpPr>
          <p:cNvPr id="17" name="Rounded Rectangle 16"/>
          <p:cNvSpPr/>
          <p:nvPr/>
        </p:nvSpPr>
        <p:spPr>
          <a:xfrm>
            <a:off x="6255867" y="2468880"/>
            <a:ext cx="5432907" cy="2540937"/>
          </a:xfrm>
          <a:prstGeom prst="roundRect">
            <a:avLst>
              <a:gd name="adj" fmla="val 2000"/>
            </a:avLst>
          </a:prstGeom>
          <a:solidFill>
            <a:srgbClr val="FFFFFF"/>
          </a:solidFill>
          <a:ln w="12700">
            <a:solidFill>
              <a:srgbClr val="D3CA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55867" y="2468880"/>
            <a:ext cx="5432907" cy="237744"/>
          </a:xfrm>
          <a:prstGeom prst="rect">
            <a:avLst/>
          </a:prstGeom>
          <a:solidFill>
            <a:srgbClr val="F3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347307" y="2555748"/>
            <a:ext cx="64008" cy="64008"/>
          </a:xfrm>
          <a:prstGeom prst="ellipse">
            <a:avLst/>
          </a:prstGeom>
          <a:solidFill>
            <a:srgbClr val="D3CA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75323" y="2555748"/>
            <a:ext cx="64008" cy="64008"/>
          </a:xfrm>
          <a:prstGeom prst="ellipse">
            <a:avLst/>
          </a:prstGeom>
          <a:solidFill>
            <a:srgbClr val="D3CA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603339" y="2555748"/>
            <a:ext cx="64008" cy="64008"/>
          </a:xfrm>
          <a:prstGeom prst="ellipse">
            <a:avLst/>
          </a:prstGeom>
          <a:solidFill>
            <a:srgbClr val="D3CA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58787" y="2468880"/>
            <a:ext cx="4838547" cy="237744"/>
          </a:xfrm>
          <a:prstGeom prst="rect">
            <a:avLst/>
          </a:prstGeom>
          <a:noFill/>
        </p:spPr>
        <p:txBody>
          <a:bodyPr wrap="square" anchor="ctr" lIns="0" rIns="0" tIns="0" bIns="0">
            <a:spAutoFit/>
          </a:bodyPr>
          <a:lstStyle/>
          <a:p>
            <a:pPr algn="l">
              <a:lnSpc>
                <a:spcPct val="128000"/>
              </a:lnSpc>
            </a:pPr>
            <a:r>
              <a:rPr sz="900" b="0" i="0">
                <a:solidFill>
                  <a:srgbClr val="9A938A"/>
                </a:solidFill>
                <a:latin typeface="Yu Gothic"/>
              </a:rPr>
              <a:t>/orders/drafts/3/preview</a:t>
            </a:r>
          </a:p>
        </p:txBody>
      </p:sp>
      <p:pic>
        <p:nvPicPr>
          <p:cNvPr id="23" name="Picture 22" descr="scene3b_po_preview.jpg"/>
          <p:cNvPicPr>
            <a:picLocks noChangeAspect="1"/>
          </p:cNvPicPr>
          <p:nvPr/>
        </p:nvPicPr>
        <p:blipFill>
          <a:blip r:embed="rId3"/>
          <a:stretch>
            <a:fillRect/>
          </a:stretch>
        </p:blipFill>
        <p:spPr>
          <a:xfrm>
            <a:off x="6255867" y="2706624"/>
            <a:ext cx="5432907" cy="1992297"/>
          </a:xfrm>
          <a:prstGeom prst="rect">
            <a:avLst/>
          </a:prstGeom>
        </p:spPr>
      </p:pic>
      <p:cxnSp>
        <p:nvCxnSpPr>
          <p:cNvPr id="24" name="Connector 23"/>
          <p:cNvCxnSpPr/>
          <p:nvPr/>
        </p:nvCxnSpPr>
        <p:spPr>
          <a:xfrm>
            <a:off x="6255867" y="4698921"/>
            <a:ext cx="5432908" cy="0"/>
          </a:xfrm>
          <a:prstGeom prst="line">
            <a:avLst/>
          </a:prstGeom>
          <a:ln w="9525">
            <a:solidFill>
              <a:srgbClr val="E4DED5"/>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365595" y="4735497"/>
            <a:ext cx="5213451" cy="256032"/>
          </a:xfrm>
          <a:prstGeom prst="rect">
            <a:avLst/>
          </a:prstGeom>
          <a:noFill/>
        </p:spPr>
        <p:txBody>
          <a:bodyPr wrap="square" anchor="ctr" lIns="0" rIns="0" tIns="0" bIns="0">
            <a:spAutoFit/>
          </a:bodyPr>
          <a:lstStyle/>
          <a:p>
            <a:pPr algn="l">
              <a:lnSpc>
                <a:spcPct val="128000"/>
              </a:lnSpc>
            </a:pPr>
            <a:r>
              <a:rPr sz="1050" b="0" i="0">
                <a:solidFill>
                  <a:srgbClr val="6B655D"/>
                </a:solidFill>
                <a:latin typeface="Yu Gothic"/>
              </a:rPr>
              <a:t>PO プレビュー（承認前）— 送付内容の確認のみ。編集は発注ドラフトへ戻って行う</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5486400" cy="274320"/>
          </a:xfrm>
          <a:prstGeom prst="rect">
            <a:avLst/>
          </a:prstGeom>
          <a:noFill/>
        </p:spPr>
        <p:txBody>
          <a:bodyPr wrap="square" anchor="t" lIns="0" rIns="0" tIns="0" bIns="0">
            <a:spAutoFit/>
          </a:bodyPr>
          <a:lstStyle/>
          <a:p>
            <a:pPr algn="l">
              <a:lnSpc>
                <a:spcPct val="128000"/>
              </a:lnSpc>
            </a:pPr>
            <a:r>
              <a:rPr sz="1150" b="1" i="0">
                <a:solidFill>
                  <a:srgbClr val="C8722F"/>
                </a:solidFill>
                <a:latin typeface="Yu Gothic"/>
              </a:rPr>
              <a:t>SCENE 4</a:t>
            </a:r>
          </a:p>
        </p:txBody>
      </p:sp>
      <p:sp>
        <p:nvSpPr>
          <p:cNvPr id="3" name="TextBox 2"/>
          <p:cNvSpPr txBox="1"/>
          <p:nvPr/>
        </p:nvSpPr>
        <p:spPr>
          <a:xfrm>
            <a:off x="9402775" y="384048"/>
            <a:ext cx="2286000" cy="274320"/>
          </a:xfrm>
          <a:prstGeom prst="rect">
            <a:avLst/>
          </a:prstGeom>
          <a:noFill/>
        </p:spPr>
        <p:txBody>
          <a:bodyPr wrap="square" anchor="t" lIns="0" rIns="0" tIns="0" bIns="0">
            <a:spAutoFit/>
          </a:bodyPr>
          <a:lstStyle/>
          <a:p>
            <a:pPr algn="r">
              <a:lnSpc>
                <a:spcPct val="128000"/>
              </a:lnSpc>
            </a:pPr>
            <a:r>
              <a:rPr sz="1050" b="0" i="0">
                <a:solidFill>
                  <a:srgbClr val="9A938A"/>
                </a:solidFill>
                <a:latin typeface="Yu Gothic"/>
              </a:rPr>
              <a:t>06 / 12</a:t>
            </a:r>
          </a:p>
        </p:txBody>
      </p:sp>
      <p:sp>
        <p:nvSpPr>
          <p:cNvPr id="4" name="TextBox 3"/>
          <p:cNvSpPr txBox="1"/>
          <p:nvPr/>
        </p:nvSpPr>
        <p:spPr>
          <a:xfrm>
            <a:off x="502920" y="658368"/>
            <a:ext cx="11185855" cy="548640"/>
          </a:xfrm>
          <a:prstGeom prst="rect">
            <a:avLst/>
          </a:prstGeom>
          <a:noFill/>
        </p:spPr>
        <p:txBody>
          <a:bodyPr wrap="square" anchor="t" lIns="0" rIns="0" tIns="0" bIns="0">
            <a:spAutoFit/>
          </a:bodyPr>
          <a:lstStyle/>
          <a:p>
            <a:pPr algn="l">
              <a:lnSpc>
                <a:spcPct val="128000"/>
              </a:lnSpc>
            </a:pPr>
            <a:r>
              <a:rPr sz="2700" b="1" i="0">
                <a:solidFill>
                  <a:srgbClr val="2A2724"/>
                </a:solidFill>
                <a:latin typeface="Yu Gothic"/>
              </a:rPr>
              <a:t>業務統制 — 起票と承認を分ける</a:t>
            </a:r>
          </a:p>
        </p:txBody>
      </p:sp>
      <p:sp>
        <p:nvSpPr>
          <p:cNvPr id="5" name="TextBox 4"/>
          <p:cNvSpPr txBox="1"/>
          <p:nvPr/>
        </p:nvSpPr>
        <p:spPr>
          <a:xfrm>
            <a:off x="502920" y="1115568"/>
            <a:ext cx="11185855" cy="365760"/>
          </a:xfrm>
          <a:prstGeom prst="rect">
            <a:avLst/>
          </a:prstGeom>
          <a:noFill/>
        </p:spPr>
        <p:txBody>
          <a:bodyPr wrap="square" anchor="t" lIns="0" rIns="0" tIns="0" bIns="0">
            <a:spAutoFit/>
          </a:bodyPr>
          <a:lstStyle/>
          <a:p>
            <a:pPr algn="l">
              <a:lnSpc>
                <a:spcPct val="128000"/>
              </a:lnSpc>
            </a:pPr>
            <a:r>
              <a:rPr sz="1300" b="0" i="0">
                <a:solidFill>
                  <a:srgbClr val="6B655D"/>
                </a:solidFill>
                <a:latin typeface="Yu Gothic"/>
              </a:rPr>
              <a:t>既存G-SYSにはない統制の仕組みを、発注以外の業務にも展開します。</a:t>
            </a:r>
          </a:p>
        </p:txBody>
      </p:sp>
      <p:cxnSp>
        <p:nvCxnSpPr>
          <p:cNvPr id="6" name="Connector 5"/>
          <p:cNvCxnSpPr/>
          <p:nvPr/>
        </p:nvCxnSpPr>
        <p:spPr>
          <a:xfrm>
            <a:off x="502920" y="1609343"/>
            <a:ext cx="11185855" cy="0"/>
          </a:xfrm>
          <a:prstGeom prst="line">
            <a:avLst/>
          </a:prstGeom>
          <a:ln w="12700">
            <a:solidFill>
              <a:srgbClr val="E4DED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1828800"/>
            <a:ext cx="11185855" cy="548640"/>
          </a:xfrm>
          <a:prstGeom prst="rect">
            <a:avLst/>
          </a:prstGeom>
          <a:noFill/>
        </p:spPr>
        <p:txBody>
          <a:bodyPr wrap="square" anchor="t" lIns="0" rIns="0" tIns="0" bIns="0">
            <a:spAutoFit/>
          </a:bodyPr>
          <a:lstStyle/>
          <a:p>
            <a:pPr algn="l">
              <a:lnSpc>
                <a:spcPct val="135000"/>
              </a:lnSpc>
            </a:pPr>
            <a:r>
              <a:rPr sz="1250" b="0" i="0">
                <a:solidFill>
                  <a:srgbClr val="2A2724"/>
                </a:solidFill>
                <a:latin typeface="Yu Gothic"/>
              </a:rPr>
              <a:t>起票した担当者とは別の管理者が内容を確認し、承認・修正・差し戻しのいずれかを判断します。これはG-OPS導入によって新たに実現する業務分担です。同じ承認の仕組みは、価格変更の判断にもそのまま使えます—G-OPSは発注専用のシステムではありません。</a:t>
            </a:r>
          </a:p>
        </p:txBody>
      </p:sp>
      <p:sp>
        <p:nvSpPr>
          <p:cNvPr id="8" name="Rounded Rectangle 7"/>
          <p:cNvSpPr/>
          <p:nvPr/>
        </p:nvSpPr>
        <p:spPr>
          <a:xfrm>
            <a:off x="502920" y="2468880"/>
            <a:ext cx="5432907" cy="2783477"/>
          </a:xfrm>
          <a:prstGeom prst="roundRect">
            <a:avLst>
              <a:gd name="adj" fmla="val 2000"/>
            </a:avLst>
          </a:prstGeom>
          <a:solidFill>
            <a:srgbClr val="FFFFFF"/>
          </a:solidFill>
          <a:ln w="12700">
            <a:solidFill>
              <a:srgbClr val="D3CA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2468880"/>
            <a:ext cx="5432907" cy="237744"/>
          </a:xfrm>
          <a:prstGeom prst="rect">
            <a:avLst/>
          </a:prstGeom>
          <a:solidFill>
            <a:srgbClr val="F3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94360" y="2555748"/>
            <a:ext cx="64008" cy="64008"/>
          </a:xfrm>
          <a:prstGeom prst="ellipse">
            <a:avLst/>
          </a:prstGeom>
          <a:solidFill>
            <a:srgbClr val="D3CA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22376" y="2555748"/>
            <a:ext cx="64008" cy="64008"/>
          </a:xfrm>
          <a:prstGeom prst="ellipse">
            <a:avLst/>
          </a:prstGeom>
          <a:solidFill>
            <a:srgbClr val="D3CA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50392" y="2555748"/>
            <a:ext cx="64008" cy="64008"/>
          </a:xfrm>
          <a:prstGeom prst="ellipse">
            <a:avLst/>
          </a:prstGeom>
          <a:solidFill>
            <a:srgbClr val="D3CA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2468880"/>
            <a:ext cx="4838547" cy="237744"/>
          </a:xfrm>
          <a:prstGeom prst="rect">
            <a:avLst/>
          </a:prstGeom>
          <a:noFill/>
        </p:spPr>
        <p:txBody>
          <a:bodyPr wrap="square" anchor="ctr" lIns="0" rIns="0" tIns="0" bIns="0">
            <a:spAutoFit/>
          </a:bodyPr>
          <a:lstStyle/>
          <a:p>
            <a:pPr algn="l">
              <a:lnSpc>
                <a:spcPct val="128000"/>
              </a:lnSpc>
            </a:pPr>
            <a:r>
              <a:rPr sz="900" b="0" i="0">
                <a:solidFill>
                  <a:srgbClr val="9A938A"/>
                </a:solidFill>
                <a:latin typeface="Yu Gothic"/>
              </a:rPr>
              <a:t>/orders/4</a:t>
            </a:r>
          </a:p>
        </p:txBody>
      </p:sp>
      <p:pic>
        <p:nvPicPr>
          <p:cNvPr id="14" name="Picture 13" descr="scene4a_order_detail_approval.jpg"/>
          <p:cNvPicPr>
            <a:picLocks noChangeAspect="1"/>
          </p:cNvPicPr>
          <p:nvPr/>
        </p:nvPicPr>
        <p:blipFill>
          <a:blip r:embed="rId2"/>
          <a:stretch>
            <a:fillRect/>
          </a:stretch>
        </p:blipFill>
        <p:spPr>
          <a:xfrm>
            <a:off x="502920" y="2706624"/>
            <a:ext cx="5432907" cy="2234837"/>
          </a:xfrm>
          <a:prstGeom prst="rect">
            <a:avLst/>
          </a:prstGeom>
        </p:spPr>
      </p:pic>
      <p:cxnSp>
        <p:nvCxnSpPr>
          <p:cNvPr id="15" name="Connector 14"/>
          <p:cNvCxnSpPr/>
          <p:nvPr/>
        </p:nvCxnSpPr>
        <p:spPr>
          <a:xfrm>
            <a:off x="502920" y="4941461"/>
            <a:ext cx="5432907" cy="0"/>
          </a:xfrm>
          <a:prstGeom prst="line">
            <a:avLst/>
          </a:prstGeom>
          <a:ln w="9525">
            <a:solidFill>
              <a:srgbClr val="E4DED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2648" y="4978037"/>
            <a:ext cx="5213451" cy="256032"/>
          </a:xfrm>
          <a:prstGeom prst="rect">
            <a:avLst/>
          </a:prstGeom>
          <a:noFill/>
        </p:spPr>
        <p:txBody>
          <a:bodyPr wrap="square" anchor="ctr" lIns="0" rIns="0" tIns="0" bIns="0">
            <a:spAutoFit/>
          </a:bodyPr>
          <a:lstStyle/>
          <a:p>
            <a:pPr algn="l">
              <a:lnSpc>
                <a:spcPct val="128000"/>
              </a:lnSpc>
            </a:pPr>
            <a:r>
              <a:rPr sz="1050" b="0" i="0">
                <a:solidFill>
                  <a:srgbClr val="6B655D"/>
                </a:solidFill>
                <a:latin typeface="Yu Gothic"/>
              </a:rPr>
              <a:t>承認画面 — 管理者が「修正」「承認」「差し戻し」を判断</a:t>
            </a:r>
          </a:p>
        </p:txBody>
      </p:sp>
      <p:sp>
        <p:nvSpPr>
          <p:cNvPr id="17" name="Rounded Rectangle 16"/>
          <p:cNvSpPr/>
          <p:nvPr/>
        </p:nvSpPr>
        <p:spPr>
          <a:xfrm>
            <a:off x="6255867" y="2468880"/>
            <a:ext cx="5432907" cy="1882612"/>
          </a:xfrm>
          <a:prstGeom prst="roundRect">
            <a:avLst>
              <a:gd name="adj" fmla="val 2000"/>
            </a:avLst>
          </a:prstGeom>
          <a:solidFill>
            <a:srgbClr val="FFFFFF"/>
          </a:solidFill>
          <a:ln w="12700">
            <a:solidFill>
              <a:srgbClr val="D3CA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55867" y="2468880"/>
            <a:ext cx="5432907" cy="237744"/>
          </a:xfrm>
          <a:prstGeom prst="rect">
            <a:avLst/>
          </a:prstGeom>
          <a:solidFill>
            <a:srgbClr val="F3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347307" y="2555748"/>
            <a:ext cx="64008" cy="64008"/>
          </a:xfrm>
          <a:prstGeom prst="ellipse">
            <a:avLst/>
          </a:prstGeom>
          <a:solidFill>
            <a:srgbClr val="D3CA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75323" y="2555748"/>
            <a:ext cx="64008" cy="64008"/>
          </a:xfrm>
          <a:prstGeom prst="ellipse">
            <a:avLst/>
          </a:prstGeom>
          <a:solidFill>
            <a:srgbClr val="D3CA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603339" y="2555748"/>
            <a:ext cx="64008" cy="64008"/>
          </a:xfrm>
          <a:prstGeom prst="ellipse">
            <a:avLst/>
          </a:prstGeom>
          <a:solidFill>
            <a:srgbClr val="D3CA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58787" y="2468880"/>
            <a:ext cx="4838547" cy="237744"/>
          </a:xfrm>
          <a:prstGeom prst="rect">
            <a:avLst/>
          </a:prstGeom>
          <a:noFill/>
        </p:spPr>
        <p:txBody>
          <a:bodyPr wrap="square" anchor="ctr" lIns="0" rIns="0" tIns="0" bIns="0">
            <a:spAutoFit/>
          </a:bodyPr>
          <a:lstStyle/>
          <a:p>
            <a:pPr algn="l">
              <a:lnSpc>
                <a:spcPct val="128000"/>
              </a:lnSpc>
            </a:pPr>
            <a:r>
              <a:rPr sz="900" b="0" i="0">
                <a:solidFill>
                  <a:srgbClr val="9A938A"/>
                </a:solidFill>
                <a:latin typeface="Yu Gothic"/>
              </a:rPr>
              <a:t>/price-changes/1/edit</a:t>
            </a:r>
          </a:p>
        </p:txBody>
      </p:sp>
      <p:pic>
        <p:nvPicPr>
          <p:cNvPr id="23" name="Picture 22" descr="scene4b_price_change_edit.jpg"/>
          <p:cNvPicPr>
            <a:picLocks noChangeAspect="1"/>
          </p:cNvPicPr>
          <p:nvPr/>
        </p:nvPicPr>
        <p:blipFill>
          <a:blip r:embed="rId3"/>
          <a:stretch>
            <a:fillRect/>
          </a:stretch>
        </p:blipFill>
        <p:spPr>
          <a:xfrm>
            <a:off x="6255867" y="2706624"/>
            <a:ext cx="5432907" cy="1333972"/>
          </a:xfrm>
          <a:prstGeom prst="rect">
            <a:avLst/>
          </a:prstGeom>
        </p:spPr>
      </p:pic>
      <p:cxnSp>
        <p:nvCxnSpPr>
          <p:cNvPr id="24" name="Connector 23"/>
          <p:cNvCxnSpPr/>
          <p:nvPr/>
        </p:nvCxnSpPr>
        <p:spPr>
          <a:xfrm>
            <a:off x="6255867" y="4040596"/>
            <a:ext cx="5432908" cy="0"/>
          </a:xfrm>
          <a:prstGeom prst="line">
            <a:avLst/>
          </a:prstGeom>
          <a:ln w="9525">
            <a:solidFill>
              <a:srgbClr val="E4DED5"/>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365595" y="4077172"/>
            <a:ext cx="5213451" cy="256032"/>
          </a:xfrm>
          <a:prstGeom prst="rect">
            <a:avLst/>
          </a:prstGeom>
          <a:noFill/>
        </p:spPr>
        <p:txBody>
          <a:bodyPr wrap="square" anchor="ctr" lIns="0" rIns="0" tIns="0" bIns="0">
            <a:spAutoFit/>
          </a:bodyPr>
          <a:lstStyle/>
          <a:p>
            <a:pPr algn="l">
              <a:lnSpc>
                <a:spcPct val="128000"/>
              </a:lnSpc>
            </a:pPr>
            <a:r>
              <a:rPr sz="1050" b="0" i="0">
                <a:solidFill>
                  <a:srgbClr val="6B655D"/>
                </a:solidFill>
                <a:latin typeface="Yu Gothic"/>
              </a:rPr>
              <a:t>価格変更 — 新価格を入力すると、利益・利益率がその場で再計算される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5486400" cy="274320"/>
          </a:xfrm>
          <a:prstGeom prst="rect">
            <a:avLst/>
          </a:prstGeom>
          <a:noFill/>
        </p:spPr>
        <p:txBody>
          <a:bodyPr wrap="square" anchor="t" lIns="0" rIns="0" tIns="0" bIns="0">
            <a:spAutoFit/>
          </a:bodyPr>
          <a:lstStyle/>
          <a:p>
            <a:pPr algn="l">
              <a:lnSpc>
                <a:spcPct val="128000"/>
              </a:lnSpc>
            </a:pPr>
            <a:r>
              <a:rPr sz="1150" b="1" i="0">
                <a:solidFill>
                  <a:srgbClr val="C8722F"/>
                </a:solidFill>
                <a:latin typeface="Yu Gothic"/>
              </a:rPr>
              <a:t>SCENE 5</a:t>
            </a:r>
          </a:p>
        </p:txBody>
      </p:sp>
      <p:sp>
        <p:nvSpPr>
          <p:cNvPr id="3" name="TextBox 2"/>
          <p:cNvSpPr txBox="1"/>
          <p:nvPr/>
        </p:nvSpPr>
        <p:spPr>
          <a:xfrm>
            <a:off x="9402775" y="384048"/>
            <a:ext cx="2286000" cy="274320"/>
          </a:xfrm>
          <a:prstGeom prst="rect">
            <a:avLst/>
          </a:prstGeom>
          <a:noFill/>
        </p:spPr>
        <p:txBody>
          <a:bodyPr wrap="square" anchor="t" lIns="0" rIns="0" tIns="0" bIns="0">
            <a:spAutoFit/>
          </a:bodyPr>
          <a:lstStyle/>
          <a:p>
            <a:pPr algn="r">
              <a:lnSpc>
                <a:spcPct val="128000"/>
              </a:lnSpc>
            </a:pPr>
            <a:r>
              <a:rPr sz="1050" b="0" i="0">
                <a:solidFill>
                  <a:srgbClr val="9A938A"/>
                </a:solidFill>
                <a:latin typeface="Yu Gothic"/>
              </a:rPr>
              <a:t>07 / 12</a:t>
            </a:r>
          </a:p>
        </p:txBody>
      </p:sp>
      <p:sp>
        <p:nvSpPr>
          <p:cNvPr id="4" name="TextBox 3"/>
          <p:cNvSpPr txBox="1"/>
          <p:nvPr/>
        </p:nvSpPr>
        <p:spPr>
          <a:xfrm>
            <a:off x="502920" y="658368"/>
            <a:ext cx="11185855" cy="548640"/>
          </a:xfrm>
          <a:prstGeom prst="rect">
            <a:avLst/>
          </a:prstGeom>
          <a:noFill/>
        </p:spPr>
        <p:txBody>
          <a:bodyPr wrap="square" anchor="t" lIns="0" rIns="0" tIns="0" bIns="0">
            <a:spAutoFit/>
          </a:bodyPr>
          <a:lstStyle/>
          <a:p>
            <a:pPr algn="l">
              <a:lnSpc>
                <a:spcPct val="128000"/>
              </a:lnSpc>
            </a:pPr>
            <a:r>
              <a:rPr sz="2700" b="1" i="0">
                <a:solidFill>
                  <a:srgbClr val="2A2724"/>
                </a:solidFill>
                <a:latin typeface="Yu Gothic"/>
              </a:rPr>
              <a:t>メーカーへの発注</a:t>
            </a:r>
          </a:p>
        </p:txBody>
      </p:sp>
      <p:sp>
        <p:nvSpPr>
          <p:cNvPr id="5" name="TextBox 4"/>
          <p:cNvSpPr txBox="1"/>
          <p:nvPr/>
        </p:nvSpPr>
        <p:spPr>
          <a:xfrm>
            <a:off x="502920" y="1115568"/>
            <a:ext cx="11185855" cy="365760"/>
          </a:xfrm>
          <a:prstGeom prst="rect">
            <a:avLst/>
          </a:prstGeom>
          <a:noFill/>
        </p:spPr>
        <p:txBody>
          <a:bodyPr wrap="square" anchor="t" lIns="0" rIns="0" tIns="0" bIns="0">
            <a:spAutoFit/>
          </a:bodyPr>
          <a:lstStyle/>
          <a:p>
            <a:pPr algn="l">
              <a:lnSpc>
                <a:spcPct val="128000"/>
              </a:lnSpc>
            </a:pPr>
            <a:r>
              <a:rPr sz="1300" b="0" i="0">
                <a:solidFill>
                  <a:srgbClr val="6B655D"/>
                </a:solidFill>
                <a:latin typeface="Yu Gothic"/>
              </a:rPr>
              <a:t>承認後、送付内容を最終確認したうえでメーカーへ進みます。</a:t>
            </a:r>
          </a:p>
        </p:txBody>
      </p:sp>
      <p:cxnSp>
        <p:nvCxnSpPr>
          <p:cNvPr id="6" name="Connector 5"/>
          <p:cNvCxnSpPr/>
          <p:nvPr/>
        </p:nvCxnSpPr>
        <p:spPr>
          <a:xfrm>
            <a:off x="502920" y="1609343"/>
            <a:ext cx="11185855" cy="0"/>
          </a:xfrm>
          <a:prstGeom prst="line">
            <a:avLst/>
          </a:prstGeom>
          <a:ln w="12700">
            <a:solidFill>
              <a:srgbClr val="E4DED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1810512"/>
            <a:ext cx="11185855" cy="411480"/>
          </a:xfrm>
          <a:prstGeom prst="rect">
            <a:avLst/>
          </a:prstGeom>
          <a:noFill/>
        </p:spPr>
        <p:txBody>
          <a:bodyPr wrap="square" anchor="t" lIns="0" rIns="0" tIns="0" bIns="0">
            <a:spAutoFit/>
          </a:bodyPr>
          <a:lstStyle/>
          <a:p>
            <a:pPr algn="l">
              <a:lnSpc>
                <a:spcPct val="135000"/>
              </a:lnSpc>
            </a:pPr>
            <a:r>
              <a:rPr sz="1250" b="0" i="0">
                <a:solidFill>
                  <a:srgbClr val="2A2724"/>
                </a:solidFill>
                <a:latin typeface="Yu Gothic"/>
              </a:rPr>
              <a:t>承認が完了すると、メーカーへの送付内容（宛先・件名・本文）を確認できるようになります。宛先や文面は、事前に登録したメーカー担当者・メールテンプレートの情報から自動的に組み立てられます。</a:t>
            </a:r>
          </a:p>
        </p:txBody>
      </p:sp>
      <p:sp>
        <p:nvSpPr>
          <p:cNvPr id="8" name="Rounded Rectangle 7"/>
          <p:cNvSpPr/>
          <p:nvPr/>
        </p:nvSpPr>
        <p:spPr>
          <a:xfrm>
            <a:off x="502920" y="2286000"/>
            <a:ext cx="11185855" cy="566928"/>
          </a:xfrm>
          <a:prstGeom prst="roundRect">
            <a:avLst>
              <a:gd name="adj" fmla="val 12000"/>
            </a:avLst>
          </a:prstGeom>
          <a:solidFill>
            <a:srgbClr val="F3DCC4"/>
          </a:solidFill>
          <a:ln w="12700">
            <a:solidFill>
              <a:srgbClr val="C872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2286000"/>
            <a:ext cx="320040" cy="566928"/>
          </a:xfrm>
          <a:prstGeom prst="rect">
            <a:avLst/>
          </a:prstGeom>
          <a:noFill/>
        </p:spPr>
        <p:txBody>
          <a:bodyPr wrap="square" anchor="ctr" lIns="0" rIns="0" tIns="0" bIns="0">
            <a:spAutoFit/>
          </a:bodyPr>
          <a:lstStyle/>
          <a:p>
            <a:pPr algn="l">
              <a:lnSpc>
                <a:spcPct val="128000"/>
              </a:lnSpc>
            </a:pPr>
            <a:r>
              <a:rPr sz="1500" b="1" i="0">
                <a:solidFill>
                  <a:srgbClr val="A85A1F"/>
                </a:solidFill>
                <a:latin typeface="Yu Gothic"/>
              </a:rPr>
              <a:t>!</a:t>
            </a:r>
          </a:p>
        </p:txBody>
      </p:sp>
      <p:sp>
        <p:nvSpPr>
          <p:cNvPr id="10" name="TextBox 9"/>
          <p:cNvSpPr txBox="1"/>
          <p:nvPr/>
        </p:nvSpPr>
        <p:spPr>
          <a:xfrm>
            <a:off x="1005840" y="2340864"/>
            <a:ext cx="10500055" cy="457200"/>
          </a:xfrm>
          <a:prstGeom prst="rect">
            <a:avLst/>
          </a:prstGeom>
          <a:noFill/>
        </p:spPr>
        <p:txBody>
          <a:bodyPr wrap="square" anchor="ctr" lIns="0" rIns="0" tIns="0" bIns="0">
            <a:spAutoFit/>
          </a:bodyPr>
          <a:lstStyle/>
          <a:p>
            <a:pPr algn="l">
              <a:lnSpc>
                <a:spcPct val="128000"/>
              </a:lnSpc>
            </a:pPr>
            <a:r>
              <a:rPr sz="1200" b="0" i="0">
                <a:solidFill>
                  <a:srgbClr val="2A2724"/>
                </a:solidFill>
                <a:latin typeface="Yu Gothic"/>
              </a:rPr>
              <a:t>現在提供しているのは送付内容の確認までです。実際のメール送信は行っておらず、本番接続時にあわせて実装します。</a:t>
            </a:r>
          </a:p>
        </p:txBody>
      </p:sp>
      <p:sp>
        <p:nvSpPr>
          <p:cNvPr id="11" name="Rounded Rectangle 10"/>
          <p:cNvSpPr/>
          <p:nvPr/>
        </p:nvSpPr>
        <p:spPr>
          <a:xfrm>
            <a:off x="502920" y="2980944"/>
            <a:ext cx="5432907" cy="2523612"/>
          </a:xfrm>
          <a:prstGeom prst="roundRect">
            <a:avLst>
              <a:gd name="adj" fmla="val 2000"/>
            </a:avLst>
          </a:prstGeom>
          <a:solidFill>
            <a:srgbClr val="FFFFFF"/>
          </a:solidFill>
          <a:ln w="12700">
            <a:solidFill>
              <a:srgbClr val="D3CA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980944"/>
            <a:ext cx="5432907" cy="237744"/>
          </a:xfrm>
          <a:prstGeom prst="rect">
            <a:avLst/>
          </a:prstGeom>
          <a:solidFill>
            <a:srgbClr val="F3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94360" y="3067811"/>
            <a:ext cx="64008" cy="64008"/>
          </a:xfrm>
          <a:prstGeom prst="ellipse">
            <a:avLst/>
          </a:prstGeom>
          <a:solidFill>
            <a:srgbClr val="D3CA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22376" y="3067811"/>
            <a:ext cx="64008" cy="64008"/>
          </a:xfrm>
          <a:prstGeom prst="ellipse">
            <a:avLst/>
          </a:prstGeom>
          <a:solidFill>
            <a:srgbClr val="D3CA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50392" y="3067811"/>
            <a:ext cx="64008" cy="64008"/>
          </a:xfrm>
          <a:prstGeom prst="ellipse">
            <a:avLst/>
          </a:prstGeom>
          <a:solidFill>
            <a:srgbClr val="D3CA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2980944"/>
            <a:ext cx="4838547" cy="237744"/>
          </a:xfrm>
          <a:prstGeom prst="rect">
            <a:avLst/>
          </a:prstGeom>
          <a:noFill/>
        </p:spPr>
        <p:txBody>
          <a:bodyPr wrap="square" anchor="ctr" lIns="0" rIns="0" tIns="0" bIns="0">
            <a:spAutoFit/>
          </a:bodyPr>
          <a:lstStyle/>
          <a:p>
            <a:pPr algn="l">
              <a:lnSpc>
                <a:spcPct val="128000"/>
              </a:lnSpc>
            </a:pPr>
            <a:r>
              <a:rPr sz="900" b="0" i="0">
                <a:solidFill>
                  <a:srgbClr val="9A938A"/>
                </a:solidFill>
                <a:latin typeface="Yu Gothic"/>
              </a:rPr>
              <a:t>/orders/drafts/2/preview</a:t>
            </a:r>
          </a:p>
        </p:txBody>
      </p:sp>
      <p:pic>
        <p:nvPicPr>
          <p:cNvPr id="17" name="Picture 16" descr="scene5a_po_preview_ready_to_send.jpg"/>
          <p:cNvPicPr>
            <a:picLocks noChangeAspect="1"/>
          </p:cNvPicPr>
          <p:nvPr/>
        </p:nvPicPr>
        <p:blipFill>
          <a:blip r:embed="rId2"/>
          <a:stretch>
            <a:fillRect/>
          </a:stretch>
        </p:blipFill>
        <p:spPr>
          <a:xfrm>
            <a:off x="502920" y="3218687"/>
            <a:ext cx="5432907" cy="1974972"/>
          </a:xfrm>
          <a:prstGeom prst="rect">
            <a:avLst/>
          </a:prstGeom>
        </p:spPr>
      </p:pic>
      <p:cxnSp>
        <p:nvCxnSpPr>
          <p:cNvPr id="18" name="Connector 17"/>
          <p:cNvCxnSpPr/>
          <p:nvPr/>
        </p:nvCxnSpPr>
        <p:spPr>
          <a:xfrm>
            <a:off x="502920" y="5193660"/>
            <a:ext cx="5432907" cy="0"/>
          </a:xfrm>
          <a:prstGeom prst="line">
            <a:avLst/>
          </a:prstGeom>
          <a:ln w="9525">
            <a:solidFill>
              <a:srgbClr val="E4DED5"/>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12648" y="5230236"/>
            <a:ext cx="5213451" cy="256032"/>
          </a:xfrm>
          <a:prstGeom prst="rect">
            <a:avLst/>
          </a:prstGeom>
          <a:noFill/>
        </p:spPr>
        <p:txBody>
          <a:bodyPr wrap="square" anchor="ctr" lIns="0" rIns="0" tIns="0" bIns="0">
            <a:spAutoFit/>
          </a:bodyPr>
          <a:lstStyle/>
          <a:p>
            <a:pPr algn="l">
              <a:lnSpc>
                <a:spcPct val="128000"/>
              </a:lnSpc>
            </a:pPr>
            <a:r>
              <a:rPr sz="1050" b="0" i="0">
                <a:solidFill>
                  <a:srgbClr val="6B655D"/>
                </a:solidFill>
                <a:latin typeface="Yu Gothic"/>
              </a:rPr>
              <a:t>PO プレビュー（承認済み）— ここから初めてメーカーへの送付導線が現れる</a:t>
            </a:r>
          </a:p>
        </p:txBody>
      </p:sp>
      <p:sp>
        <p:nvSpPr>
          <p:cNvPr id="20" name="Rounded Rectangle 19"/>
          <p:cNvSpPr/>
          <p:nvPr/>
        </p:nvSpPr>
        <p:spPr>
          <a:xfrm>
            <a:off x="6255867" y="2980944"/>
            <a:ext cx="5432907" cy="3261628"/>
          </a:xfrm>
          <a:prstGeom prst="roundRect">
            <a:avLst>
              <a:gd name="adj" fmla="val 2000"/>
            </a:avLst>
          </a:prstGeom>
          <a:solidFill>
            <a:srgbClr val="FFFFFF"/>
          </a:solidFill>
          <a:ln w="12700">
            <a:solidFill>
              <a:srgbClr val="D3CA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55867" y="2980944"/>
            <a:ext cx="5432907" cy="237744"/>
          </a:xfrm>
          <a:prstGeom prst="rect">
            <a:avLst/>
          </a:prstGeom>
          <a:solidFill>
            <a:srgbClr val="F3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347307" y="3067811"/>
            <a:ext cx="64008" cy="64008"/>
          </a:xfrm>
          <a:prstGeom prst="ellipse">
            <a:avLst/>
          </a:prstGeom>
          <a:solidFill>
            <a:srgbClr val="D3CA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75323" y="3067811"/>
            <a:ext cx="64008" cy="64008"/>
          </a:xfrm>
          <a:prstGeom prst="ellipse">
            <a:avLst/>
          </a:prstGeom>
          <a:solidFill>
            <a:srgbClr val="D3CA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603339" y="3067811"/>
            <a:ext cx="64008" cy="64008"/>
          </a:xfrm>
          <a:prstGeom prst="ellipse">
            <a:avLst/>
          </a:prstGeom>
          <a:solidFill>
            <a:srgbClr val="D3CA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58787" y="2980944"/>
            <a:ext cx="4838547" cy="237744"/>
          </a:xfrm>
          <a:prstGeom prst="rect">
            <a:avLst/>
          </a:prstGeom>
          <a:noFill/>
        </p:spPr>
        <p:txBody>
          <a:bodyPr wrap="square" anchor="ctr" lIns="0" rIns="0" tIns="0" bIns="0">
            <a:spAutoFit/>
          </a:bodyPr>
          <a:lstStyle/>
          <a:p>
            <a:pPr algn="l">
              <a:lnSpc>
                <a:spcPct val="128000"/>
              </a:lnSpc>
            </a:pPr>
            <a:r>
              <a:rPr sz="900" b="0" i="0">
                <a:solidFill>
                  <a:srgbClr val="9A938A"/>
                </a:solidFill>
                <a:latin typeface="Yu Gothic"/>
              </a:rPr>
              <a:t>/orders/2</a:t>
            </a:r>
          </a:p>
        </p:txBody>
      </p:sp>
      <p:pic>
        <p:nvPicPr>
          <p:cNvPr id="26" name="Picture 25" descr="scene5b_mail_preview.jpg"/>
          <p:cNvPicPr>
            <a:picLocks noChangeAspect="1"/>
          </p:cNvPicPr>
          <p:nvPr/>
        </p:nvPicPr>
        <p:blipFill>
          <a:blip r:embed="rId3"/>
          <a:stretch>
            <a:fillRect/>
          </a:stretch>
        </p:blipFill>
        <p:spPr>
          <a:xfrm>
            <a:off x="6255867" y="3218687"/>
            <a:ext cx="5432907" cy="2712988"/>
          </a:xfrm>
          <a:prstGeom prst="rect">
            <a:avLst/>
          </a:prstGeom>
        </p:spPr>
      </p:pic>
      <p:cxnSp>
        <p:nvCxnSpPr>
          <p:cNvPr id="27" name="Connector 26"/>
          <p:cNvCxnSpPr/>
          <p:nvPr/>
        </p:nvCxnSpPr>
        <p:spPr>
          <a:xfrm>
            <a:off x="6255867" y="5931676"/>
            <a:ext cx="5432908" cy="0"/>
          </a:xfrm>
          <a:prstGeom prst="line">
            <a:avLst/>
          </a:prstGeom>
          <a:ln w="9525">
            <a:solidFill>
              <a:srgbClr val="E4DED5"/>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365595" y="5968252"/>
            <a:ext cx="5213451" cy="256032"/>
          </a:xfrm>
          <a:prstGeom prst="rect">
            <a:avLst/>
          </a:prstGeom>
          <a:noFill/>
        </p:spPr>
        <p:txBody>
          <a:bodyPr wrap="square" anchor="ctr" lIns="0" rIns="0" tIns="0" bIns="0">
            <a:spAutoFit/>
          </a:bodyPr>
          <a:lstStyle/>
          <a:p>
            <a:pPr algn="l">
              <a:lnSpc>
                <a:spcPct val="128000"/>
              </a:lnSpc>
            </a:pPr>
            <a:r>
              <a:rPr sz="1050" b="0" i="0">
                <a:solidFill>
                  <a:srgbClr val="6B655D"/>
                </a:solidFill>
                <a:latin typeface="Yu Gothic"/>
              </a:rPr>
              <a:t>送付内容の確認 — 宛先・CC・件名・本文が登録済みマスタから自動生成される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5486400" cy="274320"/>
          </a:xfrm>
          <a:prstGeom prst="rect">
            <a:avLst/>
          </a:prstGeom>
          <a:noFill/>
        </p:spPr>
        <p:txBody>
          <a:bodyPr wrap="square" anchor="t" lIns="0" rIns="0" tIns="0" bIns="0">
            <a:spAutoFit/>
          </a:bodyPr>
          <a:lstStyle/>
          <a:p>
            <a:pPr algn="l">
              <a:lnSpc>
                <a:spcPct val="128000"/>
              </a:lnSpc>
            </a:pPr>
            <a:r>
              <a:rPr sz="1150" b="1" i="0">
                <a:solidFill>
                  <a:srgbClr val="C8722F"/>
                </a:solidFill>
                <a:latin typeface="Yu Gothic"/>
              </a:rPr>
              <a:t>SCENE 6</a:t>
            </a:r>
          </a:p>
        </p:txBody>
      </p:sp>
      <p:sp>
        <p:nvSpPr>
          <p:cNvPr id="3" name="TextBox 2"/>
          <p:cNvSpPr txBox="1"/>
          <p:nvPr/>
        </p:nvSpPr>
        <p:spPr>
          <a:xfrm>
            <a:off x="9402775" y="384048"/>
            <a:ext cx="2286000" cy="274320"/>
          </a:xfrm>
          <a:prstGeom prst="rect">
            <a:avLst/>
          </a:prstGeom>
          <a:noFill/>
        </p:spPr>
        <p:txBody>
          <a:bodyPr wrap="square" anchor="t" lIns="0" rIns="0" tIns="0" bIns="0">
            <a:spAutoFit/>
          </a:bodyPr>
          <a:lstStyle/>
          <a:p>
            <a:pPr algn="r">
              <a:lnSpc>
                <a:spcPct val="128000"/>
              </a:lnSpc>
            </a:pPr>
            <a:r>
              <a:rPr sz="1050" b="0" i="0">
                <a:solidFill>
                  <a:srgbClr val="9A938A"/>
                </a:solidFill>
                <a:latin typeface="Yu Gothic"/>
              </a:rPr>
              <a:t>08 / 12</a:t>
            </a:r>
          </a:p>
        </p:txBody>
      </p:sp>
      <p:sp>
        <p:nvSpPr>
          <p:cNvPr id="4" name="TextBox 3"/>
          <p:cNvSpPr txBox="1"/>
          <p:nvPr/>
        </p:nvSpPr>
        <p:spPr>
          <a:xfrm>
            <a:off x="502920" y="658368"/>
            <a:ext cx="11185855" cy="548640"/>
          </a:xfrm>
          <a:prstGeom prst="rect">
            <a:avLst/>
          </a:prstGeom>
          <a:noFill/>
        </p:spPr>
        <p:txBody>
          <a:bodyPr wrap="square" anchor="t" lIns="0" rIns="0" tIns="0" bIns="0">
            <a:spAutoFit/>
          </a:bodyPr>
          <a:lstStyle/>
          <a:p>
            <a:pPr algn="l">
              <a:lnSpc>
                <a:spcPct val="128000"/>
              </a:lnSpc>
            </a:pPr>
            <a:r>
              <a:rPr sz="2700" b="1" i="0">
                <a:solidFill>
                  <a:srgbClr val="2A2724"/>
                </a:solidFill>
                <a:latin typeface="Yu Gothic"/>
              </a:rPr>
              <a:t>メーカー回答 — 差異の可視化と判断</a:t>
            </a:r>
          </a:p>
        </p:txBody>
      </p:sp>
      <p:sp>
        <p:nvSpPr>
          <p:cNvPr id="5" name="TextBox 4"/>
          <p:cNvSpPr txBox="1"/>
          <p:nvPr/>
        </p:nvSpPr>
        <p:spPr>
          <a:xfrm>
            <a:off x="502920" y="1115568"/>
            <a:ext cx="11185855" cy="365760"/>
          </a:xfrm>
          <a:prstGeom prst="rect">
            <a:avLst/>
          </a:prstGeom>
          <a:noFill/>
        </p:spPr>
        <p:txBody>
          <a:bodyPr wrap="square" anchor="t" lIns="0" rIns="0" tIns="0" bIns="0">
            <a:spAutoFit/>
          </a:bodyPr>
          <a:lstStyle/>
          <a:p>
            <a:pPr algn="l">
              <a:lnSpc>
                <a:spcPct val="128000"/>
              </a:lnSpc>
            </a:pPr>
            <a:r>
              <a:rPr sz="1300" b="0" i="0">
                <a:solidFill>
                  <a:srgbClr val="6B655D"/>
                </a:solidFill>
                <a:latin typeface="Yu Gothic"/>
              </a:rPr>
              <a:t>発注して終わりではなく、回答との差異を記録し、扱いを判断します。</a:t>
            </a:r>
          </a:p>
        </p:txBody>
      </p:sp>
      <p:cxnSp>
        <p:nvCxnSpPr>
          <p:cNvPr id="6" name="Connector 5"/>
          <p:cNvCxnSpPr/>
          <p:nvPr/>
        </p:nvCxnSpPr>
        <p:spPr>
          <a:xfrm>
            <a:off x="502920" y="1609343"/>
            <a:ext cx="11185855" cy="0"/>
          </a:xfrm>
          <a:prstGeom prst="line">
            <a:avLst/>
          </a:prstGeom>
          <a:ln w="12700">
            <a:solidFill>
              <a:srgbClr val="E4DED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1828800"/>
            <a:ext cx="11185855" cy="548640"/>
          </a:xfrm>
          <a:prstGeom prst="rect">
            <a:avLst/>
          </a:prstGeom>
          <a:noFill/>
        </p:spPr>
        <p:txBody>
          <a:bodyPr wrap="square" anchor="t" lIns="0" rIns="0" tIns="0" bIns="0">
            <a:spAutoFit/>
          </a:bodyPr>
          <a:lstStyle/>
          <a:p>
            <a:pPr algn="l">
              <a:lnSpc>
                <a:spcPct val="135000"/>
              </a:lnSpc>
            </a:pPr>
            <a:r>
              <a:rPr sz="1250" b="0" i="0">
                <a:solidFill>
                  <a:srgbClr val="2A2724"/>
                </a:solidFill>
                <a:latin typeface="Yu Gothic"/>
              </a:rPr>
              <a:t>メーカーからの回答数量を記録すると、発注内容との差異が自動的に検出されます。差異がある場合、管理者は「差異のまま合意する」か「修正版を作り直す」かを選べます。下の例では、発注数量10に対して回答数量7という差異が発生し、判断待ちの状態になっています。</a:t>
            </a:r>
          </a:p>
        </p:txBody>
      </p:sp>
      <p:sp>
        <p:nvSpPr>
          <p:cNvPr id="8" name="Rounded Rectangle 7"/>
          <p:cNvSpPr/>
          <p:nvPr/>
        </p:nvSpPr>
        <p:spPr>
          <a:xfrm>
            <a:off x="2163927" y="2496312"/>
            <a:ext cx="7863840" cy="3131470"/>
          </a:xfrm>
          <a:prstGeom prst="roundRect">
            <a:avLst>
              <a:gd name="adj" fmla="val 2000"/>
            </a:avLst>
          </a:prstGeom>
          <a:solidFill>
            <a:srgbClr val="FFFFFF"/>
          </a:solidFill>
          <a:ln w="12700">
            <a:solidFill>
              <a:srgbClr val="D3CA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163927" y="2496312"/>
            <a:ext cx="7863840" cy="237744"/>
          </a:xfrm>
          <a:prstGeom prst="rect">
            <a:avLst/>
          </a:prstGeom>
          <a:solidFill>
            <a:srgbClr val="F3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255367" y="2583179"/>
            <a:ext cx="64008" cy="64008"/>
          </a:xfrm>
          <a:prstGeom prst="ellipse">
            <a:avLst/>
          </a:prstGeom>
          <a:solidFill>
            <a:srgbClr val="D3CA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383383" y="2583179"/>
            <a:ext cx="64008" cy="64008"/>
          </a:xfrm>
          <a:prstGeom prst="ellipse">
            <a:avLst/>
          </a:prstGeom>
          <a:solidFill>
            <a:srgbClr val="D3CA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511399" y="2583179"/>
            <a:ext cx="64008" cy="64008"/>
          </a:xfrm>
          <a:prstGeom prst="ellipse">
            <a:avLst/>
          </a:prstGeom>
          <a:solidFill>
            <a:srgbClr val="D3CA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66847" y="2496312"/>
            <a:ext cx="7269479" cy="237744"/>
          </a:xfrm>
          <a:prstGeom prst="rect">
            <a:avLst/>
          </a:prstGeom>
          <a:noFill/>
        </p:spPr>
        <p:txBody>
          <a:bodyPr wrap="square" anchor="ctr" lIns="0" rIns="0" tIns="0" bIns="0">
            <a:spAutoFit/>
          </a:bodyPr>
          <a:lstStyle/>
          <a:p>
            <a:pPr algn="l">
              <a:lnSpc>
                <a:spcPct val="128000"/>
              </a:lnSpc>
            </a:pPr>
            <a:r>
              <a:rPr sz="900" b="0" i="0">
                <a:solidFill>
                  <a:srgbClr val="9A938A"/>
                </a:solidFill>
                <a:latin typeface="Yu Gothic"/>
              </a:rPr>
              <a:t>/orders/5/supplier-response</a:t>
            </a:r>
          </a:p>
        </p:txBody>
      </p:sp>
      <p:pic>
        <p:nvPicPr>
          <p:cNvPr id="14" name="Picture 13" descr="scene6_supplier_response_agreement_pending.jpg"/>
          <p:cNvPicPr>
            <a:picLocks noChangeAspect="1"/>
          </p:cNvPicPr>
          <p:nvPr/>
        </p:nvPicPr>
        <p:blipFill>
          <a:blip r:embed="rId2"/>
          <a:stretch>
            <a:fillRect/>
          </a:stretch>
        </p:blipFill>
        <p:spPr>
          <a:xfrm>
            <a:off x="2163927" y="2734056"/>
            <a:ext cx="7863840" cy="2582830"/>
          </a:xfrm>
          <a:prstGeom prst="rect">
            <a:avLst/>
          </a:prstGeom>
        </p:spPr>
      </p:pic>
      <p:cxnSp>
        <p:nvCxnSpPr>
          <p:cNvPr id="15" name="Connector 14"/>
          <p:cNvCxnSpPr/>
          <p:nvPr/>
        </p:nvCxnSpPr>
        <p:spPr>
          <a:xfrm>
            <a:off x="2163927" y="5316886"/>
            <a:ext cx="7863840" cy="0"/>
          </a:xfrm>
          <a:prstGeom prst="line">
            <a:avLst/>
          </a:prstGeom>
          <a:ln w="9525">
            <a:solidFill>
              <a:srgbClr val="E4DED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273655" y="5353462"/>
            <a:ext cx="7644383" cy="256032"/>
          </a:xfrm>
          <a:prstGeom prst="rect">
            <a:avLst/>
          </a:prstGeom>
          <a:noFill/>
        </p:spPr>
        <p:txBody>
          <a:bodyPr wrap="square" anchor="ctr" lIns="0" rIns="0" tIns="0" bIns="0">
            <a:spAutoFit/>
          </a:bodyPr>
          <a:lstStyle/>
          <a:p>
            <a:pPr algn="l">
              <a:lnSpc>
                <a:spcPct val="128000"/>
              </a:lnSpc>
            </a:pPr>
            <a:r>
              <a:rPr sz="1050" b="0" i="0">
                <a:solidFill>
                  <a:srgbClr val="6B655D"/>
                </a:solidFill>
                <a:latin typeface="Yu Gothic"/>
              </a:rPr>
              <a:t>メーカー回答 — 発注数量10 → 回答数量7。「合意する」「修正版を作成」は管理者のみが判断できます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5486400" cy="274320"/>
          </a:xfrm>
          <a:prstGeom prst="rect">
            <a:avLst/>
          </a:prstGeom>
          <a:noFill/>
        </p:spPr>
        <p:txBody>
          <a:bodyPr wrap="square" anchor="t" lIns="0" rIns="0" tIns="0" bIns="0">
            <a:spAutoFit/>
          </a:bodyPr>
          <a:lstStyle/>
          <a:p>
            <a:pPr algn="l">
              <a:lnSpc>
                <a:spcPct val="128000"/>
              </a:lnSpc>
            </a:pPr>
            <a:r>
              <a:rPr sz="1150" b="1" i="0">
                <a:solidFill>
                  <a:srgbClr val="C8722F"/>
                </a:solidFill>
                <a:latin typeface="Yu Gothic"/>
              </a:rPr>
              <a:t>SCENE 7</a:t>
            </a:r>
          </a:p>
        </p:txBody>
      </p:sp>
      <p:sp>
        <p:nvSpPr>
          <p:cNvPr id="3" name="TextBox 2"/>
          <p:cNvSpPr txBox="1"/>
          <p:nvPr/>
        </p:nvSpPr>
        <p:spPr>
          <a:xfrm>
            <a:off x="9402775" y="384048"/>
            <a:ext cx="2286000" cy="274320"/>
          </a:xfrm>
          <a:prstGeom prst="rect">
            <a:avLst/>
          </a:prstGeom>
          <a:noFill/>
        </p:spPr>
        <p:txBody>
          <a:bodyPr wrap="square" anchor="t" lIns="0" rIns="0" tIns="0" bIns="0">
            <a:spAutoFit/>
          </a:bodyPr>
          <a:lstStyle/>
          <a:p>
            <a:pPr algn="r">
              <a:lnSpc>
                <a:spcPct val="128000"/>
              </a:lnSpc>
            </a:pPr>
            <a:r>
              <a:rPr sz="1050" b="0" i="0">
                <a:solidFill>
                  <a:srgbClr val="9A938A"/>
                </a:solidFill>
                <a:latin typeface="Yu Gothic"/>
              </a:rPr>
              <a:t>09 / 12</a:t>
            </a:r>
          </a:p>
        </p:txBody>
      </p:sp>
      <p:sp>
        <p:nvSpPr>
          <p:cNvPr id="4" name="TextBox 3"/>
          <p:cNvSpPr txBox="1"/>
          <p:nvPr/>
        </p:nvSpPr>
        <p:spPr>
          <a:xfrm>
            <a:off x="502920" y="658368"/>
            <a:ext cx="11185855" cy="548640"/>
          </a:xfrm>
          <a:prstGeom prst="rect">
            <a:avLst/>
          </a:prstGeom>
          <a:noFill/>
        </p:spPr>
        <p:txBody>
          <a:bodyPr wrap="square" anchor="t" lIns="0" rIns="0" tIns="0" bIns="0">
            <a:spAutoFit/>
          </a:bodyPr>
          <a:lstStyle/>
          <a:p>
            <a:pPr algn="l">
              <a:lnSpc>
                <a:spcPct val="128000"/>
              </a:lnSpc>
            </a:pPr>
            <a:r>
              <a:rPr sz="2700" b="1" i="0">
                <a:solidFill>
                  <a:srgbClr val="2A2724"/>
                </a:solidFill>
                <a:latin typeface="Yu Gothic"/>
              </a:rPr>
              <a:t>発注後の追跡 — 入荷・在庫・販売まで</a:t>
            </a:r>
          </a:p>
        </p:txBody>
      </p:sp>
      <p:sp>
        <p:nvSpPr>
          <p:cNvPr id="5" name="TextBox 4"/>
          <p:cNvSpPr txBox="1"/>
          <p:nvPr/>
        </p:nvSpPr>
        <p:spPr>
          <a:xfrm>
            <a:off x="502920" y="1115568"/>
            <a:ext cx="11185855" cy="365760"/>
          </a:xfrm>
          <a:prstGeom prst="rect">
            <a:avLst/>
          </a:prstGeom>
          <a:noFill/>
        </p:spPr>
        <p:txBody>
          <a:bodyPr wrap="square" anchor="t" lIns="0" rIns="0" tIns="0" bIns="0">
            <a:spAutoFit/>
          </a:bodyPr>
          <a:lstStyle/>
          <a:p>
            <a:pPr algn="l">
              <a:lnSpc>
                <a:spcPct val="128000"/>
              </a:lnSpc>
            </a:pPr>
            <a:r>
              <a:rPr sz="1300" b="0" i="0">
                <a:solidFill>
                  <a:srgbClr val="6B655D"/>
                </a:solidFill>
                <a:latin typeface="Yu Gothic"/>
              </a:rPr>
              <a:t>発注して終わりではなく、その後の実績まで同じPortalで追えます。</a:t>
            </a:r>
          </a:p>
        </p:txBody>
      </p:sp>
      <p:cxnSp>
        <p:nvCxnSpPr>
          <p:cNvPr id="6" name="Connector 5"/>
          <p:cNvCxnSpPr/>
          <p:nvPr/>
        </p:nvCxnSpPr>
        <p:spPr>
          <a:xfrm>
            <a:off x="502920" y="1609343"/>
            <a:ext cx="11185855" cy="0"/>
          </a:xfrm>
          <a:prstGeom prst="line">
            <a:avLst/>
          </a:prstGeom>
          <a:ln w="12700">
            <a:solidFill>
              <a:srgbClr val="E4DED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1810512"/>
            <a:ext cx="11185855" cy="365760"/>
          </a:xfrm>
          <a:prstGeom prst="rect">
            <a:avLst/>
          </a:prstGeom>
          <a:noFill/>
        </p:spPr>
        <p:txBody>
          <a:bodyPr wrap="square" anchor="t" lIns="0" rIns="0" tIns="0" bIns="0">
            <a:spAutoFit/>
          </a:bodyPr>
          <a:lstStyle/>
          <a:p>
            <a:pPr algn="l">
              <a:lnSpc>
                <a:spcPct val="130000"/>
              </a:lnSpc>
            </a:pPr>
            <a:r>
              <a:rPr sz="1200" b="0" i="0">
                <a:solidFill>
                  <a:srgbClr val="2A2724"/>
                </a:solidFill>
                <a:latin typeface="Yu Gothic"/>
              </a:rPr>
              <a:t>実際にいつ・何個入荷したか、倉庫にどれだけ在庫があるか、当月どれだけ販売されているかまで確認できます。いずれもG-SYSのデータをそのまま参照する仕組みです。</a:t>
            </a:r>
          </a:p>
        </p:txBody>
      </p:sp>
      <p:sp>
        <p:nvSpPr>
          <p:cNvPr id="8" name="Rounded Rectangle 7"/>
          <p:cNvSpPr/>
          <p:nvPr/>
        </p:nvSpPr>
        <p:spPr>
          <a:xfrm>
            <a:off x="1203807" y="2194560"/>
            <a:ext cx="4754880" cy="2398433"/>
          </a:xfrm>
          <a:prstGeom prst="roundRect">
            <a:avLst>
              <a:gd name="adj" fmla="val 2000"/>
            </a:avLst>
          </a:prstGeom>
          <a:solidFill>
            <a:srgbClr val="FFFFFF"/>
          </a:solidFill>
          <a:ln w="12700">
            <a:solidFill>
              <a:srgbClr val="D3CA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3807" y="2194560"/>
            <a:ext cx="4754880" cy="237744"/>
          </a:xfrm>
          <a:prstGeom prst="rect">
            <a:avLst/>
          </a:prstGeom>
          <a:solidFill>
            <a:srgbClr val="F3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95247" y="2281427"/>
            <a:ext cx="64008" cy="64008"/>
          </a:xfrm>
          <a:prstGeom prst="ellipse">
            <a:avLst/>
          </a:prstGeom>
          <a:solidFill>
            <a:srgbClr val="D3CA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23263" y="2281427"/>
            <a:ext cx="64008" cy="64008"/>
          </a:xfrm>
          <a:prstGeom prst="ellipse">
            <a:avLst/>
          </a:prstGeom>
          <a:solidFill>
            <a:srgbClr val="D3CA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551279" y="2281427"/>
            <a:ext cx="64008" cy="64008"/>
          </a:xfrm>
          <a:prstGeom prst="ellipse">
            <a:avLst/>
          </a:prstGeom>
          <a:solidFill>
            <a:srgbClr val="D3CA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06727" y="2194560"/>
            <a:ext cx="4160520" cy="237744"/>
          </a:xfrm>
          <a:prstGeom prst="rect">
            <a:avLst/>
          </a:prstGeom>
          <a:noFill/>
        </p:spPr>
        <p:txBody>
          <a:bodyPr wrap="square" anchor="ctr" lIns="0" rIns="0" tIns="0" bIns="0">
            <a:spAutoFit/>
          </a:bodyPr>
          <a:lstStyle/>
          <a:p>
            <a:pPr algn="l">
              <a:lnSpc>
                <a:spcPct val="128000"/>
              </a:lnSpc>
            </a:pPr>
            <a:r>
              <a:rPr sz="900" b="0" i="0">
                <a:solidFill>
                  <a:srgbClr val="9A938A"/>
                </a:solidFill>
                <a:latin typeface="Yu Gothic"/>
              </a:rPr>
              <a:t>/orders/1</a:t>
            </a:r>
          </a:p>
        </p:txBody>
      </p:sp>
      <p:pic>
        <p:nvPicPr>
          <p:cNvPr id="14" name="Picture 13" descr="scene7a_order_detail_fulfillment.jpg"/>
          <p:cNvPicPr>
            <a:picLocks noChangeAspect="1"/>
          </p:cNvPicPr>
          <p:nvPr/>
        </p:nvPicPr>
        <p:blipFill>
          <a:blip r:embed="rId2"/>
          <a:stretch>
            <a:fillRect/>
          </a:stretch>
        </p:blipFill>
        <p:spPr>
          <a:xfrm>
            <a:off x="1203807" y="2432304"/>
            <a:ext cx="4754880" cy="1849793"/>
          </a:xfrm>
          <a:prstGeom prst="rect">
            <a:avLst/>
          </a:prstGeom>
        </p:spPr>
      </p:pic>
      <p:cxnSp>
        <p:nvCxnSpPr>
          <p:cNvPr id="15" name="Connector 14"/>
          <p:cNvCxnSpPr/>
          <p:nvPr/>
        </p:nvCxnSpPr>
        <p:spPr>
          <a:xfrm>
            <a:off x="1203807" y="4282097"/>
            <a:ext cx="4754880" cy="0"/>
          </a:xfrm>
          <a:prstGeom prst="line">
            <a:avLst/>
          </a:prstGeom>
          <a:ln w="9525">
            <a:solidFill>
              <a:srgbClr val="E4DED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313535" y="4318673"/>
            <a:ext cx="4535424" cy="256032"/>
          </a:xfrm>
          <a:prstGeom prst="rect">
            <a:avLst/>
          </a:prstGeom>
          <a:noFill/>
        </p:spPr>
        <p:txBody>
          <a:bodyPr wrap="square" anchor="ctr" lIns="0" rIns="0" tIns="0" bIns="0">
            <a:spAutoFit/>
          </a:bodyPr>
          <a:lstStyle/>
          <a:p>
            <a:pPr algn="l">
              <a:lnSpc>
                <a:spcPct val="128000"/>
              </a:lnSpc>
            </a:pPr>
            <a:r>
              <a:rPr sz="1050" b="0" i="0">
                <a:solidFill>
                  <a:srgbClr val="6B655D"/>
                </a:solidFill>
                <a:latin typeface="Yu Gothic"/>
              </a:rPr>
              <a:t>入荷状況 — 発注に対する入荷実績（完納）</a:t>
            </a:r>
          </a:p>
        </p:txBody>
      </p:sp>
      <p:sp>
        <p:nvSpPr>
          <p:cNvPr id="17" name="Rounded Rectangle 16"/>
          <p:cNvSpPr/>
          <p:nvPr/>
        </p:nvSpPr>
        <p:spPr>
          <a:xfrm>
            <a:off x="1203807" y="4721009"/>
            <a:ext cx="4754880" cy="1791944"/>
          </a:xfrm>
          <a:prstGeom prst="roundRect">
            <a:avLst>
              <a:gd name="adj" fmla="val 2000"/>
            </a:avLst>
          </a:prstGeom>
          <a:solidFill>
            <a:srgbClr val="FFFFFF"/>
          </a:solidFill>
          <a:ln w="12700">
            <a:solidFill>
              <a:srgbClr val="D3CA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03807" y="4721009"/>
            <a:ext cx="4754880" cy="237744"/>
          </a:xfrm>
          <a:prstGeom prst="rect">
            <a:avLst/>
          </a:prstGeom>
          <a:solidFill>
            <a:srgbClr val="F3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295247" y="4807877"/>
            <a:ext cx="64008" cy="64008"/>
          </a:xfrm>
          <a:prstGeom prst="ellipse">
            <a:avLst/>
          </a:prstGeom>
          <a:solidFill>
            <a:srgbClr val="D3CA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423263" y="4807877"/>
            <a:ext cx="64008" cy="64008"/>
          </a:xfrm>
          <a:prstGeom prst="ellipse">
            <a:avLst/>
          </a:prstGeom>
          <a:solidFill>
            <a:srgbClr val="D3CA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551279" y="4807877"/>
            <a:ext cx="64008" cy="64008"/>
          </a:xfrm>
          <a:prstGeom prst="ellipse">
            <a:avLst/>
          </a:prstGeom>
          <a:solidFill>
            <a:srgbClr val="D3CA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706727" y="4721009"/>
            <a:ext cx="4160520" cy="237744"/>
          </a:xfrm>
          <a:prstGeom prst="rect">
            <a:avLst/>
          </a:prstGeom>
          <a:noFill/>
        </p:spPr>
        <p:txBody>
          <a:bodyPr wrap="square" anchor="ctr" lIns="0" rIns="0" tIns="0" bIns="0">
            <a:spAutoFit/>
          </a:bodyPr>
          <a:lstStyle/>
          <a:p>
            <a:pPr algn="l">
              <a:lnSpc>
                <a:spcPct val="128000"/>
              </a:lnSpc>
            </a:pPr>
            <a:r>
              <a:rPr sz="900" b="0" i="0">
                <a:solidFill>
                  <a:srgbClr val="9A938A"/>
                </a:solidFill>
                <a:latin typeface="Yu Gothic"/>
              </a:rPr>
              <a:t>/arrivals/.../PO-OUTDOOR-01</a:t>
            </a:r>
          </a:p>
        </p:txBody>
      </p:sp>
      <p:pic>
        <p:nvPicPr>
          <p:cNvPr id="23" name="Picture 22" descr="scene7b_arrival_detail.jpg"/>
          <p:cNvPicPr>
            <a:picLocks noChangeAspect="1"/>
          </p:cNvPicPr>
          <p:nvPr/>
        </p:nvPicPr>
        <p:blipFill>
          <a:blip r:embed="rId3"/>
          <a:stretch>
            <a:fillRect/>
          </a:stretch>
        </p:blipFill>
        <p:spPr>
          <a:xfrm>
            <a:off x="1203807" y="4958753"/>
            <a:ext cx="4754880" cy="1243304"/>
          </a:xfrm>
          <a:prstGeom prst="rect">
            <a:avLst/>
          </a:prstGeom>
        </p:spPr>
      </p:pic>
      <p:cxnSp>
        <p:nvCxnSpPr>
          <p:cNvPr id="24" name="Connector 23"/>
          <p:cNvCxnSpPr/>
          <p:nvPr/>
        </p:nvCxnSpPr>
        <p:spPr>
          <a:xfrm>
            <a:off x="1203807" y="6202057"/>
            <a:ext cx="4754880" cy="0"/>
          </a:xfrm>
          <a:prstGeom prst="line">
            <a:avLst/>
          </a:prstGeom>
          <a:ln w="9525">
            <a:solidFill>
              <a:srgbClr val="E4DED5"/>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313535" y="6238633"/>
            <a:ext cx="4535424" cy="256032"/>
          </a:xfrm>
          <a:prstGeom prst="rect">
            <a:avLst/>
          </a:prstGeom>
          <a:noFill/>
        </p:spPr>
        <p:txBody>
          <a:bodyPr wrap="square" anchor="ctr" lIns="0" rIns="0" tIns="0" bIns="0">
            <a:spAutoFit/>
          </a:bodyPr>
          <a:lstStyle/>
          <a:p>
            <a:pPr algn="l">
              <a:lnSpc>
                <a:spcPct val="128000"/>
              </a:lnSpc>
            </a:pPr>
            <a:r>
              <a:rPr sz="1050" b="0" i="0">
                <a:solidFill>
                  <a:srgbClr val="6B655D"/>
                </a:solidFill>
                <a:latin typeface="Yu Gothic"/>
              </a:rPr>
              <a:t>入荷詳細 — PO・Invoice・入荷・入庫の数量を横断表示</a:t>
            </a:r>
          </a:p>
        </p:txBody>
      </p:sp>
      <p:sp>
        <p:nvSpPr>
          <p:cNvPr id="26" name="Rounded Rectangle 25"/>
          <p:cNvSpPr/>
          <p:nvPr/>
        </p:nvSpPr>
        <p:spPr>
          <a:xfrm>
            <a:off x="6233007" y="2194560"/>
            <a:ext cx="4754880" cy="1306752"/>
          </a:xfrm>
          <a:prstGeom prst="roundRect">
            <a:avLst>
              <a:gd name="adj" fmla="val 2000"/>
            </a:avLst>
          </a:prstGeom>
          <a:solidFill>
            <a:srgbClr val="FFFFFF"/>
          </a:solidFill>
          <a:ln w="12700">
            <a:solidFill>
              <a:srgbClr val="D3CA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33007" y="2194560"/>
            <a:ext cx="4754880" cy="237744"/>
          </a:xfrm>
          <a:prstGeom prst="rect">
            <a:avLst/>
          </a:prstGeom>
          <a:solidFill>
            <a:srgbClr val="F3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324447" y="2281427"/>
            <a:ext cx="64008" cy="64008"/>
          </a:xfrm>
          <a:prstGeom prst="ellipse">
            <a:avLst/>
          </a:prstGeom>
          <a:solidFill>
            <a:srgbClr val="D3CA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452463" y="2281427"/>
            <a:ext cx="64008" cy="64008"/>
          </a:xfrm>
          <a:prstGeom prst="ellipse">
            <a:avLst/>
          </a:prstGeom>
          <a:solidFill>
            <a:srgbClr val="D3CA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580479" y="2281427"/>
            <a:ext cx="64008" cy="64008"/>
          </a:xfrm>
          <a:prstGeom prst="ellipse">
            <a:avLst/>
          </a:prstGeom>
          <a:solidFill>
            <a:srgbClr val="D3CA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35927" y="2194560"/>
            <a:ext cx="4160520" cy="237744"/>
          </a:xfrm>
          <a:prstGeom prst="rect">
            <a:avLst/>
          </a:prstGeom>
          <a:noFill/>
        </p:spPr>
        <p:txBody>
          <a:bodyPr wrap="square" anchor="ctr" lIns="0" rIns="0" tIns="0" bIns="0">
            <a:spAutoFit/>
          </a:bodyPr>
          <a:lstStyle/>
          <a:p>
            <a:pPr algn="l">
              <a:lnSpc>
                <a:spcPct val="128000"/>
              </a:lnSpc>
            </a:pPr>
            <a:r>
              <a:rPr sz="900" b="0" i="0">
                <a:solidFill>
                  <a:srgbClr val="9A938A"/>
                </a:solidFill>
                <a:latin typeface="Yu Gothic"/>
              </a:rPr>
              <a:t>/warehouse-stock</a:t>
            </a:r>
          </a:p>
        </p:txBody>
      </p:sp>
      <p:pic>
        <p:nvPicPr>
          <p:cNvPr id="32" name="Picture 31" descr="scene7c_warehouse_stock.jpg"/>
          <p:cNvPicPr>
            <a:picLocks noChangeAspect="1"/>
          </p:cNvPicPr>
          <p:nvPr/>
        </p:nvPicPr>
        <p:blipFill>
          <a:blip r:embed="rId4"/>
          <a:stretch>
            <a:fillRect/>
          </a:stretch>
        </p:blipFill>
        <p:spPr>
          <a:xfrm>
            <a:off x="6233007" y="2432304"/>
            <a:ext cx="4754880" cy="758112"/>
          </a:xfrm>
          <a:prstGeom prst="rect">
            <a:avLst/>
          </a:prstGeom>
        </p:spPr>
      </p:pic>
      <p:cxnSp>
        <p:nvCxnSpPr>
          <p:cNvPr id="33" name="Connector 32"/>
          <p:cNvCxnSpPr/>
          <p:nvPr/>
        </p:nvCxnSpPr>
        <p:spPr>
          <a:xfrm>
            <a:off x="6233007" y="3190416"/>
            <a:ext cx="4754880" cy="0"/>
          </a:xfrm>
          <a:prstGeom prst="line">
            <a:avLst/>
          </a:prstGeom>
          <a:ln w="9525">
            <a:solidFill>
              <a:srgbClr val="E4DED5"/>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342735" y="3226992"/>
            <a:ext cx="4535424" cy="256032"/>
          </a:xfrm>
          <a:prstGeom prst="rect">
            <a:avLst/>
          </a:prstGeom>
          <a:noFill/>
        </p:spPr>
        <p:txBody>
          <a:bodyPr wrap="square" anchor="ctr" lIns="0" rIns="0" tIns="0" bIns="0">
            <a:spAutoFit/>
          </a:bodyPr>
          <a:lstStyle/>
          <a:p>
            <a:pPr algn="l">
              <a:lnSpc>
                <a:spcPct val="128000"/>
              </a:lnSpc>
            </a:pPr>
            <a:r>
              <a:rPr sz="1050" b="0" i="0">
                <a:solidFill>
                  <a:srgbClr val="6B655D"/>
                </a:solidFill>
                <a:latin typeface="Yu Gothic"/>
              </a:rPr>
              <a:t>倉庫別在庫 — 倉庫ごとの在庫数量を確認</a:t>
            </a:r>
          </a:p>
        </p:txBody>
      </p:sp>
      <p:sp>
        <p:nvSpPr>
          <p:cNvPr id="35" name="Rounded Rectangle 34"/>
          <p:cNvSpPr/>
          <p:nvPr/>
        </p:nvSpPr>
        <p:spPr>
          <a:xfrm>
            <a:off x="6233007" y="3629328"/>
            <a:ext cx="4754880" cy="1155129"/>
          </a:xfrm>
          <a:prstGeom prst="roundRect">
            <a:avLst>
              <a:gd name="adj" fmla="val 2000"/>
            </a:avLst>
          </a:prstGeom>
          <a:solidFill>
            <a:srgbClr val="FFFFFF"/>
          </a:solidFill>
          <a:ln w="12700">
            <a:solidFill>
              <a:srgbClr val="D3CA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3007" y="3629328"/>
            <a:ext cx="4754880" cy="237744"/>
          </a:xfrm>
          <a:prstGeom prst="rect">
            <a:avLst/>
          </a:prstGeom>
          <a:solidFill>
            <a:srgbClr val="F3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24447" y="3716196"/>
            <a:ext cx="64008" cy="64008"/>
          </a:xfrm>
          <a:prstGeom prst="ellipse">
            <a:avLst/>
          </a:prstGeom>
          <a:solidFill>
            <a:srgbClr val="D3CA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452463" y="3716196"/>
            <a:ext cx="64008" cy="64008"/>
          </a:xfrm>
          <a:prstGeom prst="ellipse">
            <a:avLst/>
          </a:prstGeom>
          <a:solidFill>
            <a:srgbClr val="D3CA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580479" y="3716196"/>
            <a:ext cx="64008" cy="64008"/>
          </a:xfrm>
          <a:prstGeom prst="ellipse">
            <a:avLst/>
          </a:prstGeom>
          <a:solidFill>
            <a:srgbClr val="D3CA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735927" y="3629328"/>
            <a:ext cx="4160520" cy="237744"/>
          </a:xfrm>
          <a:prstGeom prst="rect">
            <a:avLst/>
          </a:prstGeom>
          <a:noFill/>
        </p:spPr>
        <p:txBody>
          <a:bodyPr wrap="square" anchor="ctr" lIns="0" rIns="0" tIns="0" bIns="0">
            <a:spAutoFit/>
          </a:bodyPr>
          <a:lstStyle/>
          <a:p>
            <a:pPr algn="l">
              <a:lnSpc>
                <a:spcPct val="128000"/>
              </a:lnSpc>
            </a:pPr>
            <a:r>
              <a:rPr sz="900" b="0" i="0">
                <a:solidFill>
                  <a:srgbClr val="9A938A"/>
                </a:solidFill>
                <a:latin typeface="Yu Gothic"/>
              </a:rPr>
              <a:t>/stock-sales</a:t>
            </a:r>
          </a:p>
        </p:txBody>
      </p:sp>
      <p:pic>
        <p:nvPicPr>
          <p:cNvPr id="41" name="Picture 40" descr="scene7d_stock_sales.jpg"/>
          <p:cNvPicPr>
            <a:picLocks noChangeAspect="1"/>
          </p:cNvPicPr>
          <p:nvPr/>
        </p:nvPicPr>
        <p:blipFill>
          <a:blip r:embed="rId5"/>
          <a:stretch>
            <a:fillRect/>
          </a:stretch>
        </p:blipFill>
        <p:spPr>
          <a:xfrm>
            <a:off x="6233007" y="3867072"/>
            <a:ext cx="4754880" cy="606489"/>
          </a:xfrm>
          <a:prstGeom prst="rect">
            <a:avLst/>
          </a:prstGeom>
        </p:spPr>
      </p:pic>
      <p:cxnSp>
        <p:nvCxnSpPr>
          <p:cNvPr id="42" name="Connector 41"/>
          <p:cNvCxnSpPr/>
          <p:nvPr/>
        </p:nvCxnSpPr>
        <p:spPr>
          <a:xfrm>
            <a:off x="6233007" y="4473562"/>
            <a:ext cx="4754880" cy="0"/>
          </a:xfrm>
          <a:prstGeom prst="line">
            <a:avLst/>
          </a:prstGeom>
          <a:ln w="9525">
            <a:solidFill>
              <a:srgbClr val="E4DED5"/>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342735" y="4510138"/>
            <a:ext cx="4535424" cy="256032"/>
          </a:xfrm>
          <a:prstGeom prst="rect">
            <a:avLst/>
          </a:prstGeom>
          <a:noFill/>
        </p:spPr>
        <p:txBody>
          <a:bodyPr wrap="square" anchor="ctr" lIns="0" rIns="0" tIns="0" bIns="0">
            <a:spAutoFit/>
          </a:bodyPr>
          <a:lstStyle/>
          <a:p>
            <a:pPr algn="l">
              <a:lnSpc>
                <a:spcPct val="128000"/>
              </a:lnSpc>
            </a:pPr>
            <a:r>
              <a:rPr sz="1050" b="0" i="0">
                <a:solidFill>
                  <a:srgbClr val="6B655D"/>
                </a:solidFill>
                <a:latin typeface="Yu Gothic"/>
              </a:rPr>
              <a:t>在庫・販売確認 — 現在庫と当月販売数量</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5486400" cy="274320"/>
          </a:xfrm>
          <a:prstGeom prst="rect">
            <a:avLst/>
          </a:prstGeom>
          <a:noFill/>
        </p:spPr>
        <p:txBody>
          <a:bodyPr wrap="square" anchor="t" lIns="0" rIns="0" tIns="0" bIns="0">
            <a:spAutoFit/>
          </a:bodyPr>
          <a:lstStyle/>
          <a:p>
            <a:pPr algn="l">
              <a:lnSpc>
                <a:spcPct val="128000"/>
              </a:lnSpc>
            </a:pPr>
            <a:r>
              <a:rPr sz="1150" b="1" i="0">
                <a:solidFill>
                  <a:srgbClr val="C8722F"/>
                </a:solidFill>
                <a:latin typeface="Yu Gothic"/>
              </a:rPr>
              <a:t>SCENE 8</a:t>
            </a:r>
          </a:p>
        </p:txBody>
      </p:sp>
      <p:sp>
        <p:nvSpPr>
          <p:cNvPr id="3" name="TextBox 2"/>
          <p:cNvSpPr txBox="1"/>
          <p:nvPr/>
        </p:nvSpPr>
        <p:spPr>
          <a:xfrm>
            <a:off x="9402775" y="384048"/>
            <a:ext cx="2286000" cy="274320"/>
          </a:xfrm>
          <a:prstGeom prst="rect">
            <a:avLst/>
          </a:prstGeom>
          <a:noFill/>
        </p:spPr>
        <p:txBody>
          <a:bodyPr wrap="square" anchor="t" lIns="0" rIns="0" tIns="0" bIns="0">
            <a:spAutoFit/>
          </a:bodyPr>
          <a:lstStyle/>
          <a:p>
            <a:pPr algn="r">
              <a:lnSpc>
                <a:spcPct val="128000"/>
              </a:lnSpc>
            </a:pPr>
            <a:r>
              <a:rPr sz="1050" b="0" i="0">
                <a:solidFill>
                  <a:srgbClr val="9A938A"/>
                </a:solidFill>
                <a:latin typeface="Yu Gothic"/>
              </a:rPr>
              <a:t>10 / 12</a:t>
            </a:r>
          </a:p>
        </p:txBody>
      </p:sp>
      <p:sp>
        <p:nvSpPr>
          <p:cNvPr id="4" name="TextBox 3"/>
          <p:cNvSpPr txBox="1"/>
          <p:nvPr/>
        </p:nvSpPr>
        <p:spPr>
          <a:xfrm>
            <a:off x="502920" y="658368"/>
            <a:ext cx="11185855" cy="548640"/>
          </a:xfrm>
          <a:prstGeom prst="rect">
            <a:avLst/>
          </a:prstGeom>
          <a:noFill/>
        </p:spPr>
        <p:txBody>
          <a:bodyPr wrap="square" anchor="t" lIns="0" rIns="0" tIns="0" bIns="0">
            <a:spAutoFit/>
          </a:bodyPr>
          <a:lstStyle/>
          <a:p>
            <a:pPr algn="l">
              <a:lnSpc>
                <a:spcPct val="128000"/>
              </a:lnSpc>
            </a:pPr>
            <a:r>
              <a:rPr sz="2700" b="1" i="0">
                <a:solidFill>
                  <a:srgbClr val="2A2724"/>
                </a:solidFill>
                <a:latin typeface="Yu Gothic"/>
              </a:rPr>
              <a:t>履歴・監査 — すべての判断を記録する</a:t>
            </a:r>
          </a:p>
        </p:txBody>
      </p:sp>
      <p:sp>
        <p:nvSpPr>
          <p:cNvPr id="5" name="TextBox 4"/>
          <p:cNvSpPr txBox="1"/>
          <p:nvPr/>
        </p:nvSpPr>
        <p:spPr>
          <a:xfrm>
            <a:off x="502920" y="1115568"/>
            <a:ext cx="11185855" cy="365760"/>
          </a:xfrm>
          <a:prstGeom prst="rect">
            <a:avLst/>
          </a:prstGeom>
          <a:noFill/>
        </p:spPr>
        <p:txBody>
          <a:bodyPr wrap="square" anchor="t" lIns="0" rIns="0" tIns="0" bIns="0">
            <a:spAutoFit/>
          </a:bodyPr>
          <a:lstStyle/>
          <a:p>
            <a:pPr algn="l">
              <a:lnSpc>
                <a:spcPct val="128000"/>
              </a:lnSpc>
            </a:pPr>
            <a:r>
              <a:rPr sz="1300" b="0" i="0">
                <a:solidFill>
                  <a:srgbClr val="6B655D"/>
                </a:solidFill>
                <a:latin typeface="Yu Gothic"/>
              </a:rPr>
              <a:t>誰が・いつ・何を判断したかが、後から必ず追跡できます。</a:t>
            </a:r>
          </a:p>
        </p:txBody>
      </p:sp>
      <p:cxnSp>
        <p:nvCxnSpPr>
          <p:cNvPr id="6" name="Connector 5"/>
          <p:cNvCxnSpPr/>
          <p:nvPr/>
        </p:nvCxnSpPr>
        <p:spPr>
          <a:xfrm>
            <a:off x="502920" y="1609343"/>
            <a:ext cx="11185855" cy="0"/>
          </a:xfrm>
          <a:prstGeom prst="line">
            <a:avLst/>
          </a:prstGeom>
          <a:ln w="12700">
            <a:solidFill>
              <a:srgbClr val="E4DED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1828800"/>
            <a:ext cx="11185855" cy="548640"/>
          </a:xfrm>
          <a:prstGeom prst="rect">
            <a:avLst/>
          </a:prstGeom>
          <a:noFill/>
        </p:spPr>
        <p:txBody>
          <a:bodyPr wrap="square" anchor="t" lIns="0" rIns="0" tIns="0" bIns="0">
            <a:spAutoFit/>
          </a:bodyPr>
          <a:lstStyle/>
          <a:p>
            <a:pPr algn="l">
              <a:lnSpc>
                <a:spcPct val="135000"/>
              </a:lnSpc>
            </a:pPr>
            <a:r>
              <a:rPr sz="1250" b="0" i="0">
                <a:solidFill>
                  <a:srgbClr val="2A2724"/>
                </a:solidFill>
                <a:latin typeface="Yu Gothic"/>
              </a:rPr>
              <a:t>ドラフト作成から承認、メーカーへの送信、回答確定、合意まで、一連の操作がすべて記録されます。Excelや口頭のやり取りでは残らなかった判断の経緯を、後から確認できるようになります。</a:t>
            </a:r>
          </a:p>
        </p:txBody>
      </p:sp>
      <p:sp>
        <p:nvSpPr>
          <p:cNvPr id="8" name="Rounded Rectangle 7"/>
          <p:cNvSpPr/>
          <p:nvPr/>
        </p:nvSpPr>
        <p:spPr>
          <a:xfrm>
            <a:off x="502920" y="2468880"/>
            <a:ext cx="5432907" cy="2499358"/>
          </a:xfrm>
          <a:prstGeom prst="roundRect">
            <a:avLst>
              <a:gd name="adj" fmla="val 2000"/>
            </a:avLst>
          </a:prstGeom>
          <a:solidFill>
            <a:srgbClr val="FFFFFF"/>
          </a:solidFill>
          <a:ln w="12700">
            <a:solidFill>
              <a:srgbClr val="D3CA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2468880"/>
            <a:ext cx="5432907" cy="237744"/>
          </a:xfrm>
          <a:prstGeom prst="rect">
            <a:avLst/>
          </a:prstGeom>
          <a:solidFill>
            <a:srgbClr val="F3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94360" y="2555748"/>
            <a:ext cx="64008" cy="64008"/>
          </a:xfrm>
          <a:prstGeom prst="ellipse">
            <a:avLst/>
          </a:prstGeom>
          <a:solidFill>
            <a:srgbClr val="D3CA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22376" y="2555748"/>
            <a:ext cx="64008" cy="64008"/>
          </a:xfrm>
          <a:prstGeom prst="ellipse">
            <a:avLst/>
          </a:prstGeom>
          <a:solidFill>
            <a:srgbClr val="D3CA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50392" y="2555748"/>
            <a:ext cx="64008" cy="64008"/>
          </a:xfrm>
          <a:prstGeom prst="ellipse">
            <a:avLst/>
          </a:prstGeom>
          <a:solidFill>
            <a:srgbClr val="D3CA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2468880"/>
            <a:ext cx="4838547" cy="237744"/>
          </a:xfrm>
          <a:prstGeom prst="rect">
            <a:avLst/>
          </a:prstGeom>
          <a:noFill/>
        </p:spPr>
        <p:txBody>
          <a:bodyPr wrap="square" anchor="ctr" lIns="0" rIns="0" tIns="0" bIns="0">
            <a:spAutoFit/>
          </a:bodyPr>
          <a:lstStyle/>
          <a:p>
            <a:pPr algn="l">
              <a:lnSpc>
                <a:spcPct val="128000"/>
              </a:lnSpc>
            </a:pPr>
            <a:r>
              <a:rPr sz="900" b="0" i="0">
                <a:solidFill>
                  <a:srgbClr val="9A938A"/>
                </a:solidFill>
                <a:latin typeface="Yu Gothic"/>
              </a:rPr>
              <a:t>/orders/1（操作履歴）</a:t>
            </a:r>
          </a:p>
        </p:txBody>
      </p:sp>
      <p:pic>
        <p:nvPicPr>
          <p:cNvPr id="14" name="Picture 13" descr="scene8a_audit_timeline.jpg"/>
          <p:cNvPicPr>
            <a:picLocks noChangeAspect="1"/>
          </p:cNvPicPr>
          <p:nvPr/>
        </p:nvPicPr>
        <p:blipFill>
          <a:blip r:embed="rId2"/>
          <a:stretch>
            <a:fillRect/>
          </a:stretch>
        </p:blipFill>
        <p:spPr>
          <a:xfrm>
            <a:off x="502920" y="2706624"/>
            <a:ext cx="5432907" cy="1950718"/>
          </a:xfrm>
          <a:prstGeom prst="rect">
            <a:avLst/>
          </a:prstGeom>
        </p:spPr>
      </p:pic>
      <p:cxnSp>
        <p:nvCxnSpPr>
          <p:cNvPr id="15" name="Connector 14"/>
          <p:cNvCxnSpPr/>
          <p:nvPr/>
        </p:nvCxnSpPr>
        <p:spPr>
          <a:xfrm>
            <a:off x="502920" y="4657342"/>
            <a:ext cx="5432907" cy="0"/>
          </a:xfrm>
          <a:prstGeom prst="line">
            <a:avLst/>
          </a:prstGeom>
          <a:ln w="9525">
            <a:solidFill>
              <a:srgbClr val="E4DED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2648" y="4693918"/>
            <a:ext cx="5213451" cy="256032"/>
          </a:xfrm>
          <a:prstGeom prst="rect">
            <a:avLst/>
          </a:prstGeom>
          <a:noFill/>
        </p:spPr>
        <p:txBody>
          <a:bodyPr wrap="square" anchor="ctr" lIns="0" rIns="0" tIns="0" bIns="0">
            <a:spAutoFit/>
          </a:bodyPr>
          <a:lstStyle/>
          <a:p>
            <a:pPr algn="l">
              <a:lnSpc>
                <a:spcPct val="128000"/>
              </a:lnSpc>
            </a:pPr>
            <a:r>
              <a:rPr sz="1050" b="0" i="0">
                <a:solidFill>
                  <a:srgbClr val="6B655D"/>
                </a:solidFill>
                <a:latin typeface="Yu Gothic"/>
              </a:rPr>
              <a:t>操作履歴 — ドラフト作成から合意まで、実行者・日時付きで記録</a:t>
            </a:r>
          </a:p>
        </p:txBody>
      </p:sp>
      <p:sp>
        <p:nvSpPr>
          <p:cNvPr id="17" name="Rounded Rectangle 16"/>
          <p:cNvSpPr/>
          <p:nvPr/>
        </p:nvSpPr>
        <p:spPr>
          <a:xfrm>
            <a:off x="6255867" y="2468880"/>
            <a:ext cx="5432907" cy="1657396"/>
          </a:xfrm>
          <a:prstGeom prst="roundRect">
            <a:avLst>
              <a:gd name="adj" fmla="val 2000"/>
            </a:avLst>
          </a:prstGeom>
          <a:solidFill>
            <a:srgbClr val="FFFFFF"/>
          </a:solidFill>
          <a:ln w="12700">
            <a:solidFill>
              <a:srgbClr val="D3CA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55867" y="2468880"/>
            <a:ext cx="5432907" cy="237744"/>
          </a:xfrm>
          <a:prstGeom prst="rect">
            <a:avLst/>
          </a:prstGeom>
          <a:solidFill>
            <a:srgbClr val="F3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347307" y="2555748"/>
            <a:ext cx="64008" cy="64008"/>
          </a:xfrm>
          <a:prstGeom prst="ellipse">
            <a:avLst/>
          </a:prstGeom>
          <a:solidFill>
            <a:srgbClr val="D3CA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75323" y="2555748"/>
            <a:ext cx="64008" cy="64008"/>
          </a:xfrm>
          <a:prstGeom prst="ellipse">
            <a:avLst/>
          </a:prstGeom>
          <a:solidFill>
            <a:srgbClr val="D3CA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603339" y="2555748"/>
            <a:ext cx="64008" cy="64008"/>
          </a:xfrm>
          <a:prstGeom prst="ellipse">
            <a:avLst/>
          </a:prstGeom>
          <a:solidFill>
            <a:srgbClr val="D3CA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58787" y="2468880"/>
            <a:ext cx="4838547" cy="237744"/>
          </a:xfrm>
          <a:prstGeom prst="rect">
            <a:avLst/>
          </a:prstGeom>
          <a:noFill/>
        </p:spPr>
        <p:txBody>
          <a:bodyPr wrap="square" anchor="ctr" lIns="0" rIns="0" tIns="0" bIns="0">
            <a:spAutoFit/>
          </a:bodyPr>
          <a:lstStyle/>
          <a:p>
            <a:pPr algn="l">
              <a:lnSpc>
                <a:spcPct val="128000"/>
              </a:lnSpc>
            </a:pPr>
            <a:r>
              <a:rPr sz="900" b="0" i="0">
                <a:solidFill>
                  <a:srgbClr val="9A938A"/>
                </a:solidFill>
                <a:latin typeface="Yu Gothic"/>
              </a:rPr>
              <a:t>/orders/history</a:t>
            </a:r>
          </a:p>
        </p:txBody>
      </p:sp>
      <p:pic>
        <p:nvPicPr>
          <p:cNvPr id="23" name="Picture 22" descr="scene8b_order_history.jpg"/>
          <p:cNvPicPr>
            <a:picLocks noChangeAspect="1"/>
          </p:cNvPicPr>
          <p:nvPr/>
        </p:nvPicPr>
        <p:blipFill>
          <a:blip r:embed="rId3"/>
          <a:stretch>
            <a:fillRect/>
          </a:stretch>
        </p:blipFill>
        <p:spPr>
          <a:xfrm>
            <a:off x="6255867" y="2706624"/>
            <a:ext cx="5432907" cy="1108756"/>
          </a:xfrm>
          <a:prstGeom prst="rect">
            <a:avLst/>
          </a:prstGeom>
        </p:spPr>
      </p:pic>
      <p:cxnSp>
        <p:nvCxnSpPr>
          <p:cNvPr id="24" name="Connector 23"/>
          <p:cNvCxnSpPr/>
          <p:nvPr/>
        </p:nvCxnSpPr>
        <p:spPr>
          <a:xfrm>
            <a:off x="6255867" y="3815380"/>
            <a:ext cx="5432908" cy="0"/>
          </a:xfrm>
          <a:prstGeom prst="line">
            <a:avLst/>
          </a:prstGeom>
          <a:ln w="9525">
            <a:solidFill>
              <a:srgbClr val="E4DED5"/>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365595" y="3851956"/>
            <a:ext cx="5213451" cy="256032"/>
          </a:xfrm>
          <a:prstGeom prst="rect">
            <a:avLst/>
          </a:prstGeom>
          <a:noFill/>
        </p:spPr>
        <p:txBody>
          <a:bodyPr wrap="square" anchor="ctr" lIns="0" rIns="0" tIns="0" bIns="0">
            <a:spAutoFit/>
          </a:bodyPr>
          <a:lstStyle/>
          <a:p>
            <a:pPr algn="l">
              <a:lnSpc>
                <a:spcPct val="128000"/>
              </a:lnSpc>
            </a:pPr>
            <a:r>
              <a:rPr sz="1050" b="0" i="0">
                <a:solidFill>
                  <a:srgbClr val="6B655D"/>
                </a:solidFill>
                <a:latin typeface="Yu Gothic"/>
              </a:rPr>
              <a:t>発注一覧 — 複数の発注のステータスを一望できる</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5486400" cy="274320"/>
          </a:xfrm>
          <a:prstGeom prst="rect">
            <a:avLst/>
          </a:prstGeom>
          <a:noFill/>
        </p:spPr>
        <p:txBody>
          <a:bodyPr wrap="square" anchor="t" lIns="0" rIns="0" tIns="0" bIns="0">
            <a:spAutoFit/>
          </a:bodyPr>
          <a:lstStyle/>
          <a:p>
            <a:pPr algn="l">
              <a:lnSpc>
                <a:spcPct val="128000"/>
              </a:lnSpc>
            </a:pPr>
            <a:r>
              <a:rPr sz="1150" b="1" i="0">
                <a:solidFill>
                  <a:srgbClr val="C8722F"/>
                </a:solidFill>
                <a:latin typeface="Yu Gothic"/>
              </a:rPr>
              <a:t>SCOPE</a:t>
            </a:r>
          </a:p>
        </p:txBody>
      </p:sp>
      <p:sp>
        <p:nvSpPr>
          <p:cNvPr id="3" name="TextBox 2"/>
          <p:cNvSpPr txBox="1"/>
          <p:nvPr/>
        </p:nvSpPr>
        <p:spPr>
          <a:xfrm>
            <a:off x="9402775" y="384048"/>
            <a:ext cx="2286000" cy="274320"/>
          </a:xfrm>
          <a:prstGeom prst="rect">
            <a:avLst/>
          </a:prstGeom>
          <a:noFill/>
        </p:spPr>
        <p:txBody>
          <a:bodyPr wrap="square" anchor="t" lIns="0" rIns="0" tIns="0" bIns="0">
            <a:spAutoFit/>
          </a:bodyPr>
          <a:lstStyle/>
          <a:p>
            <a:pPr algn="r">
              <a:lnSpc>
                <a:spcPct val="128000"/>
              </a:lnSpc>
            </a:pPr>
            <a:r>
              <a:rPr sz="1050" b="0" i="0">
                <a:solidFill>
                  <a:srgbClr val="9A938A"/>
                </a:solidFill>
                <a:latin typeface="Yu Gothic"/>
              </a:rPr>
              <a:t>11 / 12</a:t>
            </a:r>
          </a:p>
        </p:txBody>
      </p:sp>
      <p:sp>
        <p:nvSpPr>
          <p:cNvPr id="4" name="TextBox 3"/>
          <p:cNvSpPr txBox="1"/>
          <p:nvPr/>
        </p:nvSpPr>
        <p:spPr>
          <a:xfrm>
            <a:off x="502920" y="658368"/>
            <a:ext cx="11185855" cy="548640"/>
          </a:xfrm>
          <a:prstGeom prst="rect">
            <a:avLst/>
          </a:prstGeom>
          <a:noFill/>
        </p:spPr>
        <p:txBody>
          <a:bodyPr wrap="square" anchor="t" lIns="0" rIns="0" tIns="0" bIns="0">
            <a:spAutoFit/>
          </a:bodyPr>
          <a:lstStyle/>
          <a:p>
            <a:pPr algn="l">
              <a:lnSpc>
                <a:spcPct val="128000"/>
              </a:lnSpc>
            </a:pPr>
            <a:r>
              <a:rPr sz="2200" b="1" i="0">
                <a:solidFill>
                  <a:srgbClr val="2A2724"/>
                </a:solidFill>
                <a:latin typeface="Yu Gothic"/>
              </a:rPr>
              <a:t>現在実現している範囲と、本番導入に向けて確定する範囲</a:t>
            </a:r>
          </a:p>
        </p:txBody>
      </p:sp>
      <p:sp>
        <p:nvSpPr>
          <p:cNvPr id="5" name="TextBox 4"/>
          <p:cNvSpPr txBox="1"/>
          <p:nvPr/>
        </p:nvSpPr>
        <p:spPr>
          <a:xfrm>
            <a:off x="502920" y="1115568"/>
            <a:ext cx="11185855" cy="365760"/>
          </a:xfrm>
          <a:prstGeom prst="rect">
            <a:avLst/>
          </a:prstGeom>
          <a:noFill/>
        </p:spPr>
        <p:txBody>
          <a:bodyPr wrap="square" anchor="t" lIns="0" rIns="0" tIns="0" bIns="0">
            <a:spAutoFit/>
          </a:bodyPr>
          <a:lstStyle/>
          <a:p>
            <a:pPr algn="l">
              <a:lnSpc>
                <a:spcPct val="128000"/>
              </a:lnSpc>
            </a:pPr>
            <a:r>
              <a:rPr sz="1300" b="0" i="0">
                <a:solidFill>
                  <a:srgbClr val="6B655D"/>
                </a:solidFill>
                <a:latin typeface="Yu Gothic"/>
              </a:rPr>
              <a:t>ここまでの画面は、実際に動作している検証環境（PoC）のものです。本番でご利用いただくには、以下の整理のとおり確認・接続が必要な範囲があります。</a:t>
            </a:r>
          </a:p>
        </p:txBody>
      </p:sp>
      <p:cxnSp>
        <p:nvCxnSpPr>
          <p:cNvPr id="6" name="Connector 5"/>
          <p:cNvCxnSpPr/>
          <p:nvPr/>
        </p:nvCxnSpPr>
        <p:spPr>
          <a:xfrm>
            <a:off x="502920" y="1609343"/>
            <a:ext cx="11185855" cy="0"/>
          </a:xfrm>
          <a:prstGeom prst="line">
            <a:avLst/>
          </a:prstGeom>
          <a:ln w="12700">
            <a:solidFill>
              <a:srgbClr val="E4DED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1828800"/>
            <a:ext cx="5486400" cy="274320"/>
          </a:xfrm>
          <a:prstGeom prst="rect">
            <a:avLst/>
          </a:prstGeom>
          <a:noFill/>
        </p:spPr>
        <p:txBody>
          <a:bodyPr wrap="square" anchor="t" lIns="0" rIns="0" tIns="0" bIns="0">
            <a:spAutoFit/>
          </a:bodyPr>
          <a:lstStyle/>
          <a:p>
            <a:pPr algn="l">
              <a:lnSpc>
                <a:spcPct val="128000"/>
              </a:lnSpc>
            </a:pPr>
            <a:r>
              <a:rPr sz="1350" b="1" i="0">
                <a:solidFill>
                  <a:srgbClr val="2A2724"/>
                </a:solidFill>
                <a:latin typeface="Yu Gothic"/>
              </a:rPr>
              <a:t>実際に動作している範囲</a:t>
            </a:r>
          </a:p>
        </p:txBody>
      </p:sp>
      <p:sp>
        <p:nvSpPr>
          <p:cNvPr id="8" name="Oval 7"/>
          <p:cNvSpPr/>
          <p:nvPr/>
        </p:nvSpPr>
        <p:spPr>
          <a:xfrm>
            <a:off x="502920" y="2144268"/>
            <a:ext cx="137160" cy="137160"/>
          </a:xfrm>
          <a:prstGeom prst="ellipse">
            <a:avLst/>
          </a:prstGeom>
          <a:solidFill>
            <a:srgbClr val="F3DC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2121408"/>
            <a:ext cx="137160" cy="137160"/>
          </a:xfrm>
          <a:prstGeom prst="rect">
            <a:avLst/>
          </a:prstGeom>
          <a:noFill/>
        </p:spPr>
        <p:txBody>
          <a:bodyPr wrap="square" anchor="ctr" lIns="0" rIns="0" tIns="0" bIns="0">
            <a:spAutoFit/>
          </a:bodyPr>
          <a:lstStyle/>
          <a:p>
            <a:pPr algn="ctr">
              <a:lnSpc>
                <a:spcPct val="128000"/>
              </a:lnSpc>
            </a:pPr>
            <a:r>
              <a:rPr sz="850" b="1" i="0">
                <a:solidFill>
                  <a:srgbClr val="A85A1F"/>
                </a:solidFill>
                <a:latin typeface="Yu Gothic"/>
              </a:rPr>
              <a:t>✓</a:t>
            </a:r>
          </a:p>
        </p:txBody>
      </p:sp>
      <p:sp>
        <p:nvSpPr>
          <p:cNvPr id="10" name="TextBox 9"/>
          <p:cNvSpPr txBox="1"/>
          <p:nvPr/>
        </p:nvSpPr>
        <p:spPr>
          <a:xfrm>
            <a:off x="713232" y="2103120"/>
            <a:ext cx="5199735" cy="246888"/>
          </a:xfrm>
          <a:prstGeom prst="rect">
            <a:avLst/>
          </a:prstGeom>
          <a:noFill/>
        </p:spPr>
        <p:txBody>
          <a:bodyPr wrap="square" anchor="t" lIns="0" rIns="0" tIns="0" bIns="0">
            <a:spAutoFit/>
          </a:bodyPr>
          <a:lstStyle/>
          <a:p>
            <a:pPr algn="l">
              <a:lnSpc>
                <a:spcPct val="128000"/>
              </a:lnSpc>
            </a:pPr>
            <a:r>
              <a:rPr sz="1100" b="0" i="0">
                <a:solidFill>
                  <a:srgbClr val="2A2724"/>
                </a:solidFill>
                <a:latin typeface="Yu Gothic"/>
              </a:rPr>
              <a:t>G-SYSの在庫・発注実績データの参照</a:t>
            </a:r>
          </a:p>
        </p:txBody>
      </p:sp>
      <p:sp>
        <p:nvSpPr>
          <p:cNvPr id="11" name="Oval 10"/>
          <p:cNvSpPr/>
          <p:nvPr/>
        </p:nvSpPr>
        <p:spPr>
          <a:xfrm>
            <a:off x="502920" y="2409444"/>
            <a:ext cx="137160" cy="137160"/>
          </a:xfrm>
          <a:prstGeom prst="ellipse">
            <a:avLst/>
          </a:prstGeom>
          <a:solidFill>
            <a:srgbClr val="F3DC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2386584"/>
            <a:ext cx="137160" cy="137160"/>
          </a:xfrm>
          <a:prstGeom prst="rect">
            <a:avLst/>
          </a:prstGeom>
          <a:noFill/>
        </p:spPr>
        <p:txBody>
          <a:bodyPr wrap="square" anchor="ctr" lIns="0" rIns="0" tIns="0" bIns="0">
            <a:spAutoFit/>
          </a:bodyPr>
          <a:lstStyle/>
          <a:p>
            <a:pPr algn="ctr">
              <a:lnSpc>
                <a:spcPct val="128000"/>
              </a:lnSpc>
            </a:pPr>
            <a:r>
              <a:rPr sz="850" b="1" i="0">
                <a:solidFill>
                  <a:srgbClr val="A85A1F"/>
                </a:solidFill>
                <a:latin typeface="Yu Gothic"/>
              </a:rPr>
              <a:t>✓</a:t>
            </a:r>
          </a:p>
        </p:txBody>
      </p:sp>
      <p:sp>
        <p:nvSpPr>
          <p:cNvPr id="13" name="TextBox 12"/>
          <p:cNvSpPr txBox="1"/>
          <p:nvPr/>
        </p:nvSpPr>
        <p:spPr>
          <a:xfrm>
            <a:off x="713232" y="2368296"/>
            <a:ext cx="5199735" cy="246888"/>
          </a:xfrm>
          <a:prstGeom prst="rect">
            <a:avLst/>
          </a:prstGeom>
          <a:noFill/>
        </p:spPr>
        <p:txBody>
          <a:bodyPr wrap="square" anchor="t" lIns="0" rIns="0" tIns="0" bIns="0">
            <a:spAutoFit/>
          </a:bodyPr>
          <a:lstStyle/>
          <a:p>
            <a:pPr algn="l">
              <a:lnSpc>
                <a:spcPct val="128000"/>
              </a:lnSpc>
            </a:pPr>
            <a:r>
              <a:rPr sz="1100" b="0" i="0">
                <a:solidFill>
                  <a:srgbClr val="2A2724"/>
                </a:solidFill>
                <a:latin typeface="Yu Gothic"/>
              </a:rPr>
              <a:t>発注判断ロジック（推奨発注数量）の活用</a:t>
            </a:r>
          </a:p>
        </p:txBody>
      </p:sp>
      <p:sp>
        <p:nvSpPr>
          <p:cNvPr id="14" name="Oval 13"/>
          <p:cNvSpPr/>
          <p:nvPr/>
        </p:nvSpPr>
        <p:spPr>
          <a:xfrm>
            <a:off x="502920" y="2674620"/>
            <a:ext cx="137160" cy="137160"/>
          </a:xfrm>
          <a:prstGeom prst="ellipse">
            <a:avLst/>
          </a:prstGeom>
          <a:solidFill>
            <a:srgbClr val="F3DC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2651760"/>
            <a:ext cx="137160" cy="137160"/>
          </a:xfrm>
          <a:prstGeom prst="rect">
            <a:avLst/>
          </a:prstGeom>
          <a:noFill/>
        </p:spPr>
        <p:txBody>
          <a:bodyPr wrap="square" anchor="ctr" lIns="0" rIns="0" tIns="0" bIns="0">
            <a:spAutoFit/>
          </a:bodyPr>
          <a:lstStyle/>
          <a:p>
            <a:pPr algn="ctr">
              <a:lnSpc>
                <a:spcPct val="128000"/>
              </a:lnSpc>
            </a:pPr>
            <a:r>
              <a:rPr sz="850" b="1" i="0">
                <a:solidFill>
                  <a:srgbClr val="A85A1F"/>
                </a:solidFill>
                <a:latin typeface="Yu Gothic"/>
              </a:rPr>
              <a:t>✓</a:t>
            </a:r>
          </a:p>
        </p:txBody>
      </p:sp>
      <p:sp>
        <p:nvSpPr>
          <p:cNvPr id="16" name="TextBox 15"/>
          <p:cNvSpPr txBox="1"/>
          <p:nvPr/>
        </p:nvSpPr>
        <p:spPr>
          <a:xfrm>
            <a:off x="713232" y="2633472"/>
            <a:ext cx="5199735" cy="246888"/>
          </a:xfrm>
          <a:prstGeom prst="rect">
            <a:avLst/>
          </a:prstGeom>
          <a:noFill/>
        </p:spPr>
        <p:txBody>
          <a:bodyPr wrap="square" anchor="t" lIns="0" rIns="0" tIns="0" bIns="0">
            <a:spAutoFit/>
          </a:bodyPr>
          <a:lstStyle/>
          <a:p>
            <a:pPr algn="l">
              <a:lnSpc>
                <a:spcPct val="128000"/>
              </a:lnSpc>
            </a:pPr>
            <a:r>
              <a:rPr sz="1100" b="0" i="0">
                <a:solidFill>
                  <a:srgbClr val="2A2724"/>
                </a:solidFill>
                <a:latin typeface="Yu Gothic"/>
              </a:rPr>
              <a:t>発注候補確認〜ドラフト〜PO プレビュー〜承認</a:t>
            </a:r>
          </a:p>
        </p:txBody>
      </p:sp>
      <p:sp>
        <p:nvSpPr>
          <p:cNvPr id="17" name="Oval 16"/>
          <p:cNvSpPr/>
          <p:nvPr/>
        </p:nvSpPr>
        <p:spPr>
          <a:xfrm>
            <a:off x="502920" y="2939795"/>
            <a:ext cx="137160" cy="137160"/>
          </a:xfrm>
          <a:prstGeom prst="ellipse">
            <a:avLst/>
          </a:prstGeom>
          <a:solidFill>
            <a:srgbClr val="F3DC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2916935"/>
            <a:ext cx="137160" cy="137160"/>
          </a:xfrm>
          <a:prstGeom prst="rect">
            <a:avLst/>
          </a:prstGeom>
          <a:noFill/>
        </p:spPr>
        <p:txBody>
          <a:bodyPr wrap="square" anchor="ctr" lIns="0" rIns="0" tIns="0" bIns="0">
            <a:spAutoFit/>
          </a:bodyPr>
          <a:lstStyle/>
          <a:p>
            <a:pPr algn="ctr">
              <a:lnSpc>
                <a:spcPct val="128000"/>
              </a:lnSpc>
            </a:pPr>
            <a:r>
              <a:rPr sz="850" b="1" i="0">
                <a:solidFill>
                  <a:srgbClr val="A85A1F"/>
                </a:solidFill>
                <a:latin typeface="Yu Gothic"/>
              </a:rPr>
              <a:t>✓</a:t>
            </a:r>
          </a:p>
        </p:txBody>
      </p:sp>
      <p:sp>
        <p:nvSpPr>
          <p:cNvPr id="19" name="TextBox 18"/>
          <p:cNvSpPr txBox="1"/>
          <p:nvPr/>
        </p:nvSpPr>
        <p:spPr>
          <a:xfrm>
            <a:off x="713232" y="2898647"/>
            <a:ext cx="5199735" cy="246888"/>
          </a:xfrm>
          <a:prstGeom prst="rect">
            <a:avLst/>
          </a:prstGeom>
          <a:noFill/>
        </p:spPr>
        <p:txBody>
          <a:bodyPr wrap="square" anchor="t" lIns="0" rIns="0" tIns="0" bIns="0">
            <a:spAutoFit/>
          </a:bodyPr>
          <a:lstStyle/>
          <a:p>
            <a:pPr algn="l">
              <a:lnSpc>
                <a:spcPct val="128000"/>
              </a:lnSpc>
            </a:pPr>
            <a:r>
              <a:rPr sz="1100" b="0" i="0">
                <a:solidFill>
                  <a:srgbClr val="2A2724"/>
                </a:solidFill>
                <a:latin typeface="Yu Gothic"/>
              </a:rPr>
              <a:t>メーカーへの送付内容の確認</a:t>
            </a:r>
          </a:p>
        </p:txBody>
      </p:sp>
      <p:sp>
        <p:nvSpPr>
          <p:cNvPr id="20" name="Oval 19"/>
          <p:cNvSpPr/>
          <p:nvPr/>
        </p:nvSpPr>
        <p:spPr>
          <a:xfrm>
            <a:off x="6278727" y="2144268"/>
            <a:ext cx="137160" cy="137160"/>
          </a:xfrm>
          <a:prstGeom prst="ellipse">
            <a:avLst/>
          </a:prstGeom>
          <a:solidFill>
            <a:srgbClr val="F3DC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78727" y="2121408"/>
            <a:ext cx="137160" cy="137160"/>
          </a:xfrm>
          <a:prstGeom prst="rect">
            <a:avLst/>
          </a:prstGeom>
          <a:noFill/>
        </p:spPr>
        <p:txBody>
          <a:bodyPr wrap="square" anchor="ctr" lIns="0" rIns="0" tIns="0" bIns="0">
            <a:spAutoFit/>
          </a:bodyPr>
          <a:lstStyle/>
          <a:p>
            <a:pPr algn="ctr">
              <a:lnSpc>
                <a:spcPct val="128000"/>
              </a:lnSpc>
            </a:pPr>
            <a:r>
              <a:rPr sz="850" b="1" i="0">
                <a:solidFill>
                  <a:srgbClr val="A85A1F"/>
                </a:solidFill>
                <a:latin typeface="Yu Gothic"/>
              </a:rPr>
              <a:t>✓</a:t>
            </a:r>
          </a:p>
        </p:txBody>
      </p:sp>
      <p:sp>
        <p:nvSpPr>
          <p:cNvPr id="22" name="TextBox 21"/>
          <p:cNvSpPr txBox="1"/>
          <p:nvPr/>
        </p:nvSpPr>
        <p:spPr>
          <a:xfrm>
            <a:off x="6489039" y="2103120"/>
            <a:ext cx="5199735" cy="246888"/>
          </a:xfrm>
          <a:prstGeom prst="rect">
            <a:avLst/>
          </a:prstGeom>
          <a:noFill/>
        </p:spPr>
        <p:txBody>
          <a:bodyPr wrap="square" anchor="t" lIns="0" rIns="0" tIns="0" bIns="0">
            <a:spAutoFit/>
          </a:bodyPr>
          <a:lstStyle/>
          <a:p>
            <a:pPr algn="l">
              <a:lnSpc>
                <a:spcPct val="128000"/>
              </a:lnSpc>
            </a:pPr>
            <a:r>
              <a:rPr sz="1100" b="0" i="0">
                <a:solidFill>
                  <a:srgbClr val="2A2724"/>
                </a:solidFill>
                <a:latin typeface="Yu Gothic"/>
              </a:rPr>
              <a:t>メーカー回答の記録・差異の可視化・合意／修正版作成</a:t>
            </a:r>
          </a:p>
        </p:txBody>
      </p:sp>
      <p:sp>
        <p:nvSpPr>
          <p:cNvPr id="23" name="Oval 22"/>
          <p:cNvSpPr/>
          <p:nvPr/>
        </p:nvSpPr>
        <p:spPr>
          <a:xfrm>
            <a:off x="6278727" y="2409444"/>
            <a:ext cx="137160" cy="137160"/>
          </a:xfrm>
          <a:prstGeom prst="ellipse">
            <a:avLst/>
          </a:prstGeom>
          <a:solidFill>
            <a:srgbClr val="F3DC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78727" y="2386584"/>
            <a:ext cx="137160" cy="137160"/>
          </a:xfrm>
          <a:prstGeom prst="rect">
            <a:avLst/>
          </a:prstGeom>
          <a:noFill/>
        </p:spPr>
        <p:txBody>
          <a:bodyPr wrap="square" anchor="ctr" lIns="0" rIns="0" tIns="0" bIns="0">
            <a:spAutoFit/>
          </a:bodyPr>
          <a:lstStyle/>
          <a:p>
            <a:pPr algn="ctr">
              <a:lnSpc>
                <a:spcPct val="128000"/>
              </a:lnSpc>
            </a:pPr>
            <a:r>
              <a:rPr sz="850" b="1" i="0">
                <a:solidFill>
                  <a:srgbClr val="A85A1F"/>
                </a:solidFill>
                <a:latin typeface="Yu Gothic"/>
              </a:rPr>
              <a:t>✓</a:t>
            </a:r>
          </a:p>
        </p:txBody>
      </p:sp>
      <p:sp>
        <p:nvSpPr>
          <p:cNvPr id="25" name="TextBox 24"/>
          <p:cNvSpPr txBox="1"/>
          <p:nvPr/>
        </p:nvSpPr>
        <p:spPr>
          <a:xfrm>
            <a:off x="6489039" y="2368296"/>
            <a:ext cx="5199735" cy="246888"/>
          </a:xfrm>
          <a:prstGeom prst="rect">
            <a:avLst/>
          </a:prstGeom>
          <a:noFill/>
        </p:spPr>
        <p:txBody>
          <a:bodyPr wrap="square" anchor="t" lIns="0" rIns="0" tIns="0" bIns="0">
            <a:spAutoFit/>
          </a:bodyPr>
          <a:lstStyle/>
          <a:p>
            <a:pPr algn="l">
              <a:lnSpc>
                <a:spcPct val="128000"/>
              </a:lnSpc>
            </a:pPr>
            <a:r>
              <a:rPr sz="1100" b="0" i="0">
                <a:solidFill>
                  <a:srgbClr val="2A2724"/>
                </a:solidFill>
                <a:latin typeface="Yu Gothic"/>
              </a:rPr>
              <a:t>入荷状況・倉庫在庫・在庫販売状況の参照</a:t>
            </a:r>
          </a:p>
        </p:txBody>
      </p:sp>
      <p:sp>
        <p:nvSpPr>
          <p:cNvPr id="26" name="Oval 25"/>
          <p:cNvSpPr/>
          <p:nvPr/>
        </p:nvSpPr>
        <p:spPr>
          <a:xfrm>
            <a:off x="6278727" y="2674620"/>
            <a:ext cx="137160" cy="137160"/>
          </a:xfrm>
          <a:prstGeom prst="ellipse">
            <a:avLst/>
          </a:prstGeom>
          <a:solidFill>
            <a:srgbClr val="F3DC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78727" y="2651760"/>
            <a:ext cx="137160" cy="137160"/>
          </a:xfrm>
          <a:prstGeom prst="rect">
            <a:avLst/>
          </a:prstGeom>
          <a:noFill/>
        </p:spPr>
        <p:txBody>
          <a:bodyPr wrap="square" anchor="ctr" lIns="0" rIns="0" tIns="0" bIns="0">
            <a:spAutoFit/>
          </a:bodyPr>
          <a:lstStyle/>
          <a:p>
            <a:pPr algn="ctr">
              <a:lnSpc>
                <a:spcPct val="128000"/>
              </a:lnSpc>
            </a:pPr>
            <a:r>
              <a:rPr sz="850" b="1" i="0">
                <a:solidFill>
                  <a:srgbClr val="A85A1F"/>
                </a:solidFill>
                <a:latin typeface="Yu Gothic"/>
              </a:rPr>
              <a:t>✓</a:t>
            </a:r>
          </a:p>
        </p:txBody>
      </p:sp>
      <p:sp>
        <p:nvSpPr>
          <p:cNvPr id="28" name="TextBox 27"/>
          <p:cNvSpPr txBox="1"/>
          <p:nvPr/>
        </p:nvSpPr>
        <p:spPr>
          <a:xfrm>
            <a:off x="6489039" y="2633472"/>
            <a:ext cx="5199735" cy="246888"/>
          </a:xfrm>
          <a:prstGeom prst="rect">
            <a:avLst/>
          </a:prstGeom>
          <a:noFill/>
        </p:spPr>
        <p:txBody>
          <a:bodyPr wrap="square" anchor="t" lIns="0" rIns="0" tIns="0" bIns="0">
            <a:spAutoFit/>
          </a:bodyPr>
          <a:lstStyle/>
          <a:p>
            <a:pPr algn="l">
              <a:lnSpc>
                <a:spcPct val="128000"/>
              </a:lnSpc>
            </a:pPr>
            <a:r>
              <a:rPr sz="1100" b="0" i="0">
                <a:solidFill>
                  <a:srgbClr val="2A2724"/>
                </a:solidFill>
                <a:latin typeface="Yu Gothic"/>
              </a:rPr>
              <a:t>すべての操作の履歴記録（監査証跡）</a:t>
            </a:r>
          </a:p>
        </p:txBody>
      </p:sp>
      <p:sp>
        <p:nvSpPr>
          <p:cNvPr id="29" name="Oval 28"/>
          <p:cNvSpPr/>
          <p:nvPr/>
        </p:nvSpPr>
        <p:spPr>
          <a:xfrm>
            <a:off x="6278727" y="2939795"/>
            <a:ext cx="137160" cy="137160"/>
          </a:xfrm>
          <a:prstGeom prst="ellipse">
            <a:avLst/>
          </a:prstGeom>
          <a:solidFill>
            <a:srgbClr val="F3DC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78727" y="2916935"/>
            <a:ext cx="137160" cy="137160"/>
          </a:xfrm>
          <a:prstGeom prst="rect">
            <a:avLst/>
          </a:prstGeom>
          <a:noFill/>
        </p:spPr>
        <p:txBody>
          <a:bodyPr wrap="square" anchor="ctr" lIns="0" rIns="0" tIns="0" bIns="0">
            <a:spAutoFit/>
          </a:bodyPr>
          <a:lstStyle/>
          <a:p>
            <a:pPr algn="ctr">
              <a:lnSpc>
                <a:spcPct val="128000"/>
              </a:lnSpc>
            </a:pPr>
            <a:r>
              <a:rPr sz="850" b="1" i="0">
                <a:solidFill>
                  <a:srgbClr val="A85A1F"/>
                </a:solidFill>
                <a:latin typeface="Yu Gothic"/>
              </a:rPr>
              <a:t>✓</a:t>
            </a:r>
          </a:p>
        </p:txBody>
      </p:sp>
      <p:sp>
        <p:nvSpPr>
          <p:cNvPr id="31" name="TextBox 30"/>
          <p:cNvSpPr txBox="1"/>
          <p:nvPr/>
        </p:nvSpPr>
        <p:spPr>
          <a:xfrm>
            <a:off x="6489039" y="2898647"/>
            <a:ext cx="5199735" cy="246888"/>
          </a:xfrm>
          <a:prstGeom prst="rect">
            <a:avLst/>
          </a:prstGeom>
          <a:noFill/>
        </p:spPr>
        <p:txBody>
          <a:bodyPr wrap="square" anchor="t" lIns="0" rIns="0" tIns="0" bIns="0">
            <a:spAutoFit/>
          </a:bodyPr>
          <a:lstStyle/>
          <a:p>
            <a:pPr algn="l">
              <a:lnSpc>
                <a:spcPct val="128000"/>
              </a:lnSpc>
            </a:pPr>
            <a:r>
              <a:rPr sz="1100" b="0" i="0">
                <a:solidFill>
                  <a:srgbClr val="2A2724"/>
                </a:solidFill>
                <a:latin typeface="Yu Gothic"/>
              </a:rPr>
              <a:t>価格変更案の作成とシミュレーション</a:t>
            </a:r>
          </a:p>
        </p:txBody>
      </p:sp>
      <p:sp>
        <p:nvSpPr>
          <p:cNvPr id="32" name="TextBox 31"/>
          <p:cNvSpPr txBox="1"/>
          <p:nvPr/>
        </p:nvSpPr>
        <p:spPr>
          <a:xfrm>
            <a:off x="502920" y="3310127"/>
            <a:ext cx="7315200" cy="237744"/>
          </a:xfrm>
          <a:prstGeom prst="rect">
            <a:avLst/>
          </a:prstGeom>
          <a:noFill/>
        </p:spPr>
        <p:txBody>
          <a:bodyPr wrap="square" anchor="t" lIns="0" rIns="0" tIns="0" bIns="0">
            <a:spAutoFit/>
          </a:bodyPr>
          <a:lstStyle/>
          <a:p>
            <a:pPr algn="l">
              <a:lnSpc>
                <a:spcPct val="128000"/>
              </a:lnSpc>
            </a:pPr>
            <a:r>
              <a:rPr sz="1350" b="1" i="0">
                <a:solidFill>
                  <a:srgbClr val="2A2724"/>
                </a:solidFill>
                <a:latin typeface="Yu Gothic"/>
              </a:rPr>
              <a:t>本番導入に向けて、確認・接続が必要な範囲</a:t>
            </a:r>
          </a:p>
        </p:txBody>
      </p:sp>
      <p:graphicFrame>
        <p:nvGraphicFramePr>
          <p:cNvPr id="33" name="Table 32"/>
          <p:cNvGraphicFramePr>
            <a:graphicFrameLocks noGrp="1"/>
          </p:cNvGraphicFramePr>
          <p:nvPr/>
        </p:nvGraphicFramePr>
        <p:xfrm>
          <a:off x="502920" y="3584447"/>
          <a:ext cx="11185854" cy="2610612"/>
        </p:xfrm>
        <a:graphic>
          <a:graphicData uri="http://schemas.openxmlformats.org/drawingml/2006/table">
            <a:tbl>
              <a:tblPr>
                <a:tableStyleId>{5C22544A-7EE6-4342-B048-85BDC9FD1C3A}</a:tableStyleId>
              </a:tblPr>
              <a:tblGrid>
                <a:gridCol w="3579473"/>
                <a:gridCol w="4474342"/>
                <a:gridCol w="3132039"/>
              </a:tblGrid>
              <a:tr h="274320">
                <a:tc>
                  <a:txBody>
                    <a:bodyPr/>
                    <a:lstStyle/>
                    <a:p>
                      <a:r>
                        <a:rPr sz="1000" b="1">
                          <a:solidFill>
                            <a:srgbClr val="9A938A"/>
                          </a:solidFill>
                          <a:latin typeface="Yu Gothic"/>
                        </a:rPr>
                        <a:t>項目</a:t>
                      </a:r>
                    </a:p>
                  </a:txBody>
                  <a:tcPr marT="25400" marB="25400" marL="76200" anchor="ctr">
                    <a:solidFill>
                      <a:srgbClr val="FFFFFF"/>
                    </a:solidFill>
                  </a:tcPr>
                </a:tc>
                <a:tc>
                  <a:txBody>
                    <a:bodyPr/>
                    <a:lstStyle/>
                    <a:p>
                      <a:r>
                        <a:rPr sz="1000" b="1">
                          <a:solidFill>
                            <a:srgbClr val="9A938A"/>
                          </a:solidFill>
                          <a:latin typeface="Yu Gothic"/>
                        </a:rPr>
                        <a:t>現状</a:t>
                      </a:r>
                    </a:p>
                  </a:txBody>
                  <a:tcPr marT="25400" marB="25400" marL="76200" anchor="ctr">
                    <a:solidFill>
                      <a:srgbClr val="FFFFFF"/>
                    </a:solidFill>
                  </a:tcPr>
                </a:tc>
                <a:tc>
                  <a:txBody>
                    <a:bodyPr/>
                    <a:lstStyle/>
                    <a:p>
                      <a:r>
                        <a:rPr sz="1000" b="1">
                          <a:solidFill>
                            <a:srgbClr val="9A938A"/>
                          </a:solidFill>
                          <a:latin typeface="Yu Gothic"/>
                        </a:rPr>
                        <a:t>対応方針</a:t>
                      </a:r>
                    </a:p>
                  </a:txBody>
                  <a:tcPr marT="25400" marB="25400" marL="76200" anchor="ctr">
                    <a:solidFill>
                      <a:srgbClr val="FFFFFF"/>
                    </a:solidFill>
                  </a:tcPr>
                </a:tc>
              </a:tr>
              <a:tr h="333756">
                <a:tc>
                  <a:txBody>
                    <a:bodyPr wrap="square"/>
                    <a:lstStyle/>
                    <a:p>
                      <a:r>
                        <a:rPr sz="1050" b="0">
                          <a:solidFill>
                            <a:srgbClr val="2A2724"/>
                          </a:solidFill>
                          <a:latin typeface="Yu Gothic"/>
                        </a:rPr>
                        <a:t>正式な発注番号のG-SYS登録</a:t>
                      </a:r>
                    </a:p>
                  </a:txBody>
                  <a:tcPr marT="25400" marB="25400" marL="76200" anchor="ctr">
                    <a:solidFill>
                      <a:srgbClr val="FFFFFF"/>
                    </a:solidFill>
                  </a:tcPr>
                </a:tc>
                <a:tc>
                  <a:txBody>
                    <a:bodyPr wrap="square"/>
                    <a:lstStyle/>
                    <a:p>
                      <a:r>
                        <a:rPr sz="1050" b="0">
                          <a:solidFill>
                            <a:srgbClr val="2A2724"/>
                          </a:solidFill>
                          <a:latin typeface="Yu Gothic"/>
                        </a:rPr>
                        <a:t>整合確認までを提供</a:t>
                      </a:r>
                    </a:p>
                  </a:txBody>
                  <a:tcPr marT="25400" marB="25400" marL="76200" anchor="ctr">
                    <a:solidFill>
                      <a:srgbClr val="FFFFFF"/>
                    </a:solidFill>
                  </a:tcPr>
                </a:tc>
                <a:tc>
                  <a:txBody>
                    <a:bodyPr wrap="square"/>
                    <a:lstStyle/>
                    <a:p>
                      <a:r>
                        <a:rPr sz="1050" b="1">
                          <a:solidFill>
                            <a:srgbClr val="A85A1F"/>
                          </a:solidFill>
                          <a:latin typeface="Yu Gothic"/>
                        </a:rPr>
                        <a:t>本番接続時に実装</a:t>
                      </a:r>
                    </a:p>
                  </a:txBody>
                  <a:tcPr marT="25400" marB="25400" marL="76200" anchor="ctr">
                    <a:solidFill>
                      <a:srgbClr val="FFFFFF"/>
                    </a:solidFill>
                  </a:tcPr>
                </a:tc>
              </a:tr>
              <a:tr h="333756">
                <a:tc>
                  <a:txBody>
                    <a:bodyPr wrap="square"/>
                    <a:lstStyle/>
                    <a:p>
                      <a:r>
                        <a:rPr sz="1050" b="0">
                          <a:solidFill>
                            <a:srgbClr val="2A2724"/>
                          </a:solidFill>
                          <a:latin typeface="Yu Gothic"/>
                        </a:rPr>
                        <a:t>メーカーへの実際のメール送信</a:t>
                      </a:r>
                    </a:p>
                  </a:txBody>
                  <a:tcPr marT="25400" marB="25400" marL="76200" anchor="ctr">
                    <a:solidFill>
                      <a:srgbClr val="FFFFFF"/>
                    </a:solidFill>
                  </a:tcPr>
                </a:tc>
                <a:tc>
                  <a:txBody>
                    <a:bodyPr wrap="square"/>
                    <a:lstStyle/>
                    <a:p>
                      <a:r>
                        <a:rPr sz="1050" b="0">
                          <a:solidFill>
                            <a:srgbClr val="2A2724"/>
                          </a:solidFill>
                          <a:latin typeface="Yu Gothic"/>
                        </a:rPr>
                        <a:t>送付内容の確認までを提供</a:t>
                      </a:r>
                    </a:p>
                  </a:txBody>
                  <a:tcPr marT="25400" marB="25400" marL="76200" anchor="ctr">
                    <a:solidFill>
                      <a:srgbClr val="FFFFFF"/>
                    </a:solidFill>
                  </a:tcPr>
                </a:tc>
                <a:tc>
                  <a:txBody>
                    <a:bodyPr wrap="square"/>
                    <a:lstStyle/>
                    <a:p>
                      <a:r>
                        <a:rPr sz="1050" b="1">
                          <a:solidFill>
                            <a:srgbClr val="A85A1F"/>
                          </a:solidFill>
                          <a:latin typeface="Yu Gothic"/>
                        </a:rPr>
                        <a:t>本番接続時に実装</a:t>
                      </a:r>
                    </a:p>
                  </a:txBody>
                  <a:tcPr marT="25400" marB="25400" marL="76200" anchor="ctr">
                    <a:solidFill>
                      <a:srgbClr val="FFFFFF"/>
                    </a:solidFill>
                  </a:tcPr>
                </a:tc>
              </a:tr>
              <a:tr h="333756">
                <a:tc>
                  <a:txBody>
                    <a:bodyPr wrap="square"/>
                    <a:lstStyle/>
                    <a:p>
                      <a:r>
                        <a:rPr sz="1050" b="0">
                          <a:solidFill>
                            <a:srgbClr val="2A2724"/>
                          </a:solidFill>
                          <a:latin typeface="Yu Gothic"/>
                        </a:rPr>
                        <a:t>EDI対応メーカーとの連携</a:t>
                      </a:r>
                    </a:p>
                  </a:txBody>
                  <a:tcPr marT="25400" marB="25400" marL="76200" anchor="ctr">
                    <a:solidFill>
                      <a:srgbClr val="FFFFFF"/>
                    </a:solidFill>
                  </a:tcPr>
                </a:tc>
                <a:tc>
                  <a:txBody>
                    <a:bodyPr wrap="square"/>
                    <a:lstStyle/>
                    <a:p>
                      <a:r>
                        <a:rPr sz="1050" b="0">
                          <a:solidFill>
                            <a:srgbClr val="2A2724"/>
                          </a:solidFill>
                          <a:latin typeface="Yu Gothic"/>
                        </a:rPr>
                        <a:t>未対応</a:t>
                      </a:r>
                    </a:p>
                  </a:txBody>
                  <a:tcPr marT="25400" marB="25400" marL="76200" anchor="ctr">
                    <a:solidFill>
                      <a:srgbClr val="FFFFFF"/>
                    </a:solidFill>
                  </a:tcPr>
                </a:tc>
                <a:tc>
                  <a:txBody>
                    <a:bodyPr wrap="square"/>
                    <a:lstStyle/>
                    <a:p>
                      <a:r>
                        <a:rPr sz="1050" b="1">
                          <a:solidFill>
                            <a:srgbClr val="A85A1F"/>
                          </a:solidFill>
                          <a:latin typeface="Yu Gothic"/>
                        </a:rPr>
                        <a:t>外部仕様確認後に対応</a:t>
                      </a:r>
                    </a:p>
                  </a:txBody>
                  <a:tcPr marT="25400" marB="25400" marL="76200" anchor="ctr">
                    <a:solidFill>
                      <a:srgbClr val="FFFFFF"/>
                    </a:solidFill>
                  </a:tcPr>
                </a:tc>
              </a:tr>
              <a:tr h="333756">
                <a:tc>
                  <a:txBody>
                    <a:bodyPr wrap="square"/>
                    <a:lstStyle/>
                    <a:p>
                      <a:r>
                        <a:rPr sz="1050" b="0">
                          <a:solidFill>
                            <a:srgbClr val="2A2724"/>
                          </a:solidFill>
                          <a:latin typeface="Yu Gothic"/>
                        </a:rPr>
                        <a:t>価格変更内容のG-SYSへの反映</a:t>
                      </a:r>
                    </a:p>
                  </a:txBody>
                  <a:tcPr marT="25400" marB="25400" marL="76200" anchor="ctr">
                    <a:solidFill>
                      <a:srgbClr val="FFFFFF"/>
                    </a:solidFill>
                  </a:tcPr>
                </a:tc>
                <a:tc>
                  <a:txBody>
                    <a:bodyPr wrap="square"/>
                    <a:lstStyle/>
                    <a:p>
                      <a:r>
                        <a:rPr sz="1050" b="0">
                          <a:solidFill>
                            <a:srgbClr val="2A2724"/>
                          </a:solidFill>
                          <a:latin typeface="Yu Gothic"/>
                        </a:rPr>
                        <a:t>シミュレーションまでを提供</a:t>
                      </a:r>
                    </a:p>
                  </a:txBody>
                  <a:tcPr marT="25400" marB="25400" marL="76200" anchor="ctr">
                    <a:solidFill>
                      <a:srgbClr val="FFFFFF"/>
                    </a:solidFill>
                  </a:tcPr>
                </a:tc>
                <a:tc>
                  <a:txBody>
                    <a:bodyPr wrap="square"/>
                    <a:lstStyle/>
                    <a:p>
                      <a:r>
                        <a:rPr sz="1050" b="1">
                          <a:solidFill>
                            <a:srgbClr val="A85A1F"/>
                          </a:solidFill>
                          <a:latin typeface="Yu Gothic"/>
                        </a:rPr>
                        <a:t>現行運用確認後に確定</a:t>
                      </a:r>
                    </a:p>
                  </a:txBody>
                  <a:tcPr marT="25400" marB="25400" marL="76200" anchor="ctr">
                    <a:solidFill>
                      <a:srgbClr val="FFFFFF"/>
                    </a:solidFill>
                  </a:tcPr>
                </a:tc>
              </a:tr>
              <a:tr h="333756">
                <a:tc>
                  <a:txBody>
                    <a:bodyPr wrap="square"/>
                    <a:lstStyle/>
                    <a:p>
                      <a:r>
                        <a:rPr sz="1050" b="0">
                          <a:solidFill>
                            <a:srgbClr val="2A2724"/>
                          </a:solidFill>
                          <a:latin typeface="Yu Gothic"/>
                        </a:rPr>
                        <a:t>Tempostar・Logizeroとの連携</a:t>
                      </a:r>
                    </a:p>
                  </a:txBody>
                  <a:tcPr marT="25400" marB="25400" marL="76200" anchor="ctr">
                    <a:solidFill>
                      <a:srgbClr val="FFFFFF"/>
                    </a:solidFill>
                  </a:tcPr>
                </a:tc>
                <a:tc>
                  <a:txBody>
                    <a:bodyPr wrap="square"/>
                    <a:lstStyle/>
                    <a:p>
                      <a:r>
                        <a:rPr sz="1050" b="0">
                          <a:solidFill>
                            <a:srgbClr val="2A2724"/>
                          </a:solidFill>
                          <a:latin typeface="Yu Gothic"/>
                        </a:rPr>
                        <a:t>Legacy側で自動連携済み（G-OPS未接続）</a:t>
                      </a:r>
                    </a:p>
                  </a:txBody>
                  <a:tcPr marT="25400" marB="25400" marL="76200" anchor="ctr">
                    <a:solidFill>
                      <a:srgbClr val="FFFFFF"/>
                    </a:solidFill>
                  </a:tcPr>
                </a:tc>
                <a:tc>
                  <a:txBody>
                    <a:bodyPr wrap="square"/>
                    <a:lstStyle/>
                    <a:p>
                      <a:r>
                        <a:rPr sz="1050" b="1">
                          <a:solidFill>
                            <a:srgbClr val="A85A1F"/>
                          </a:solidFill>
                          <a:latin typeface="Yu Gothic"/>
                        </a:rPr>
                        <a:t>貴社にてご確認・ご決定</a:t>
                      </a:r>
                    </a:p>
                  </a:txBody>
                  <a:tcPr marT="25400" marB="25400" marL="76200" anchor="ctr">
                    <a:solidFill>
                      <a:srgbClr val="FFFFFF"/>
                    </a:solidFill>
                  </a:tcPr>
                </a:tc>
              </a:tr>
              <a:tr h="333756">
                <a:tc>
                  <a:txBody>
                    <a:bodyPr wrap="square"/>
                    <a:lstStyle/>
                    <a:p>
                      <a:r>
                        <a:rPr sz="1050" b="0">
                          <a:solidFill>
                            <a:srgbClr val="2A2724"/>
                          </a:solidFill>
                          <a:latin typeface="Yu Gothic"/>
                        </a:rPr>
                        <a:t>承認ルール・権限の詳細設計</a:t>
                      </a:r>
                    </a:p>
                  </a:txBody>
                  <a:tcPr marT="25400" marB="25400" marL="76200" anchor="ctr">
                    <a:solidFill>
                      <a:srgbClr val="FFFFFF"/>
                    </a:solidFill>
                  </a:tcPr>
                </a:tc>
                <a:tc>
                  <a:txBody>
                    <a:bodyPr wrap="square"/>
                    <a:lstStyle/>
                    <a:p>
                      <a:r>
                        <a:rPr sz="1050" b="0">
                          <a:solidFill>
                            <a:srgbClr val="2A2724"/>
                          </a:solidFill>
                          <a:latin typeface="Yu Gothic"/>
                        </a:rPr>
                        <a:t>簡易な2段階のみ提供</a:t>
                      </a:r>
                    </a:p>
                  </a:txBody>
                  <a:tcPr marT="25400" marB="25400" marL="76200" anchor="ctr">
                    <a:solidFill>
                      <a:srgbClr val="FFFFFF"/>
                    </a:solidFill>
                  </a:tcPr>
                </a:tc>
                <a:tc>
                  <a:txBody>
                    <a:bodyPr wrap="square"/>
                    <a:lstStyle/>
                    <a:p>
                      <a:r>
                        <a:rPr sz="1050" b="1">
                          <a:solidFill>
                            <a:srgbClr val="A85A1F"/>
                          </a:solidFill>
                          <a:latin typeface="Yu Gothic"/>
                        </a:rPr>
                        <a:t>貴社にてご確認・ご決定</a:t>
                      </a:r>
                    </a:p>
                  </a:txBody>
                  <a:tcPr marT="25400" marB="25400" marL="76200" anchor="ctr">
                    <a:solidFill>
                      <a:srgbClr val="FFFFFF"/>
                    </a:solidFill>
                  </a:tcPr>
                </a:tc>
              </a:tr>
              <a:tr h="333756">
                <a:tc>
                  <a:txBody>
                    <a:bodyPr wrap="square"/>
                    <a:lstStyle/>
                    <a:p>
                      <a:r>
                        <a:rPr sz="1050" b="0">
                          <a:solidFill>
                            <a:srgbClr val="2A2724"/>
                          </a:solidFill>
                          <a:latin typeface="Yu Gothic"/>
                        </a:rPr>
                        <a:t>ユーザーの追加・権限管理機能</a:t>
                      </a:r>
                    </a:p>
                  </a:txBody>
                  <a:tcPr marT="25400" marB="25400" marL="76200" anchor="ctr">
                    <a:solidFill>
                      <a:srgbClr val="FFFFFF"/>
                    </a:solidFill>
                  </a:tcPr>
                </a:tc>
                <a:tc>
                  <a:txBody>
                    <a:bodyPr wrap="square"/>
                    <a:lstStyle/>
                    <a:p>
                      <a:r>
                        <a:rPr sz="1050" b="0">
                          <a:solidFill>
                            <a:srgbClr val="2A2724"/>
                          </a:solidFill>
                          <a:latin typeface="Yu Gothic"/>
                        </a:rPr>
                        <a:t>未対応</a:t>
                      </a:r>
                    </a:p>
                  </a:txBody>
                  <a:tcPr marT="25400" marB="25400" marL="76200" anchor="ctr">
                    <a:solidFill>
                      <a:srgbClr val="FFFFFF"/>
                    </a:solidFill>
                  </a:tcPr>
                </a:tc>
                <a:tc>
                  <a:txBody>
                    <a:bodyPr wrap="square"/>
                    <a:lstStyle/>
                    <a:p>
                      <a:r>
                        <a:rPr sz="1050" b="1">
                          <a:solidFill>
                            <a:srgbClr val="A85A1F"/>
                          </a:solidFill>
                          <a:latin typeface="Yu Gothic"/>
                        </a:rPr>
                        <a:t>Option</a:t>
                      </a:r>
                    </a:p>
                  </a:txBody>
                  <a:tcPr marT="25400" marB="25400" marL="76200" anchor="ctr">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5486400" cy="274320"/>
          </a:xfrm>
          <a:prstGeom prst="rect">
            <a:avLst/>
          </a:prstGeom>
          <a:noFill/>
        </p:spPr>
        <p:txBody>
          <a:bodyPr wrap="square" anchor="t" lIns="0" rIns="0" tIns="0" bIns="0">
            <a:spAutoFit/>
          </a:bodyPr>
          <a:lstStyle/>
          <a:p>
            <a:pPr algn="l">
              <a:lnSpc>
                <a:spcPct val="128000"/>
              </a:lnSpc>
            </a:pPr>
            <a:r>
              <a:rPr sz="1150" b="1" i="0">
                <a:solidFill>
                  <a:srgbClr val="C8722F"/>
                </a:solidFill>
                <a:latin typeface="Yu Gothic"/>
              </a:rPr>
              <a:t>NEXT STEP</a:t>
            </a:r>
          </a:p>
        </p:txBody>
      </p:sp>
      <p:sp>
        <p:nvSpPr>
          <p:cNvPr id="3" name="TextBox 2"/>
          <p:cNvSpPr txBox="1"/>
          <p:nvPr/>
        </p:nvSpPr>
        <p:spPr>
          <a:xfrm>
            <a:off x="9402775" y="384048"/>
            <a:ext cx="2286000" cy="274320"/>
          </a:xfrm>
          <a:prstGeom prst="rect">
            <a:avLst/>
          </a:prstGeom>
          <a:noFill/>
        </p:spPr>
        <p:txBody>
          <a:bodyPr wrap="square" anchor="t" lIns="0" rIns="0" tIns="0" bIns="0">
            <a:spAutoFit/>
          </a:bodyPr>
          <a:lstStyle/>
          <a:p>
            <a:pPr algn="r">
              <a:lnSpc>
                <a:spcPct val="128000"/>
              </a:lnSpc>
            </a:pPr>
            <a:r>
              <a:rPr sz="1050" b="0" i="0">
                <a:solidFill>
                  <a:srgbClr val="9A938A"/>
                </a:solidFill>
                <a:latin typeface="Yu Gothic"/>
              </a:rPr>
              <a:t>12 / 12</a:t>
            </a:r>
          </a:p>
        </p:txBody>
      </p:sp>
      <p:sp>
        <p:nvSpPr>
          <p:cNvPr id="4" name="TextBox 3"/>
          <p:cNvSpPr txBox="1"/>
          <p:nvPr/>
        </p:nvSpPr>
        <p:spPr>
          <a:xfrm>
            <a:off x="502920" y="658368"/>
            <a:ext cx="11185855" cy="548640"/>
          </a:xfrm>
          <a:prstGeom prst="rect">
            <a:avLst/>
          </a:prstGeom>
          <a:noFill/>
        </p:spPr>
        <p:txBody>
          <a:bodyPr wrap="square" anchor="t" lIns="0" rIns="0" tIns="0" bIns="0">
            <a:spAutoFit/>
          </a:bodyPr>
          <a:lstStyle/>
          <a:p>
            <a:pPr algn="l">
              <a:lnSpc>
                <a:spcPct val="128000"/>
              </a:lnSpc>
            </a:pPr>
            <a:r>
              <a:rPr sz="2200" b="1" i="0">
                <a:solidFill>
                  <a:srgbClr val="2A2724"/>
                </a:solidFill>
                <a:latin typeface="Yu Gothic"/>
              </a:rPr>
              <a:t>G-OPSの全体構想と、今後ご確認いただきたいこと</a:t>
            </a:r>
          </a:p>
        </p:txBody>
      </p:sp>
      <p:sp>
        <p:nvSpPr>
          <p:cNvPr id="5" name="TextBox 4"/>
          <p:cNvSpPr txBox="1"/>
          <p:nvPr/>
        </p:nvSpPr>
        <p:spPr>
          <a:xfrm>
            <a:off x="502920" y="1115568"/>
            <a:ext cx="11185855" cy="365760"/>
          </a:xfrm>
          <a:prstGeom prst="rect">
            <a:avLst/>
          </a:prstGeom>
          <a:noFill/>
        </p:spPr>
        <p:txBody>
          <a:bodyPr wrap="square" anchor="t" lIns="0" rIns="0" tIns="0" bIns="0">
            <a:spAutoFit/>
          </a:bodyPr>
          <a:lstStyle/>
          <a:p>
            <a:pPr algn="l">
              <a:lnSpc>
                <a:spcPct val="128000"/>
              </a:lnSpc>
            </a:pPr>
            <a:r>
              <a:rPr sz="1300" b="0" i="0">
                <a:solidFill>
                  <a:srgbClr val="6B655D"/>
                </a:solidFill>
                <a:latin typeface="Yu Gothic"/>
              </a:rPr>
              <a:t>発注だけでなく、G-SYS周辺の業務を段階的に統合していく構想です。</a:t>
            </a:r>
          </a:p>
        </p:txBody>
      </p:sp>
      <p:cxnSp>
        <p:nvCxnSpPr>
          <p:cNvPr id="6" name="Connector 5"/>
          <p:cNvCxnSpPr/>
          <p:nvPr/>
        </p:nvCxnSpPr>
        <p:spPr>
          <a:xfrm>
            <a:off x="502920" y="1609343"/>
            <a:ext cx="11185855" cy="0"/>
          </a:xfrm>
          <a:prstGeom prst="line">
            <a:avLst/>
          </a:prstGeom>
          <a:ln w="12700">
            <a:solidFill>
              <a:srgbClr val="E4DED5"/>
            </a:solidFill>
          </a:ln>
        </p:spPr>
        <p:style>
          <a:lnRef idx="2">
            <a:schemeClr val="accent1"/>
          </a:lnRef>
          <a:fillRef idx="0">
            <a:schemeClr val="accent1"/>
          </a:fillRef>
          <a:effectRef idx="1">
            <a:schemeClr val="accent1"/>
          </a:effectRef>
          <a:fontRef idx="minor">
            <a:schemeClr val="tx1"/>
          </a:fontRef>
        </p:style>
      </p:cxnSp>
      <p:pic>
        <p:nvPicPr>
          <p:cNvPr id="7" name="Picture 6" descr="diagram_b.png"/>
          <p:cNvPicPr>
            <a:picLocks noChangeAspect="1"/>
          </p:cNvPicPr>
          <p:nvPr/>
        </p:nvPicPr>
        <p:blipFill>
          <a:blip r:embed="rId2"/>
          <a:stretch>
            <a:fillRect/>
          </a:stretch>
        </p:blipFill>
        <p:spPr>
          <a:xfrm>
            <a:off x="502920" y="1856231"/>
            <a:ext cx="4846320" cy="2874574"/>
          </a:xfrm>
          <a:prstGeom prst="rect">
            <a:avLst/>
          </a:prstGeom>
        </p:spPr>
      </p:pic>
      <p:sp>
        <p:nvSpPr>
          <p:cNvPr id="8" name="TextBox 7"/>
          <p:cNvSpPr txBox="1"/>
          <p:nvPr/>
        </p:nvSpPr>
        <p:spPr>
          <a:xfrm>
            <a:off x="502920" y="4785670"/>
            <a:ext cx="4846320" cy="457200"/>
          </a:xfrm>
          <a:prstGeom prst="rect">
            <a:avLst/>
          </a:prstGeom>
          <a:noFill/>
        </p:spPr>
        <p:txBody>
          <a:bodyPr wrap="square" anchor="t" lIns="0" rIns="0" tIns="0" bIns="0">
            <a:spAutoFit/>
          </a:bodyPr>
          <a:lstStyle/>
          <a:p>
            <a:pPr algn="l">
              <a:lnSpc>
                <a:spcPct val="125000"/>
              </a:lnSpc>
            </a:pPr>
            <a:r>
              <a:rPr sz="950" b="0" i="0">
                <a:solidFill>
                  <a:srgbClr val="6B655D"/>
                </a:solidFill>
                <a:latin typeface="Yu Gothic"/>
              </a:rPr>
              <a:t>実線＝現在稼働している連携（G-SYSのREAD ONLY参照、</a:t>
            </a:r>
          </a:p>
          <a:p>
            <a:pPr algn="l">
              <a:lnSpc>
                <a:spcPct val="125000"/>
              </a:lnSpc>
            </a:pPr>
            <a:r>
              <a:rPr sz="950" b="0" i="0">
                <a:solidFill>
                  <a:srgbClr val="6B655D"/>
                </a:solidFill>
                <a:latin typeface="Yu Gothic"/>
              </a:rPr>
              <a:t>LegacyのTempostar・Logizero連携）。</a:t>
            </a:r>
          </a:p>
          <a:p>
            <a:pPr algn="l">
              <a:lnSpc>
                <a:spcPct val="125000"/>
              </a:lnSpc>
            </a:pPr>
            <a:r>
              <a:rPr sz="950" b="0" i="0">
                <a:solidFill>
                  <a:srgbClr val="6B655D"/>
                </a:solidFill>
                <a:latin typeface="Yu Gothic"/>
              </a:rPr>
              <a:t>点線＝G-OPSからの今後の連携（メーカーへの実送信、EDI）。</a:t>
            </a:r>
          </a:p>
        </p:txBody>
      </p:sp>
      <p:sp>
        <p:nvSpPr>
          <p:cNvPr id="9" name="TextBox 8"/>
          <p:cNvSpPr txBox="1"/>
          <p:nvPr/>
        </p:nvSpPr>
        <p:spPr>
          <a:xfrm>
            <a:off x="5669279" y="1828800"/>
            <a:ext cx="6019495" cy="274320"/>
          </a:xfrm>
          <a:prstGeom prst="rect">
            <a:avLst/>
          </a:prstGeom>
          <a:noFill/>
        </p:spPr>
        <p:txBody>
          <a:bodyPr wrap="square" anchor="t" lIns="0" rIns="0" tIns="0" bIns="0">
            <a:spAutoFit/>
          </a:bodyPr>
          <a:lstStyle/>
          <a:p>
            <a:pPr algn="l">
              <a:lnSpc>
                <a:spcPct val="128000"/>
              </a:lnSpc>
            </a:pPr>
            <a:r>
              <a:rPr sz="1400" b="1" i="0">
                <a:solidFill>
                  <a:srgbClr val="2A2724"/>
                </a:solidFill>
                <a:latin typeface="Yu Gothic"/>
              </a:rPr>
              <a:t>今後、メールでご確認いただきたいこと</a:t>
            </a:r>
          </a:p>
        </p:txBody>
      </p:sp>
      <p:sp>
        <p:nvSpPr>
          <p:cNvPr id="10" name="TextBox 9"/>
          <p:cNvSpPr txBox="1"/>
          <p:nvPr/>
        </p:nvSpPr>
        <p:spPr>
          <a:xfrm>
            <a:off x="5669279" y="2176272"/>
            <a:ext cx="292608" cy="274320"/>
          </a:xfrm>
          <a:prstGeom prst="rect">
            <a:avLst/>
          </a:prstGeom>
          <a:noFill/>
        </p:spPr>
        <p:txBody>
          <a:bodyPr wrap="square" anchor="t" lIns="0" rIns="0" tIns="0" bIns="0">
            <a:spAutoFit/>
          </a:bodyPr>
          <a:lstStyle/>
          <a:p>
            <a:pPr algn="l">
              <a:lnSpc>
                <a:spcPct val="128000"/>
              </a:lnSpc>
            </a:pPr>
            <a:r>
              <a:rPr sz="1450" b="1" i="0">
                <a:solidFill>
                  <a:srgbClr val="C8722F"/>
                </a:solidFill>
                <a:latin typeface="Yu Gothic"/>
              </a:rPr>
              <a:t>1</a:t>
            </a:r>
          </a:p>
        </p:txBody>
      </p:sp>
      <p:sp>
        <p:nvSpPr>
          <p:cNvPr id="11" name="TextBox 10"/>
          <p:cNvSpPr txBox="1"/>
          <p:nvPr/>
        </p:nvSpPr>
        <p:spPr>
          <a:xfrm>
            <a:off x="5980175" y="2167128"/>
            <a:ext cx="5708599" cy="411480"/>
          </a:xfrm>
          <a:prstGeom prst="rect">
            <a:avLst/>
          </a:prstGeom>
          <a:noFill/>
        </p:spPr>
        <p:txBody>
          <a:bodyPr wrap="square" anchor="t" lIns="0" rIns="0" tIns="0" bIns="0">
            <a:spAutoFit/>
          </a:bodyPr>
          <a:lstStyle/>
          <a:p>
            <a:pPr algn="l">
              <a:lnSpc>
                <a:spcPct val="120000"/>
              </a:lnSpc>
            </a:pPr>
            <a:r>
              <a:rPr sz="1050" b="0" i="0">
                <a:solidFill>
                  <a:srgbClr val="2A2724"/>
                </a:solidFill>
                <a:latin typeface="Yu Gothic"/>
              </a:rPr>
              <a:t>発注承認のルール（承認者・承認単位・</a:t>
            </a:r>
          </a:p>
          <a:p>
            <a:pPr algn="l">
              <a:lnSpc>
                <a:spcPct val="120000"/>
              </a:lnSpc>
            </a:pPr>
            <a:r>
              <a:rPr sz="1050" b="0" i="0">
                <a:solidFill>
                  <a:srgbClr val="2A2724"/>
                </a:solidFill>
                <a:latin typeface="Yu Gothic"/>
              </a:rPr>
              <a:t>差し戻し時の扱い）をどのようにするか</a:t>
            </a:r>
          </a:p>
        </p:txBody>
      </p:sp>
      <p:sp>
        <p:nvSpPr>
          <p:cNvPr id="12" name="TextBox 11"/>
          <p:cNvSpPr txBox="1"/>
          <p:nvPr/>
        </p:nvSpPr>
        <p:spPr>
          <a:xfrm>
            <a:off x="5669279" y="2633472"/>
            <a:ext cx="292608" cy="274320"/>
          </a:xfrm>
          <a:prstGeom prst="rect">
            <a:avLst/>
          </a:prstGeom>
          <a:noFill/>
        </p:spPr>
        <p:txBody>
          <a:bodyPr wrap="square" anchor="t" lIns="0" rIns="0" tIns="0" bIns="0">
            <a:spAutoFit/>
          </a:bodyPr>
          <a:lstStyle/>
          <a:p>
            <a:pPr algn="l">
              <a:lnSpc>
                <a:spcPct val="128000"/>
              </a:lnSpc>
            </a:pPr>
            <a:r>
              <a:rPr sz="1450" b="1" i="0">
                <a:solidFill>
                  <a:srgbClr val="C8722F"/>
                </a:solidFill>
                <a:latin typeface="Yu Gothic"/>
              </a:rPr>
              <a:t>2</a:t>
            </a:r>
          </a:p>
        </p:txBody>
      </p:sp>
      <p:sp>
        <p:nvSpPr>
          <p:cNvPr id="13" name="TextBox 12"/>
          <p:cNvSpPr txBox="1"/>
          <p:nvPr/>
        </p:nvSpPr>
        <p:spPr>
          <a:xfrm>
            <a:off x="5980175" y="2624328"/>
            <a:ext cx="5708599" cy="411480"/>
          </a:xfrm>
          <a:prstGeom prst="rect">
            <a:avLst/>
          </a:prstGeom>
          <a:noFill/>
        </p:spPr>
        <p:txBody>
          <a:bodyPr wrap="square" anchor="t" lIns="0" rIns="0" tIns="0" bIns="0">
            <a:spAutoFit/>
          </a:bodyPr>
          <a:lstStyle/>
          <a:p>
            <a:pPr algn="l">
              <a:lnSpc>
                <a:spcPct val="120000"/>
              </a:lnSpc>
            </a:pPr>
            <a:r>
              <a:rPr sz="1050" b="0" i="0">
                <a:solidFill>
                  <a:srgbClr val="2A2724"/>
                </a:solidFill>
                <a:latin typeface="Yu Gothic"/>
              </a:rPr>
              <a:t>正式な発注番号は現在どなたが・どのような</a:t>
            </a:r>
          </a:p>
          <a:p>
            <a:pPr algn="l">
              <a:lnSpc>
                <a:spcPct val="120000"/>
              </a:lnSpc>
            </a:pPr>
            <a:r>
              <a:rPr sz="1050" b="0" i="0">
                <a:solidFill>
                  <a:srgbClr val="2A2724"/>
                </a:solidFill>
                <a:latin typeface="Yu Gothic"/>
              </a:rPr>
              <a:t>ルールでG-SYSへ登録しているか</a:t>
            </a:r>
          </a:p>
        </p:txBody>
      </p:sp>
      <p:sp>
        <p:nvSpPr>
          <p:cNvPr id="14" name="TextBox 13"/>
          <p:cNvSpPr txBox="1"/>
          <p:nvPr/>
        </p:nvSpPr>
        <p:spPr>
          <a:xfrm>
            <a:off x="5669279" y="3090672"/>
            <a:ext cx="292608" cy="274320"/>
          </a:xfrm>
          <a:prstGeom prst="rect">
            <a:avLst/>
          </a:prstGeom>
          <a:noFill/>
        </p:spPr>
        <p:txBody>
          <a:bodyPr wrap="square" anchor="t" lIns="0" rIns="0" tIns="0" bIns="0">
            <a:spAutoFit/>
          </a:bodyPr>
          <a:lstStyle/>
          <a:p>
            <a:pPr algn="l">
              <a:lnSpc>
                <a:spcPct val="128000"/>
              </a:lnSpc>
            </a:pPr>
            <a:r>
              <a:rPr sz="1450" b="1" i="0">
                <a:solidFill>
                  <a:srgbClr val="C8722F"/>
                </a:solidFill>
                <a:latin typeface="Yu Gothic"/>
              </a:rPr>
              <a:t>3</a:t>
            </a:r>
          </a:p>
        </p:txBody>
      </p:sp>
      <p:sp>
        <p:nvSpPr>
          <p:cNvPr id="15" name="TextBox 14"/>
          <p:cNvSpPr txBox="1"/>
          <p:nvPr/>
        </p:nvSpPr>
        <p:spPr>
          <a:xfrm>
            <a:off x="5980175" y="3081528"/>
            <a:ext cx="5708599" cy="411480"/>
          </a:xfrm>
          <a:prstGeom prst="rect">
            <a:avLst/>
          </a:prstGeom>
          <a:noFill/>
        </p:spPr>
        <p:txBody>
          <a:bodyPr wrap="square" anchor="t" lIns="0" rIns="0" tIns="0" bIns="0">
            <a:spAutoFit/>
          </a:bodyPr>
          <a:lstStyle/>
          <a:p>
            <a:pPr algn="l">
              <a:lnSpc>
                <a:spcPct val="120000"/>
              </a:lnSpc>
            </a:pPr>
            <a:r>
              <a:rPr sz="1050" b="0" i="0">
                <a:solidFill>
                  <a:srgbClr val="2A2724"/>
                </a:solidFill>
                <a:latin typeface="Yu Gothic"/>
              </a:rPr>
              <a:t>メーカーへの発注方法（Email／EDI）を、</a:t>
            </a:r>
          </a:p>
          <a:p>
            <a:pPr algn="l">
              <a:lnSpc>
                <a:spcPct val="120000"/>
              </a:lnSpc>
            </a:pPr>
            <a:r>
              <a:rPr sz="1050" b="0" i="0">
                <a:solidFill>
                  <a:srgbClr val="2A2724"/>
                </a:solidFill>
                <a:latin typeface="Yu Gothic"/>
              </a:rPr>
              <a:t>メーカーごとにどう整理するか</a:t>
            </a:r>
          </a:p>
        </p:txBody>
      </p:sp>
      <p:sp>
        <p:nvSpPr>
          <p:cNvPr id="16" name="TextBox 15"/>
          <p:cNvSpPr txBox="1"/>
          <p:nvPr/>
        </p:nvSpPr>
        <p:spPr>
          <a:xfrm>
            <a:off x="5669279" y="3547872"/>
            <a:ext cx="292608" cy="274320"/>
          </a:xfrm>
          <a:prstGeom prst="rect">
            <a:avLst/>
          </a:prstGeom>
          <a:noFill/>
        </p:spPr>
        <p:txBody>
          <a:bodyPr wrap="square" anchor="t" lIns="0" rIns="0" tIns="0" bIns="0">
            <a:spAutoFit/>
          </a:bodyPr>
          <a:lstStyle/>
          <a:p>
            <a:pPr algn="l">
              <a:lnSpc>
                <a:spcPct val="128000"/>
              </a:lnSpc>
            </a:pPr>
            <a:r>
              <a:rPr sz="1450" b="1" i="0">
                <a:solidFill>
                  <a:srgbClr val="C8722F"/>
                </a:solidFill>
                <a:latin typeface="Yu Gothic"/>
              </a:rPr>
              <a:t>4</a:t>
            </a:r>
          </a:p>
        </p:txBody>
      </p:sp>
      <p:sp>
        <p:nvSpPr>
          <p:cNvPr id="17" name="TextBox 16"/>
          <p:cNvSpPr txBox="1"/>
          <p:nvPr/>
        </p:nvSpPr>
        <p:spPr>
          <a:xfrm>
            <a:off x="5980175" y="3538728"/>
            <a:ext cx="5708599" cy="242316"/>
          </a:xfrm>
          <a:prstGeom prst="rect">
            <a:avLst/>
          </a:prstGeom>
          <a:noFill/>
        </p:spPr>
        <p:txBody>
          <a:bodyPr wrap="square" anchor="t" lIns="0" rIns="0" tIns="0" bIns="0">
            <a:spAutoFit/>
          </a:bodyPr>
          <a:lstStyle/>
          <a:p>
            <a:pPr algn="l">
              <a:lnSpc>
                <a:spcPct val="120000"/>
              </a:lnSpc>
            </a:pPr>
            <a:r>
              <a:rPr sz="1050" b="0" i="0">
                <a:solidFill>
                  <a:srgbClr val="2A2724"/>
                </a:solidFill>
                <a:latin typeface="Yu Gothic"/>
              </a:rPr>
              <a:t>メーカー回答の管理を、G-OPS上でどこまで行うか</a:t>
            </a:r>
          </a:p>
        </p:txBody>
      </p:sp>
      <p:sp>
        <p:nvSpPr>
          <p:cNvPr id="18" name="TextBox 17"/>
          <p:cNvSpPr txBox="1"/>
          <p:nvPr/>
        </p:nvSpPr>
        <p:spPr>
          <a:xfrm>
            <a:off x="5669279" y="3835908"/>
            <a:ext cx="292608" cy="274320"/>
          </a:xfrm>
          <a:prstGeom prst="rect">
            <a:avLst/>
          </a:prstGeom>
          <a:noFill/>
        </p:spPr>
        <p:txBody>
          <a:bodyPr wrap="square" anchor="t" lIns="0" rIns="0" tIns="0" bIns="0">
            <a:spAutoFit/>
          </a:bodyPr>
          <a:lstStyle/>
          <a:p>
            <a:pPr algn="l">
              <a:lnSpc>
                <a:spcPct val="128000"/>
              </a:lnSpc>
            </a:pPr>
            <a:r>
              <a:rPr sz="1450" b="1" i="0">
                <a:solidFill>
                  <a:srgbClr val="C8722F"/>
                </a:solidFill>
                <a:latin typeface="Yu Gothic"/>
              </a:rPr>
              <a:t>5</a:t>
            </a:r>
          </a:p>
        </p:txBody>
      </p:sp>
      <p:sp>
        <p:nvSpPr>
          <p:cNvPr id="19" name="TextBox 18"/>
          <p:cNvSpPr txBox="1"/>
          <p:nvPr/>
        </p:nvSpPr>
        <p:spPr>
          <a:xfrm>
            <a:off x="5980175" y="3826764"/>
            <a:ext cx="5708599" cy="411480"/>
          </a:xfrm>
          <a:prstGeom prst="rect">
            <a:avLst/>
          </a:prstGeom>
          <a:noFill/>
        </p:spPr>
        <p:txBody>
          <a:bodyPr wrap="square" anchor="t" lIns="0" rIns="0" tIns="0" bIns="0">
            <a:spAutoFit/>
          </a:bodyPr>
          <a:lstStyle/>
          <a:p>
            <a:pPr algn="l">
              <a:lnSpc>
                <a:spcPct val="120000"/>
              </a:lnSpc>
            </a:pPr>
            <a:r>
              <a:rPr sz="1050" b="0" i="0">
                <a:solidFill>
                  <a:srgbClr val="2A2724"/>
                </a:solidFill>
                <a:latin typeface="Yu Gothic"/>
              </a:rPr>
              <a:t>価格変更をG-OPSの対象業務に含めるか。含める場合、</a:t>
            </a:r>
          </a:p>
          <a:p>
            <a:pPr algn="l">
              <a:lnSpc>
                <a:spcPct val="120000"/>
              </a:lnSpc>
            </a:pPr>
            <a:r>
              <a:rPr sz="1050" b="0" i="0">
                <a:solidFill>
                  <a:srgbClr val="2A2724"/>
                </a:solidFill>
                <a:latin typeface="Yu Gothic"/>
              </a:rPr>
              <a:t>G-SYSへの反映方法をどうするか</a:t>
            </a:r>
          </a:p>
        </p:txBody>
      </p:sp>
      <p:sp>
        <p:nvSpPr>
          <p:cNvPr id="20" name="TextBox 19"/>
          <p:cNvSpPr txBox="1"/>
          <p:nvPr/>
        </p:nvSpPr>
        <p:spPr>
          <a:xfrm>
            <a:off x="5669279" y="4293108"/>
            <a:ext cx="292608" cy="274320"/>
          </a:xfrm>
          <a:prstGeom prst="rect">
            <a:avLst/>
          </a:prstGeom>
          <a:noFill/>
        </p:spPr>
        <p:txBody>
          <a:bodyPr wrap="square" anchor="t" lIns="0" rIns="0" tIns="0" bIns="0">
            <a:spAutoFit/>
          </a:bodyPr>
          <a:lstStyle/>
          <a:p>
            <a:pPr algn="l">
              <a:lnSpc>
                <a:spcPct val="128000"/>
              </a:lnSpc>
            </a:pPr>
            <a:r>
              <a:rPr sz="1450" b="1" i="0">
                <a:solidFill>
                  <a:srgbClr val="C8722F"/>
                </a:solidFill>
                <a:latin typeface="Yu Gothic"/>
              </a:rPr>
              <a:t>6</a:t>
            </a:r>
          </a:p>
        </p:txBody>
      </p:sp>
      <p:sp>
        <p:nvSpPr>
          <p:cNvPr id="21" name="TextBox 20"/>
          <p:cNvSpPr txBox="1"/>
          <p:nvPr/>
        </p:nvSpPr>
        <p:spPr>
          <a:xfrm>
            <a:off x="5980175" y="4283964"/>
            <a:ext cx="5708599" cy="580643"/>
          </a:xfrm>
          <a:prstGeom prst="rect">
            <a:avLst/>
          </a:prstGeom>
          <a:noFill/>
        </p:spPr>
        <p:txBody>
          <a:bodyPr wrap="square" anchor="t" lIns="0" rIns="0" tIns="0" bIns="0">
            <a:spAutoFit/>
          </a:bodyPr>
          <a:lstStyle/>
          <a:p>
            <a:pPr algn="l">
              <a:lnSpc>
                <a:spcPct val="120000"/>
              </a:lnSpc>
            </a:pPr>
            <a:r>
              <a:rPr sz="1050" b="0" i="0">
                <a:solidFill>
                  <a:srgbClr val="2A2724"/>
                </a:solidFill>
                <a:latin typeface="Yu Gothic"/>
              </a:rPr>
              <a:t>Tempostar・Logizeroとは、現在Legacy G-SYS側で</a:t>
            </a:r>
          </a:p>
          <a:p>
            <a:pPr algn="l">
              <a:lnSpc>
                <a:spcPct val="120000"/>
              </a:lnSpc>
            </a:pPr>
            <a:r>
              <a:rPr sz="1050" b="0" i="0">
                <a:solidFill>
                  <a:srgbClr val="2A2724"/>
                </a:solidFill>
                <a:latin typeface="Yu Gothic"/>
              </a:rPr>
              <a:t>自動連携が行われています。この連携をG-OPSから</a:t>
            </a:r>
          </a:p>
          <a:p>
            <a:pPr algn="l">
              <a:lnSpc>
                <a:spcPct val="120000"/>
              </a:lnSpc>
            </a:pPr>
            <a:r>
              <a:rPr sz="1050" b="0" i="0">
                <a:solidFill>
                  <a:srgbClr val="2A2724"/>
                </a:solidFill>
                <a:latin typeface="Yu Gothic"/>
              </a:rPr>
              <a:t>どこまで扱う対象とするか</a:t>
            </a:r>
          </a:p>
        </p:txBody>
      </p:sp>
      <p:sp>
        <p:nvSpPr>
          <p:cNvPr id="22" name="TextBox 21"/>
          <p:cNvSpPr txBox="1"/>
          <p:nvPr/>
        </p:nvSpPr>
        <p:spPr>
          <a:xfrm>
            <a:off x="5669279" y="4919472"/>
            <a:ext cx="292608" cy="274320"/>
          </a:xfrm>
          <a:prstGeom prst="rect">
            <a:avLst/>
          </a:prstGeom>
          <a:noFill/>
        </p:spPr>
        <p:txBody>
          <a:bodyPr wrap="square" anchor="t" lIns="0" rIns="0" tIns="0" bIns="0">
            <a:spAutoFit/>
          </a:bodyPr>
          <a:lstStyle/>
          <a:p>
            <a:pPr algn="l">
              <a:lnSpc>
                <a:spcPct val="128000"/>
              </a:lnSpc>
            </a:pPr>
            <a:r>
              <a:rPr sz="1450" b="1" i="0">
                <a:solidFill>
                  <a:srgbClr val="C8722F"/>
                </a:solidFill>
                <a:latin typeface="Yu Gothic"/>
              </a:rPr>
              <a:t>7</a:t>
            </a:r>
          </a:p>
        </p:txBody>
      </p:sp>
      <p:sp>
        <p:nvSpPr>
          <p:cNvPr id="23" name="TextBox 22"/>
          <p:cNvSpPr txBox="1"/>
          <p:nvPr/>
        </p:nvSpPr>
        <p:spPr>
          <a:xfrm>
            <a:off x="5980175" y="4910328"/>
            <a:ext cx="5708599" cy="242316"/>
          </a:xfrm>
          <a:prstGeom prst="rect">
            <a:avLst/>
          </a:prstGeom>
          <a:noFill/>
        </p:spPr>
        <p:txBody>
          <a:bodyPr wrap="square" anchor="t" lIns="0" rIns="0" tIns="0" bIns="0">
            <a:spAutoFit/>
          </a:bodyPr>
          <a:lstStyle/>
          <a:p>
            <a:pPr algn="l">
              <a:lnSpc>
                <a:spcPct val="120000"/>
              </a:lnSpc>
            </a:pPr>
            <a:r>
              <a:rPr sz="1050" b="0" i="0">
                <a:solidFill>
                  <a:srgbClr val="2A2724"/>
                </a:solidFill>
                <a:latin typeface="Yu Gothic"/>
              </a:rPr>
              <a:t>本番導入にあたり、優先する機能は何か</a:t>
            </a:r>
          </a:p>
        </p:txBody>
      </p:sp>
      <p:sp>
        <p:nvSpPr>
          <p:cNvPr id="24" name="Rounded Rectangle 23"/>
          <p:cNvSpPr/>
          <p:nvPr/>
        </p:nvSpPr>
        <p:spPr>
          <a:xfrm>
            <a:off x="502920" y="5334310"/>
            <a:ext cx="11185855" cy="731520"/>
          </a:xfrm>
          <a:prstGeom prst="roundRect">
            <a:avLst>
              <a:gd name="adj" fmla="val 10000"/>
            </a:avLst>
          </a:prstGeom>
          <a:solidFill>
            <a:srgbClr val="F3DCC4"/>
          </a:solidFill>
          <a:ln w="12700">
            <a:solidFill>
              <a:srgbClr val="C872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5334310"/>
            <a:ext cx="10728655" cy="731520"/>
          </a:xfrm>
          <a:prstGeom prst="rect">
            <a:avLst/>
          </a:prstGeom>
          <a:noFill/>
        </p:spPr>
        <p:txBody>
          <a:bodyPr wrap="square" anchor="ctr" lIns="0" rIns="0" tIns="0" bIns="0">
            <a:spAutoFit/>
          </a:bodyPr>
          <a:lstStyle/>
          <a:p>
            <a:pPr algn="l">
              <a:lnSpc>
                <a:spcPct val="130000"/>
              </a:lnSpc>
            </a:pPr>
            <a:r>
              <a:rPr sz="1300" b="1" i="0">
                <a:solidFill>
                  <a:srgbClr val="A85A1F"/>
                </a:solidFill>
                <a:latin typeface="Yu Gothic"/>
              </a:rPr>
              <a:t>G-OPSとしてどの範囲を本番導入対象とするかを、事前に貴社のご意見をいただきながら具体化していきたいと考えています。ご不明点やご要望がございましたら、遠慮なくメールにてご連絡ください。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