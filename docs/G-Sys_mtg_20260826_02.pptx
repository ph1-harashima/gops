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74" autoAdjust="0"/>
    <p:restoredTop sz="94660"/>
  </p:normalViewPr>
  <p:slideViewPr>
    <p:cSldViewPr snapToGrid="0">
      <p:cViewPr varScale="1">
        <p:scale>
          <a:sx n="74" d="100"/>
          <a:sy n="74" d="100"/>
        </p:scale>
        <p:origin x="72" y="5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A85137-7BFE-4C1E-80FF-F9042A6C7900}" type="datetimeFigureOut">
              <a:rPr kumimoji="1" lang="ja-JP" altLang="en-US" smtClean="0"/>
              <a:t>2026/8/26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E54217-93C0-40DA-8E7C-4B278DC89CAD}" type="slidenum">
              <a:rPr kumimoji="1" lang="ja-JP" altLang="en-US" smtClean="0"/>
              <a:t>‹#›</a:t>
            </a:fld>
            <a:endParaRPr kumimoji="1" lang="ja-JP" altLang="en-US"/>
          </a:p>
        </p:txBody>
      </p:sp>
    </p:spTree>
    <p:extLst>
      <p:ext uri="{BB962C8B-B14F-4D97-AF65-F5344CB8AC3E}">
        <p14:creationId xmlns:p14="http://schemas.microsoft.com/office/powerpoint/2010/main" val="263914180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868C8A-28E4-4E58-DB92-CDB1DA3932F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3526DA0-EA60-48F9-9D96-C0878DA048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6CA6B21-D3BA-77AE-B6A6-467603992EBE}"/>
              </a:ext>
            </a:extLst>
          </p:cNvPr>
          <p:cNvSpPr>
            <a:spLocks noGrp="1"/>
          </p:cNvSpPr>
          <p:nvPr>
            <p:ph type="dt" sz="half" idx="10"/>
          </p:nvPr>
        </p:nvSpPr>
        <p:spPr/>
        <p:txBody>
          <a:bodyPr/>
          <a:lstStyle/>
          <a:p>
            <a:fld id="{71592CAA-51C6-4A0D-87B0-D2D88953651C}" type="datetimeFigureOut">
              <a:rPr kumimoji="1" lang="ja-JP" altLang="en-US" smtClean="0"/>
              <a:t>2026/8/26</a:t>
            </a:fld>
            <a:endParaRPr kumimoji="1" lang="ja-JP" altLang="en-US"/>
          </a:p>
        </p:txBody>
      </p:sp>
      <p:sp>
        <p:nvSpPr>
          <p:cNvPr id="5" name="フッター プレースホルダー 4">
            <a:extLst>
              <a:ext uri="{FF2B5EF4-FFF2-40B4-BE49-F238E27FC236}">
                <a16:creationId xmlns:a16="http://schemas.microsoft.com/office/drawing/2014/main" id="{88C60B9C-333B-4285-26E0-B670F19E91F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EE66FA3-5F31-6384-E7C5-7E87A2AC8F29}"/>
              </a:ext>
            </a:extLst>
          </p:cNvPr>
          <p:cNvSpPr>
            <a:spLocks noGrp="1"/>
          </p:cNvSpPr>
          <p:nvPr>
            <p:ph type="sldNum" sz="quarter" idx="12"/>
          </p:nvPr>
        </p:nvSpPr>
        <p:spPr/>
        <p:txBody>
          <a:bodyPr/>
          <a:lstStyle/>
          <a:p>
            <a:fld id="{482A983C-0B8D-459E-BBED-830707DE3F06}" type="slidenum">
              <a:rPr kumimoji="1" lang="ja-JP" altLang="en-US" smtClean="0"/>
              <a:t>‹#›</a:t>
            </a:fld>
            <a:endParaRPr kumimoji="1" lang="ja-JP" altLang="en-US"/>
          </a:p>
        </p:txBody>
      </p:sp>
    </p:spTree>
    <p:extLst>
      <p:ext uri="{BB962C8B-B14F-4D97-AF65-F5344CB8AC3E}">
        <p14:creationId xmlns:p14="http://schemas.microsoft.com/office/powerpoint/2010/main" val="2652005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F9265A-4FB5-DC48-A49E-DFD5604EDC3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58F79C2-70C9-E8C4-E7CC-23772A933AD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94D2630-A25B-5E8A-4C54-2942BEA96872}"/>
              </a:ext>
            </a:extLst>
          </p:cNvPr>
          <p:cNvSpPr>
            <a:spLocks noGrp="1"/>
          </p:cNvSpPr>
          <p:nvPr>
            <p:ph type="dt" sz="half" idx="10"/>
          </p:nvPr>
        </p:nvSpPr>
        <p:spPr/>
        <p:txBody>
          <a:bodyPr/>
          <a:lstStyle/>
          <a:p>
            <a:fld id="{71592CAA-51C6-4A0D-87B0-D2D88953651C}" type="datetimeFigureOut">
              <a:rPr kumimoji="1" lang="ja-JP" altLang="en-US" smtClean="0"/>
              <a:t>2026/8/26</a:t>
            </a:fld>
            <a:endParaRPr kumimoji="1" lang="ja-JP" altLang="en-US"/>
          </a:p>
        </p:txBody>
      </p:sp>
      <p:sp>
        <p:nvSpPr>
          <p:cNvPr id="5" name="フッター プレースホルダー 4">
            <a:extLst>
              <a:ext uri="{FF2B5EF4-FFF2-40B4-BE49-F238E27FC236}">
                <a16:creationId xmlns:a16="http://schemas.microsoft.com/office/drawing/2014/main" id="{BD7B2283-7B04-5BD9-556D-566C5FE37FF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03E9341-1AB6-C7E9-4685-5EB1A134FF85}"/>
              </a:ext>
            </a:extLst>
          </p:cNvPr>
          <p:cNvSpPr>
            <a:spLocks noGrp="1"/>
          </p:cNvSpPr>
          <p:nvPr>
            <p:ph type="sldNum" sz="quarter" idx="12"/>
          </p:nvPr>
        </p:nvSpPr>
        <p:spPr/>
        <p:txBody>
          <a:bodyPr/>
          <a:lstStyle/>
          <a:p>
            <a:fld id="{482A983C-0B8D-459E-BBED-830707DE3F06}" type="slidenum">
              <a:rPr kumimoji="1" lang="ja-JP" altLang="en-US" smtClean="0"/>
              <a:t>‹#›</a:t>
            </a:fld>
            <a:endParaRPr kumimoji="1" lang="ja-JP" altLang="en-US"/>
          </a:p>
        </p:txBody>
      </p:sp>
    </p:spTree>
    <p:extLst>
      <p:ext uri="{BB962C8B-B14F-4D97-AF65-F5344CB8AC3E}">
        <p14:creationId xmlns:p14="http://schemas.microsoft.com/office/powerpoint/2010/main" val="2794221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A0FADA-7A96-39E7-D263-499E028EDB1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7E7603E-64DE-D86A-C201-487BF6B24D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838B760-E2E0-F065-4D69-2F94CC5AD33F}"/>
              </a:ext>
            </a:extLst>
          </p:cNvPr>
          <p:cNvSpPr>
            <a:spLocks noGrp="1"/>
          </p:cNvSpPr>
          <p:nvPr>
            <p:ph type="dt" sz="half" idx="10"/>
          </p:nvPr>
        </p:nvSpPr>
        <p:spPr/>
        <p:txBody>
          <a:bodyPr/>
          <a:lstStyle/>
          <a:p>
            <a:fld id="{71592CAA-51C6-4A0D-87B0-D2D88953651C}" type="datetimeFigureOut">
              <a:rPr kumimoji="1" lang="ja-JP" altLang="en-US" smtClean="0"/>
              <a:t>2026/8/26</a:t>
            </a:fld>
            <a:endParaRPr kumimoji="1" lang="ja-JP" altLang="en-US"/>
          </a:p>
        </p:txBody>
      </p:sp>
      <p:sp>
        <p:nvSpPr>
          <p:cNvPr id="5" name="フッター プレースホルダー 4">
            <a:extLst>
              <a:ext uri="{FF2B5EF4-FFF2-40B4-BE49-F238E27FC236}">
                <a16:creationId xmlns:a16="http://schemas.microsoft.com/office/drawing/2014/main" id="{F3D7FF6B-BB0E-D53B-9A7D-B695A88DDA8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EC653B5-B7D7-6321-C68C-6EEA06041E70}"/>
              </a:ext>
            </a:extLst>
          </p:cNvPr>
          <p:cNvSpPr>
            <a:spLocks noGrp="1"/>
          </p:cNvSpPr>
          <p:nvPr>
            <p:ph type="sldNum" sz="quarter" idx="12"/>
          </p:nvPr>
        </p:nvSpPr>
        <p:spPr/>
        <p:txBody>
          <a:bodyPr/>
          <a:lstStyle/>
          <a:p>
            <a:fld id="{482A983C-0B8D-459E-BBED-830707DE3F06}" type="slidenum">
              <a:rPr kumimoji="1" lang="ja-JP" altLang="en-US" smtClean="0"/>
              <a:t>‹#›</a:t>
            </a:fld>
            <a:endParaRPr kumimoji="1" lang="ja-JP" altLang="en-US"/>
          </a:p>
        </p:txBody>
      </p:sp>
    </p:spTree>
    <p:extLst>
      <p:ext uri="{BB962C8B-B14F-4D97-AF65-F5344CB8AC3E}">
        <p14:creationId xmlns:p14="http://schemas.microsoft.com/office/powerpoint/2010/main" val="11679929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07F991-6573-C507-D7CC-9DC2617B7C9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3FC970A-091C-E96E-04DF-09E6DFC05FC7}"/>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5736398-D905-F2A2-7EC4-8969596F874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8BED7A2C-A999-4FD6-3C7D-B5B9001E0D7B}"/>
              </a:ext>
            </a:extLst>
          </p:cNvPr>
          <p:cNvSpPr>
            <a:spLocks noGrp="1"/>
          </p:cNvSpPr>
          <p:nvPr>
            <p:ph type="dt" sz="half" idx="10"/>
          </p:nvPr>
        </p:nvSpPr>
        <p:spPr/>
        <p:txBody>
          <a:bodyPr/>
          <a:lstStyle/>
          <a:p>
            <a:fld id="{71592CAA-51C6-4A0D-87B0-D2D88953651C}" type="datetimeFigureOut">
              <a:rPr kumimoji="1" lang="ja-JP" altLang="en-US" smtClean="0"/>
              <a:t>2026/8/26</a:t>
            </a:fld>
            <a:endParaRPr kumimoji="1" lang="ja-JP" altLang="en-US"/>
          </a:p>
        </p:txBody>
      </p:sp>
      <p:sp>
        <p:nvSpPr>
          <p:cNvPr id="6" name="フッター プレースホルダー 5">
            <a:extLst>
              <a:ext uri="{FF2B5EF4-FFF2-40B4-BE49-F238E27FC236}">
                <a16:creationId xmlns:a16="http://schemas.microsoft.com/office/drawing/2014/main" id="{239C1289-439C-B320-DA30-2B4F041FAD4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330D19F-4A41-56A4-4D1B-F0A306CF5ED0}"/>
              </a:ext>
            </a:extLst>
          </p:cNvPr>
          <p:cNvSpPr>
            <a:spLocks noGrp="1"/>
          </p:cNvSpPr>
          <p:nvPr>
            <p:ph type="sldNum" sz="quarter" idx="12"/>
          </p:nvPr>
        </p:nvSpPr>
        <p:spPr/>
        <p:txBody>
          <a:bodyPr/>
          <a:lstStyle/>
          <a:p>
            <a:fld id="{482A983C-0B8D-459E-BBED-830707DE3F06}" type="slidenum">
              <a:rPr kumimoji="1" lang="ja-JP" altLang="en-US" smtClean="0"/>
              <a:t>‹#›</a:t>
            </a:fld>
            <a:endParaRPr kumimoji="1" lang="ja-JP" altLang="en-US"/>
          </a:p>
        </p:txBody>
      </p:sp>
    </p:spTree>
    <p:extLst>
      <p:ext uri="{BB962C8B-B14F-4D97-AF65-F5344CB8AC3E}">
        <p14:creationId xmlns:p14="http://schemas.microsoft.com/office/powerpoint/2010/main" val="286267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3751C0-7C75-C4A0-193C-4E7BD9C136B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866ECB5-AE80-580C-E65C-4B8B15E268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09932BFA-8005-1864-4C30-B66E0A1797D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2AAF4A8-0E64-5C59-3229-C27A16B829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271311D8-300C-BCDC-2C3A-8AA712E9AA6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0D5E86A-4214-7AAF-9F8B-29653192F96B}"/>
              </a:ext>
            </a:extLst>
          </p:cNvPr>
          <p:cNvSpPr>
            <a:spLocks noGrp="1"/>
          </p:cNvSpPr>
          <p:nvPr>
            <p:ph type="dt" sz="half" idx="10"/>
          </p:nvPr>
        </p:nvSpPr>
        <p:spPr/>
        <p:txBody>
          <a:bodyPr/>
          <a:lstStyle/>
          <a:p>
            <a:fld id="{71592CAA-51C6-4A0D-87B0-D2D88953651C}" type="datetimeFigureOut">
              <a:rPr kumimoji="1" lang="ja-JP" altLang="en-US" smtClean="0"/>
              <a:t>2026/8/26</a:t>
            </a:fld>
            <a:endParaRPr kumimoji="1" lang="ja-JP" altLang="en-US"/>
          </a:p>
        </p:txBody>
      </p:sp>
      <p:sp>
        <p:nvSpPr>
          <p:cNvPr id="8" name="フッター プレースホルダー 7">
            <a:extLst>
              <a:ext uri="{FF2B5EF4-FFF2-40B4-BE49-F238E27FC236}">
                <a16:creationId xmlns:a16="http://schemas.microsoft.com/office/drawing/2014/main" id="{227DF42D-0BB4-EB00-E632-D9BC19F78FF3}"/>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05DBDC9-2CA5-24C4-DEDC-475A1A3CA0BD}"/>
              </a:ext>
            </a:extLst>
          </p:cNvPr>
          <p:cNvSpPr>
            <a:spLocks noGrp="1"/>
          </p:cNvSpPr>
          <p:nvPr>
            <p:ph type="sldNum" sz="quarter" idx="12"/>
          </p:nvPr>
        </p:nvSpPr>
        <p:spPr/>
        <p:txBody>
          <a:bodyPr/>
          <a:lstStyle/>
          <a:p>
            <a:fld id="{482A983C-0B8D-459E-BBED-830707DE3F06}" type="slidenum">
              <a:rPr kumimoji="1" lang="ja-JP" altLang="en-US" smtClean="0"/>
              <a:t>‹#›</a:t>
            </a:fld>
            <a:endParaRPr kumimoji="1" lang="ja-JP" altLang="en-US"/>
          </a:p>
        </p:txBody>
      </p:sp>
    </p:spTree>
    <p:extLst>
      <p:ext uri="{BB962C8B-B14F-4D97-AF65-F5344CB8AC3E}">
        <p14:creationId xmlns:p14="http://schemas.microsoft.com/office/powerpoint/2010/main" val="2779153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943643-68D4-72B2-5054-22F763267CF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E7F2922-DA1C-80E4-7CD3-7A0635819320}"/>
              </a:ext>
            </a:extLst>
          </p:cNvPr>
          <p:cNvSpPr>
            <a:spLocks noGrp="1"/>
          </p:cNvSpPr>
          <p:nvPr>
            <p:ph type="dt" sz="half" idx="10"/>
          </p:nvPr>
        </p:nvSpPr>
        <p:spPr/>
        <p:txBody>
          <a:bodyPr/>
          <a:lstStyle/>
          <a:p>
            <a:fld id="{71592CAA-51C6-4A0D-87B0-D2D88953651C}" type="datetimeFigureOut">
              <a:rPr kumimoji="1" lang="ja-JP" altLang="en-US" smtClean="0"/>
              <a:t>2026/8/26</a:t>
            </a:fld>
            <a:endParaRPr kumimoji="1" lang="ja-JP" altLang="en-US"/>
          </a:p>
        </p:txBody>
      </p:sp>
      <p:sp>
        <p:nvSpPr>
          <p:cNvPr id="4" name="フッター プレースホルダー 3">
            <a:extLst>
              <a:ext uri="{FF2B5EF4-FFF2-40B4-BE49-F238E27FC236}">
                <a16:creationId xmlns:a16="http://schemas.microsoft.com/office/drawing/2014/main" id="{30B4AB0F-9C4C-DB14-7001-5941FD6FA2E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E61A99B-57E9-E892-C739-2D58476FA7A4}"/>
              </a:ext>
            </a:extLst>
          </p:cNvPr>
          <p:cNvSpPr>
            <a:spLocks noGrp="1"/>
          </p:cNvSpPr>
          <p:nvPr>
            <p:ph type="sldNum" sz="quarter" idx="12"/>
          </p:nvPr>
        </p:nvSpPr>
        <p:spPr/>
        <p:txBody>
          <a:bodyPr/>
          <a:lstStyle/>
          <a:p>
            <a:fld id="{482A983C-0B8D-459E-BBED-830707DE3F06}" type="slidenum">
              <a:rPr kumimoji="1" lang="ja-JP" altLang="en-US" smtClean="0"/>
              <a:t>‹#›</a:t>
            </a:fld>
            <a:endParaRPr kumimoji="1" lang="ja-JP" altLang="en-US"/>
          </a:p>
        </p:txBody>
      </p:sp>
    </p:spTree>
    <p:extLst>
      <p:ext uri="{BB962C8B-B14F-4D97-AF65-F5344CB8AC3E}">
        <p14:creationId xmlns:p14="http://schemas.microsoft.com/office/powerpoint/2010/main" val="761089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FEE913D-D216-797F-E415-25C45A287DB6}"/>
              </a:ext>
            </a:extLst>
          </p:cNvPr>
          <p:cNvSpPr>
            <a:spLocks noGrp="1"/>
          </p:cNvSpPr>
          <p:nvPr>
            <p:ph type="dt" sz="half" idx="10"/>
          </p:nvPr>
        </p:nvSpPr>
        <p:spPr/>
        <p:txBody>
          <a:bodyPr/>
          <a:lstStyle/>
          <a:p>
            <a:fld id="{71592CAA-51C6-4A0D-87B0-D2D88953651C}" type="datetimeFigureOut">
              <a:rPr kumimoji="1" lang="ja-JP" altLang="en-US" smtClean="0"/>
              <a:t>2026/8/26</a:t>
            </a:fld>
            <a:endParaRPr kumimoji="1" lang="ja-JP" altLang="en-US"/>
          </a:p>
        </p:txBody>
      </p:sp>
      <p:sp>
        <p:nvSpPr>
          <p:cNvPr id="3" name="フッター プレースホルダー 2">
            <a:extLst>
              <a:ext uri="{FF2B5EF4-FFF2-40B4-BE49-F238E27FC236}">
                <a16:creationId xmlns:a16="http://schemas.microsoft.com/office/drawing/2014/main" id="{70AEB3D1-9B49-56ED-4C82-9D41EC89DF0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C31A3F7-95FF-90C3-3DE0-BD873B255E8F}"/>
              </a:ext>
            </a:extLst>
          </p:cNvPr>
          <p:cNvSpPr>
            <a:spLocks noGrp="1"/>
          </p:cNvSpPr>
          <p:nvPr>
            <p:ph type="sldNum" sz="quarter" idx="12"/>
          </p:nvPr>
        </p:nvSpPr>
        <p:spPr/>
        <p:txBody>
          <a:bodyPr/>
          <a:lstStyle/>
          <a:p>
            <a:fld id="{482A983C-0B8D-459E-BBED-830707DE3F06}" type="slidenum">
              <a:rPr kumimoji="1" lang="ja-JP" altLang="en-US" smtClean="0"/>
              <a:t>‹#›</a:t>
            </a:fld>
            <a:endParaRPr kumimoji="1" lang="ja-JP" altLang="en-US"/>
          </a:p>
        </p:txBody>
      </p:sp>
    </p:spTree>
    <p:extLst>
      <p:ext uri="{BB962C8B-B14F-4D97-AF65-F5344CB8AC3E}">
        <p14:creationId xmlns:p14="http://schemas.microsoft.com/office/powerpoint/2010/main" val="3450884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428A3E-586B-FD82-51C8-D9E6C10614C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344E53E-EDEA-224F-4909-49FE3DAA9C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637EDDC-3C33-24BA-C966-2E687DC670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2AFB1C5-8753-E6A2-A06B-91382F96C63C}"/>
              </a:ext>
            </a:extLst>
          </p:cNvPr>
          <p:cNvSpPr>
            <a:spLocks noGrp="1"/>
          </p:cNvSpPr>
          <p:nvPr>
            <p:ph type="dt" sz="half" idx="10"/>
          </p:nvPr>
        </p:nvSpPr>
        <p:spPr/>
        <p:txBody>
          <a:bodyPr/>
          <a:lstStyle/>
          <a:p>
            <a:fld id="{71592CAA-51C6-4A0D-87B0-D2D88953651C}" type="datetimeFigureOut">
              <a:rPr kumimoji="1" lang="ja-JP" altLang="en-US" smtClean="0"/>
              <a:t>2026/8/26</a:t>
            </a:fld>
            <a:endParaRPr kumimoji="1" lang="ja-JP" altLang="en-US"/>
          </a:p>
        </p:txBody>
      </p:sp>
      <p:sp>
        <p:nvSpPr>
          <p:cNvPr id="6" name="フッター プレースホルダー 5">
            <a:extLst>
              <a:ext uri="{FF2B5EF4-FFF2-40B4-BE49-F238E27FC236}">
                <a16:creationId xmlns:a16="http://schemas.microsoft.com/office/drawing/2014/main" id="{8F1E38CC-1CF6-7434-3F41-143A26D59A5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19DE918-4AD1-6D97-17FA-6EE83D66737C}"/>
              </a:ext>
            </a:extLst>
          </p:cNvPr>
          <p:cNvSpPr>
            <a:spLocks noGrp="1"/>
          </p:cNvSpPr>
          <p:nvPr>
            <p:ph type="sldNum" sz="quarter" idx="12"/>
          </p:nvPr>
        </p:nvSpPr>
        <p:spPr/>
        <p:txBody>
          <a:bodyPr/>
          <a:lstStyle/>
          <a:p>
            <a:fld id="{482A983C-0B8D-459E-BBED-830707DE3F06}" type="slidenum">
              <a:rPr kumimoji="1" lang="ja-JP" altLang="en-US" smtClean="0"/>
              <a:t>‹#›</a:t>
            </a:fld>
            <a:endParaRPr kumimoji="1" lang="ja-JP" altLang="en-US"/>
          </a:p>
        </p:txBody>
      </p:sp>
    </p:spTree>
    <p:extLst>
      <p:ext uri="{BB962C8B-B14F-4D97-AF65-F5344CB8AC3E}">
        <p14:creationId xmlns:p14="http://schemas.microsoft.com/office/powerpoint/2010/main" val="2363953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4E677C-4A2A-56F8-FE8B-85B4AAB97AC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51407B85-B010-C441-44EE-4AB60B7593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34F10C8B-B41C-4A5E-46CF-1230FA127A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992017E-75FA-00D1-07FB-73FC4EE6DC07}"/>
              </a:ext>
            </a:extLst>
          </p:cNvPr>
          <p:cNvSpPr>
            <a:spLocks noGrp="1"/>
          </p:cNvSpPr>
          <p:nvPr>
            <p:ph type="dt" sz="half" idx="10"/>
          </p:nvPr>
        </p:nvSpPr>
        <p:spPr/>
        <p:txBody>
          <a:bodyPr/>
          <a:lstStyle/>
          <a:p>
            <a:fld id="{71592CAA-51C6-4A0D-87B0-D2D88953651C}" type="datetimeFigureOut">
              <a:rPr kumimoji="1" lang="ja-JP" altLang="en-US" smtClean="0"/>
              <a:t>2026/8/26</a:t>
            </a:fld>
            <a:endParaRPr kumimoji="1" lang="ja-JP" altLang="en-US"/>
          </a:p>
        </p:txBody>
      </p:sp>
      <p:sp>
        <p:nvSpPr>
          <p:cNvPr id="6" name="フッター プレースホルダー 5">
            <a:extLst>
              <a:ext uri="{FF2B5EF4-FFF2-40B4-BE49-F238E27FC236}">
                <a16:creationId xmlns:a16="http://schemas.microsoft.com/office/drawing/2014/main" id="{448C48B2-C013-1776-C9CB-A1D675D82C6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79AAA2B-3C05-CFFA-4517-F3A8C300476B}"/>
              </a:ext>
            </a:extLst>
          </p:cNvPr>
          <p:cNvSpPr>
            <a:spLocks noGrp="1"/>
          </p:cNvSpPr>
          <p:nvPr>
            <p:ph type="sldNum" sz="quarter" idx="12"/>
          </p:nvPr>
        </p:nvSpPr>
        <p:spPr/>
        <p:txBody>
          <a:bodyPr/>
          <a:lstStyle/>
          <a:p>
            <a:fld id="{482A983C-0B8D-459E-BBED-830707DE3F06}" type="slidenum">
              <a:rPr kumimoji="1" lang="ja-JP" altLang="en-US" smtClean="0"/>
              <a:t>‹#›</a:t>
            </a:fld>
            <a:endParaRPr kumimoji="1" lang="ja-JP" altLang="en-US"/>
          </a:p>
        </p:txBody>
      </p:sp>
    </p:spTree>
    <p:extLst>
      <p:ext uri="{BB962C8B-B14F-4D97-AF65-F5344CB8AC3E}">
        <p14:creationId xmlns:p14="http://schemas.microsoft.com/office/powerpoint/2010/main" val="3557756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3308E3-FCC0-186E-5310-9C6388668FF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BA0C0FF-8E81-1216-0F1D-35786E858C7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8AC199F-2746-98C3-FF5A-35886C89CD86}"/>
              </a:ext>
            </a:extLst>
          </p:cNvPr>
          <p:cNvSpPr>
            <a:spLocks noGrp="1"/>
          </p:cNvSpPr>
          <p:nvPr>
            <p:ph type="dt" sz="half" idx="10"/>
          </p:nvPr>
        </p:nvSpPr>
        <p:spPr/>
        <p:txBody>
          <a:bodyPr/>
          <a:lstStyle/>
          <a:p>
            <a:fld id="{71592CAA-51C6-4A0D-87B0-D2D88953651C}" type="datetimeFigureOut">
              <a:rPr kumimoji="1" lang="ja-JP" altLang="en-US" smtClean="0"/>
              <a:t>2026/8/26</a:t>
            </a:fld>
            <a:endParaRPr kumimoji="1" lang="ja-JP" altLang="en-US"/>
          </a:p>
        </p:txBody>
      </p:sp>
      <p:sp>
        <p:nvSpPr>
          <p:cNvPr id="5" name="フッター プレースホルダー 4">
            <a:extLst>
              <a:ext uri="{FF2B5EF4-FFF2-40B4-BE49-F238E27FC236}">
                <a16:creationId xmlns:a16="http://schemas.microsoft.com/office/drawing/2014/main" id="{812A00A2-B7B2-A819-87A8-AE30B9DE5B2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E459559-3F78-AF6E-1987-B78B4BD3A275}"/>
              </a:ext>
            </a:extLst>
          </p:cNvPr>
          <p:cNvSpPr>
            <a:spLocks noGrp="1"/>
          </p:cNvSpPr>
          <p:nvPr>
            <p:ph type="sldNum" sz="quarter" idx="12"/>
          </p:nvPr>
        </p:nvSpPr>
        <p:spPr/>
        <p:txBody>
          <a:bodyPr/>
          <a:lstStyle/>
          <a:p>
            <a:fld id="{482A983C-0B8D-459E-BBED-830707DE3F06}" type="slidenum">
              <a:rPr kumimoji="1" lang="ja-JP" altLang="en-US" smtClean="0"/>
              <a:t>‹#›</a:t>
            </a:fld>
            <a:endParaRPr kumimoji="1" lang="ja-JP" altLang="en-US"/>
          </a:p>
        </p:txBody>
      </p:sp>
    </p:spTree>
    <p:extLst>
      <p:ext uri="{BB962C8B-B14F-4D97-AF65-F5344CB8AC3E}">
        <p14:creationId xmlns:p14="http://schemas.microsoft.com/office/powerpoint/2010/main" val="994869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AD7E59B-6715-149D-C86D-CAFF0DB6184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F9A8F36-103B-F54F-9E7F-513DED778E39}"/>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DE25B6F-4896-B105-9AB8-0D8DF92EBC9E}"/>
              </a:ext>
            </a:extLst>
          </p:cNvPr>
          <p:cNvSpPr>
            <a:spLocks noGrp="1"/>
          </p:cNvSpPr>
          <p:nvPr>
            <p:ph type="dt" sz="half" idx="10"/>
          </p:nvPr>
        </p:nvSpPr>
        <p:spPr/>
        <p:txBody>
          <a:bodyPr/>
          <a:lstStyle/>
          <a:p>
            <a:fld id="{71592CAA-51C6-4A0D-87B0-D2D88953651C}" type="datetimeFigureOut">
              <a:rPr kumimoji="1" lang="ja-JP" altLang="en-US" smtClean="0"/>
              <a:t>2026/8/26</a:t>
            </a:fld>
            <a:endParaRPr kumimoji="1" lang="ja-JP" altLang="en-US"/>
          </a:p>
        </p:txBody>
      </p:sp>
      <p:sp>
        <p:nvSpPr>
          <p:cNvPr id="5" name="フッター プレースホルダー 4">
            <a:extLst>
              <a:ext uri="{FF2B5EF4-FFF2-40B4-BE49-F238E27FC236}">
                <a16:creationId xmlns:a16="http://schemas.microsoft.com/office/drawing/2014/main" id="{8BD5B0E7-FE73-FCFF-5D42-A239FB2F446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8DC855F-E47E-3362-94A1-4784564B5D05}"/>
              </a:ext>
            </a:extLst>
          </p:cNvPr>
          <p:cNvSpPr>
            <a:spLocks noGrp="1"/>
          </p:cNvSpPr>
          <p:nvPr>
            <p:ph type="sldNum" sz="quarter" idx="12"/>
          </p:nvPr>
        </p:nvSpPr>
        <p:spPr/>
        <p:txBody>
          <a:bodyPr/>
          <a:lstStyle/>
          <a:p>
            <a:fld id="{482A983C-0B8D-459E-BBED-830707DE3F06}" type="slidenum">
              <a:rPr kumimoji="1" lang="ja-JP" altLang="en-US" smtClean="0"/>
              <a:t>‹#›</a:t>
            </a:fld>
            <a:endParaRPr kumimoji="1" lang="ja-JP" altLang="en-US"/>
          </a:p>
        </p:txBody>
      </p:sp>
    </p:spTree>
    <p:extLst>
      <p:ext uri="{BB962C8B-B14F-4D97-AF65-F5344CB8AC3E}">
        <p14:creationId xmlns:p14="http://schemas.microsoft.com/office/powerpoint/2010/main" val="2009553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6E6E6"/>
          </a:solidFill>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p:spPr>
        <p:txBody>
          <a:bodyPr/>
          <a:lstStyle/>
          <a:p>
            <a:endParaRPr lang="ja-JP" altLang="en-US"/>
          </a:p>
        </p:txBody>
      </p:sp>
    </p:spTree>
    <p:extLst>
      <p:ext uri="{BB962C8B-B14F-4D97-AF65-F5344CB8AC3E}">
        <p14:creationId xmlns:p14="http://schemas.microsoft.com/office/powerpoint/2010/main" val="3816942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F18BCAB-5F4F-BD71-90D5-BAA80452EE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B36ADCD-0994-CBB5-438F-E5305561CA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75F6FCA-0F14-09C2-0BE3-FF8DEE52BB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592CAA-51C6-4A0D-87B0-D2D88953651C}" type="datetimeFigureOut">
              <a:rPr kumimoji="1" lang="ja-JP" altLang="en-US" smtClean="0"/>
              <a:t>2026/8/26</a:t>
            </a:fld>
            <a:endParaRPr kumimoji="1" lang="ja-JP" altLang="en-US"/>
          </a:p>
        </p:txBody>
      </p:sp>
      <p:sp>
        <p:nvSpPr>
          <p:cNvPr id="5" name="フッター プレースホルダー 4">
            <a:extLst>
              <a:ext uri="{FF2B5EF4-FFF2-40B4-BE49-F238E27FC236}">
                <a16:creationId xmlns:a16="http://schemas.microsoft.com/office/drawing/2014/main" id="{F4033BB1-E4BE-B36E-8C92-4B241B4236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AB6DCDB-38FC-93EB-6477-37CAC137F2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2A983C-0B8D-459E-BBED-830707DE3F06}" type="slidenum">
              <a:rPr kumimoji="1" lang="ja-JP" altLang="en-US" smtClean="0"/>
              <a:t>‹#›</a:t>
            </a:fld>
            <a:endParaRPr kumimoji="1" lang="ja-JP" altLang="en-US"/>
          </a:p>
        </p:txBody>
      </p:sp>
    </p:spTree>
    <p:extLst>
      <p:ext uri="{BB962C8B-B14F-4D97-AF65-F5344CB8AC3E}">
        <p14:creationId xmlns:p14="http://schemas.microsoft.com/office/powerpoint/2010/main" val="34365082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2316857"/>
            <a:ext cx="10868745" cy="516731"/>
          </a:xfrm>
          <a:prstGeom prst="rect">
            <a:avLst/>
          </a:prstGeom>
          <a:noFill/>
          <a:ln/>
        </p:spPr>
        <p:txBody>
          <a:bodyPr wrap="none" lIns="0" tIns="0" rIns="0" bIns="0" rtlCol="0" anchor="t"/>
          <a:lstStyle/>
          <a:p>
            <a:pPr marL="0" indent="0" algn="l">
              <a:lnSpc>
                <a:spcPct val="104000"/>
              </a:lnSpc>
              <a:buNone/>
            </a:pPr>
            <a:r>
              <a:rPr lang="ja-JP" altLang="en-US" sz="3250" dirty="0">
                <a:solidFill>
                  <a:srgbClr val="000000"/>
                </a:solidFill>
                <a:latin typeface="Noto Sans JP" pitchFamily="34" charset="0"/>
                <a:ea typeface="Noto Sans JP" pitchFamily="34" charset="-122"/>
                <a:cs typeface="Noto Sans JP" pitchFamily="34" charset="-120"/>
              </a:rPr>
              <a:t>G-SYS 改善検討 打ち合わせ議事メモ</a:t>
            </a:r>
            <a:endParaRPr lang="ja-JP" sz="3250" dirty="0"/>
          </a:p>
        </p:txBody>
      </p:sp>
      <p:sp>
        <p:nvSpPr>
          <p:cNvPr id="3" name="Text 1"/>
          <p:cNvSpPr/>
          <p:nvPr/>
        </p:nvSpPr>
        <p:spPr>
          <a:xfrm>
            <a:off x="661475" y="2899668"/>
            <a:ext cx="10868745" cy="413445"/>
          </a:xfrm>
          <a:prstGeom prst="rect">
            <a:avLst/>
          </a:prstGeom>
          <a:noFill/>
          <a:ln/>
        </p:spPr>
        <p:txBody>
          <a:bodyPr wrap="none" lIns="0" tIns="0" rIns="0" bIns="0" rtlCol="0" anchor="t"/>
          <a:lstStyle/>
          <a:p>
            <a:pPr marL="0" indent="0" algn="l">
              <a:lnSpc>
                <a:spcPct val="104000"/>
              </a:lnSpc>
              <a:buNone/>
            </a:pPr>
            <a:r>
              <a:rPr lang="ja-JP" altLang="en-US" sz="2600" dirty="0">
                <a:solidFill>
                  <a:srgbClr val="000000"/>
                </a:solidFill>
                <a:latin typeface="Noto Sans JP" pitchFamily="34" charset="0"/>
                <a:ea typeface="Noto Sans JP" pitchFamily="34" charset="-122"/>
                <a:cs typeface="Noto Sans JP" pitchFamily="34" charset="-120"/>
              </a:rPr>
              <a:t>1. 打ち合わせ概要</a:t>
            </a:r>
            <a:endParaRPr lang="ja-JP" sz="2600" dirty="0"/>
          </a:p>
        </p:txBody>
      </p:sp>
      <p:sp>
        <p:nvSpPr>
          <p:cNvPr id="4" name="Text 2"/>
          <p:cNvSpPr/>
          <p:nvPr/>
        </p:nvSpPr>
        <p:spPr>
          <a:xfrm>
            <a:off x="661475" y="3561159"/>
            <a:ext cx="10868745" cy="979884"/>
          </a:xfrm>
          <a:prstGeom prst="rect">
            <a:avLst/>
          </a:prstGeom>
          <a:noFill/>
          <a:ln/>
        </p:spPr>
        <p:txBody>
          <a:bodyPr wrap="square" lIns="0" tIns="0" rIns="0" bIns="0" rtlCol="0" anchor="t"/>
          <a:lstStyle/>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G-SYSを利用した国内外ブランド商品の発注・在庫・価格管理業務について、現状の運用課題と今後の改善方向について意見交換を実施しました。</a:t>
            </a:r>
            <a:endParaRPr lang="ja-JP" sz="1300" dirty="0"/>
          </a:p>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特に、現在Excel・CSV・メールを介して行っている作業を可能な範囲でG-SYS上に集約し、発注業務を中心にオンラインで完結できる仕組みについて検討しました。</a:t>
            </a:r>
            <a:endParaRPr lang="ja-JP" sz="1300" dirty="0"/>
          </a:p>
        </p:txBody>
      </p:sp>
      <p:pic>
        <p:nvPicPr>
          <p:cNvPr id="6" name="図 5">
            <a:extLst>
              <a:ext uri="{FF2B5EF4-FFF2-40B4-BE49-F238E27FC236}">
                <a16:creationId xmlns:a16="http://schemas.microsoft.com/office/drawing/2014/main" id="{6FAEB8D3-41AB-911C-53E9-DAD2A140A4DB}"/>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10540683" y="147003"/>
            <a:ext cx="14351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スライド番号プレースホルダー 5">
            <a:extLst>
              <a:ext uri="{FF2B5EF4-FFF2-40B4-BE49-F238E27FC236}">
                <a16:creationId xmlns:a16="http://schemas.microsoft.com/office/drawing/2014/main" id="{0C39E0F0-E78A-9D04-DB91-CC6E8DD05927}"/>
              </a:ext>
            </a:extLst>
          </p:cNvPr>
          <p:cNvSpPr txBox="1">
            <a:spLocks/>
          </p:cNvSpPr>
          <p:nvPr/>
        </p:nvSpPr>
        <p:spPr>
          <a:xfrm>
            <a:off x="71120" y="6422640"/>
            <a:ext cx="540000" cy="360000"/>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B948492C-AFDE-7B4E-95C2-B0C978FE8518}" type="slidenum">
              <a:rPr lang="ja-JP" altLang="en-US" sz="1400" smtClean="0"/>
              <a:pPr algn="r"/>
              <a:t>1</a:t>
            </a:fld>
            <a:endParaRPr lang="ja-JP" alt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454819"/>
            <a:ext cx="10868745" cy="516731"/>
          </a:xfrm>
          <a:prstGeom prst="rect">
            <a:avLst/>
          </a:prstGeom>
          <a:noFill/>
          <a:ln/>
        </p:spPr>
        <p:txBody>
          <a:bodyPr wrap="none" lIns="0" tIns="0" rIns="0" bIns="0" rtlCol="0" anchor="t"/>
          <a:lstStyle/>
          <a:p>
            <a:pPr marL="0" indent="0" algn="l">
              <a:lnSpc>
                <a:spcPct val="104000"/>
              </a:lnSpc>
              <a:buNone/>
            </a:pPr>
            <a:r>
              <a:rPr lang="ja-JP" altLang="en-US" sz="3250" dirty="0">
                <a:solidFill>
                  <a:srgbClr val="000000"/>
                </a:solidFill>
                <a:latin typeface="Noto Sans JP" pitchFamily="34" charset="0"/>
                <a:ea typeface="Noto Sans JP" pitchFamily="34" charset="-122"/>
                <a:cs typeface="Noto Sans JP" pitchFamily="34" charset="-120"/>
              </a:rPr>
              <a:t>2. 現在の主な課題</a:t>
            </a:r>
            <a:endParaRPr lang="ja-JP" sz="3250" dirty="0"/>
          </a:p>
        </p:txBody>
      </p:sp>
      <p:sp>
        <p:nvSpPr>
          <p:cNvPr id="3" name="Text 1"/>
          <p:cNvSpPr/>
          <p:nvPr/>
        </p:nvSpPr>
        <p:spPr>
          <a:xfrm>
            <a:off x="661475" y="1037630"/>
            <a:ext cx="10868745" cy="413445"/>
          </a:xfrm>
          <a:prstGeom prst="rect">
            <a:avLst/>
          </a:prstGeom>
          <a:noFill/>
          <a:ln/>
        </p:spPr>
        <p:txBody>
          <a:bodyPr wrap="none" lIns="0" tIns="0" rIns="0" bIns="0" rtlCol="0" anchor="t"/>
          <a:lstStyle/>
          <a:p>
            <a:pPr marL="0" indent="0" algn="l">
              <a:lnSpc>
                <a:spcPct val="104000"/>
              </a:lnSpc>
              <a:buNone/>
            </a:pPr>
            <a:r>
              <a:rPr lang="ja-JP" altLang="en-US" sz="2600" dirty="0">
                <a:solidFill>
                  <a:srgbClr val="000000"/>
                </a:solidFill>
                <a:latin typeface="Noto Sans JP" pitchFamily="34" charset="0"/>
                <a:ea typeface="Noto Sans JP" pitchFamily="34" charset="-122"/>
                <a:cs typeface="Noto Sans JP" pitchFamily="34" charset="-120"/>
              </a:rPr>
              <a:t>発注業務の作業負荷</a:t>
            </a:r>
            <a:endParaRPr lang="ja-JP" sz="2600" dirty="0"/>
          </a:p>
        </p:txBody>
      </p:sp>
      <p:sp>
        <p:nvSpPr>
          <p:cNvPr id="4" name="Text 2"/>
          <p:cNvSpPr/>
          <p:nvPr/>
        </p:nvSpPr>
        <p:spPr>
          <a:xfrm>
            <a:off x="661475" y="1699121"/>
            <a:ext cx="10868745" cy="715268"/>
          </a:xfrm>
          <a:prstGeom prst="rect">
            <a:avLst/>
          </a:prstGeom>
          <a:noFill/>
          <a:ln/>
        </p:spPr>
        <p:txBody>
          <a:bodyPr wrap="square" lIns="0" tIns="0" rIns="0" bIns="0" rtlCol="0" anchor="t"/>
          <a:lstStyle/>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国内ブランドの取扱い増加に伴い、発注件数も増加しています。</a:t>
            </a:r>
            <a:endParaRPr lang="ja-JP" sz="1300" dirty="0"/>
          </a:p>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現在の発注業務では、</a:t>
            </a:r>
            <a:endParaRPr lang="ja-JP" sz="1300" dirty="0"/>
          </a:p>
        </p:txBody>
      </p:sp>
      <p:sp>
        <p:nvSpPr>
          <p:cNvPr id="5" name="Shape 3"/>
          <p:cNvSpPr/>
          <p:nvPr/>
        </p:nvSpPr>
        <p:spPr>
          <a:xfrm>
            <a:off x="661475" y="2600424"/>
            <a:ext cx="5351725"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6" name="Text 4"/>
          <p:cNvSpPr/>
          <p:nvPr/>
        </p:nvSpPr>
        <p:spPr>
          <a:xfrm>
            <a:off x="833119" y="2772073"/>
            <a:ext cx="5008437"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在庫・欠品状況の確認</a:t>
            </a:r>
            <a:endParaRPr lang="ja-JP" sz="1600" dirty="0"/>
          </a:p>
        </p:txBody>
      </p:sp>
      <p:sp>
        <p:nvSpPr>
          <p:cNvPr id="7" name="Shape 5"/>
          <p:cNvSpPr/>
          <p:nvPr/>
        </p:nvSpPr>
        <p:spPr>
          <a:xfrm>
            <a:off x="6178495" y="2600424"/>
            <a:ext cx="5351725"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8" name="Text 6"/>
          <p:cNvSpPr/>
          <p:nvPr/>
        </p:nvSpPr>
        <p:spPr>
          <a:xfrm>
            <a:off x="6350139" y="2772073"/>
            <a:ext cx="5008437"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データのダウンロード</a:t>
            </a:r>
            <a:endParaRPr lang="ja-JP" sz="1600" dirty="0"/>
          </a:p>
        </p:txBody>
      </p:sp>
      <p:sp>
        <p:nvSpPr>
          <p:cNvPr id="9" name="Shape 7"/>
          <p:cNvSpPr/>
          <p:nvPr/>
        </p:nvSpPr>
        <p:spPr>
          <a:xfrm>
            <a:off x="661475" y="3367484"/>
            <a:ext cx="5351725"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10" name="Text 8"/>
          <p:cNvSpPr/>
          <p:nvPr/>
        </p:nvSpPr>
        <p:spPr>
          <a:xfrm>
            <a:off x="833119" y="3539133"/>
            <a:ext cx="5008437"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Excel上での発注数量入力・修正</a:t>
            </a:r>
            <a:endParaRPr lang="ja-JP" sz="1600" dirty="0"/>
          </a:p>
        </p:txBody>
      </p:sp>
      <p:sp>
        <p:nvSpPr>
          <p:cNvPr id="11" name="Shape 9"/>
          <p:cNvSpPr/>
          <p:nvPr/>
        </p:nvSpPr>
        <p:spPr>
          <a:xfrm>
            <a:off x="6178495" y="3367484"/>
            <a:ext cx="5351725"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12" name="Text 10"/>
          <p:cNvSpPr/>
          <p:nvPr/>
        </p:nvSpPr>
        <p:spPr>
          <a:xfrm>
            <a:off x="6350139" y="3539133"/>
            <a:ext cx="5008437"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メーカー向け発注書の作成</a:t>
            </a:r>
            <a:endParaRPr lang="ja-JP" sz="1600" dirty="0"/>
          </a:p>
        </p:txBody>
      </p:sp>
      <p:sp>
        <p:nvSpPr>
          <p:cNvPr id="13" name="Shape 11"/>
          <p:cNvSpPr/>
          <p:nvPr/>
        </p:nvSpPr>
        <p:spPr>
          <a:xfrm>
            <a:off x="661475" y="4134545"/>
            <a:ext cx="5351725"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14" name="Text 12"/>
          <p:cNvSpPr/>
          <p:nvPr/>
        </p:nvSpPr>
        <p:spPr>
          <a:xfrm>
            <a:off x="833119" y="4306193"/>
            <a:ext cx="5008437"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メーカーへのメール送付</a:t>
            </a:r>
            <a:endParaRPr lang="ja-JP" sz="1600" dirty="0"/>
          </a:p>
        </p:txBody>
      </p:sp>
      <p:sp>
        <p:nvSpPr>
          <p:cNvPr id="15" name="Shape 13"/>
          <p:cNvSpPr/>
          <p:nvPr/>
        </p:nvSpPr>
        <p:spPr>
          <a:xfrm>
            <a:off x="6178495" y="4134545"/>
            <a:ext cx="5351725"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16" name="Text 14"/>
          <p:cNvSpPr/>
          <p:nvPr/>
        </p:nvSpPr>
        <p:spPr>
          <a:xfrm>
            <a:off x="6350139" y="4306193"/>
            <a:ext cx="5008437"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メーカー回答後の数量・納期修正</a:t>
            </a:r>
            <a:endParaRPr lang="ja-JP" sz="1600" dirty="0"/>
          </a:p>
        </p:txBody>
      </p:sp>
      <p:sp>
        <p:nvSpPr>
          <p:cNvPr id="17" name="Shape 15"/>
          <p:cNvSpPr/>
          <p:nvPr/>
        </p:nvSpPr>
        <p:spPr>
          <a:xfrm>
            <a:off x="661475" y="4901605"/>
            <a:ext cx="5351725"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18" name="Text 16"/>
          <p:cNvSpPr/>
          <p:nvPr/>
        </p:nvSpPr>
        <p:spPr>
          <a:xfrm>
            <a:off x="833119" y="5073253"/>
            <a:ext cx="5008437"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Stock List等への反映</a:t>
            </a:r>
            <a:endParaRPr lang="ja-JP" sz="1600" dirty="0"/>
          </a:p>
        </p:txBody>
      </p:sp>
      <p:sp>
        <p:nvSpPr>
          <p:cNvPr id="19" name="Shape 17"/>
          <p:cNvSpPr/>
          <p:nvPr/>
        </p:nvSpPr>
        <p:spPr>
          <a:xfrm>
            <a:off x="6178495" y="4901605"/>
            <a:ext cx="5351725"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20" name="Text 18"/>
          <p:cNvSpPr/>
          <p:nvPr/>
        </p:nvSpPr>
        <p:spPr>
          <a:xfrm>
            <a:off x="6350139" y="5073253"/>
            <a:ext cx="5008437"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必要に応じた倉庫側情報の修正</a:t>
            </a:r>
            <a:endParaRPr lang="ja-JP" sz="1600" dirty="0"/>
          </a:p>
        </p:txBody>
      </p:sp>
      <p:sp>
        <p:nvSpPr>
          <p:cNvPr id="21" name="Text 19"/>
          <p:cNvSpPr/>
          <p:nvPr/>
        </p:nvSpPr>
        <p:spPr>
          <a:xfrm>
            <a:off x="661475" y="5689402"/>
            <a:ext cx="10868745" cy="715268"/>
          </a:xfrm>
          <a:prstGeom prst="rect">
            <a:avLst/>
          </a:prstGeom>
          <a:noFill/>
          <a:ln/>
        </p:spPr>
        <p:txBody>
          <a:bodyPr wrap="square" lIns="0" tIns="0" rIns="0" bIns="0" rtlCol="0" anchor="t"/>
          <a:lstStyle/>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など、複数の手作業が発生しています。</a:t>
            </a:r>
            <a:endParaRPr lang="ja-JP" sz="1300" dirty="0"/>
          </a:p>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特に、データをダウンロードしてExcel等で編集し、再度システムへ反映する作業が繰り返されていることが、業務負荷の一因となっています。</a:t>
            </a:r>
            <a:endParaRPr lang="ja-JP" sz="1300" dirty="0"/>
          </a:p>
        </p:txBody>
      </p:sp>
      <p:pic>
        <p:nvPicPr>
          <p:cNvPr id="23" name="図 22">
            <a:extLst>
              <a:ext uri="{FF2B5EF4-FFF2-40B4-BE49-F238E27FC236}">
                <a16:creationId xmlns:a16="http://schemas.microsoft.com/office/drawing/2014/main" id="{8B750997-9C0E-1089-D215-D2B6338894F4}"/>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10540683" y="147003"/>
            <a:ext cx="14351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スライド番号プレースホルダー 5">
            <a:extLst>
              <a:ext uri="{FF2B5EF4-FFF2-40B4-BE49-F238E27FC236}">
                <a16:creationId xmlns:a16="http://schemas.microsoft.com/office/drawing/2014/main" id="{932926D2-6673-544D-3ACB-20CA28565459}"/>
              </a:ext>
            </a:extLst>
          </p:cNvPr>
          <p:cNvSpPr txBox="1">
            <a:spLocks/>
          </p:cNvSpPr>
          <p:nvPr/>
        </p:nvSpPr>
        <p:spPr>
          <a:xfrm>
            <a:off x="71120" y="6422640"/>
            <a:ext cx="540000" cy="360000"/>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B948492C-AFDE-7B4E-95C2-B0C978FE8518}" type="slidenum">
              <a:rPr lang="ja-JP" altLang="en-US" sz="1400" smtClean="0"/>
              <a:pPr algn="r"/>
              <a:t>2</a:t>
            </a:fld>
            <a:endParaRPr lang="ja-JP" alt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658614"/>
            <a:ext cx="10868745" cy="516731"/>
          </a:xfrm>
          <a:prstGeom prst="rect">
            <a:avLst/>
          </a:prstGeom>
          <a:noFill/>
          <a:ln/>
        </p:spPr>
        <p:txBody>
          <a:bodyPr wrap="none" lIns="0" tIns="0" rIns="0" bIns="0" rtlCol="0" anchor="t"/>
          <a:lstStyle/>
          <a:p>
            <a:pPr marL="0" indent="0" algn="l">
              <a:lnSpc>
                <a:spcPct val="104000"/>
              </a:lnSpc>
              <a:buNone/>
            </a:pPr>
            <a:r>
              <a:rPr lang="ja-JP" altLang="en-US" sz="3250" dirty="0">
                <a:solidFill>
                  <a:srgbClr val="000000"/>
                </a:solidFill>
                <a:latin typeface="Noto Sans JP" pitchFamily="34" charset="0"/>
                <a:ea typeface="Noto Sans JP" pitchFamily="34" charset="-122"/>
                <a:cs typeface="Noto Sans JP" pitchFamily="34" charset="-120"/>
              </a:rPr>
              <a:t>3. 発注業務のオンライン化</a:t>
            </a:r>
            <a:endParaRPr lang="ja-JP" sz="3250" dirty="0"/>
          </a:p>
        </p:txBody>
      </p:sp>
      <p:sp>
        <p:nvSpPr>
          <p:cNvPr id="3" name="Text 1"/>
          <p:cNvSpPr/>
          <p:nvPr/>
        </p:nvSpPr>
        <p:spPr>
          <a:xfrm>
            <a:off x="661475" y="1506041"/>
            <a:ext cx="10868745" cy="715268"/>
          </a:xfrm>
          <a:prstGeom prst="rect">
            <a:avLst/>
          </a:prstGeom>
          <a:noFill/>
          <a:ln/>
        </p:spPr>
        <p:txBody>
          <a:bodyPr wrap="square" lIns="0" tIns="0" rIns="0" bIns="0" rtlCol="0" anchor="t"/>
          <a:lstStyle/>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今後の改善案として、G-SYS上で発注業務をできるだけ完結させる方向について検討しました。</a:t>
            </a:r>
            <a:endParaRPr lang="ja-JP" sz="1300" dirty="0"/>
          </a:p>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想定される流れとしては、</a:t>
            </a:r>
            <a:endParaRPr lang="ja-JP" sz="1300" dirty="0"/>
          </a:p>
        </p:txBody>
      </p:sp>
      <p:sp>
        <p:nvSpPr>
          <p:cNvPr id="4" name="Text 2"/>
          <p:cNvSpPr/>
          <p:nvPr/>
        </p:nvSpPr>
        <p:spPr>
          <a:xfrm>
            <a:off x="661475" y="2407345"/>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000000"/>
                </a:solidFill>
                <a:latin typeface="Noto Sans JP Light" pitchFamily="34" charset="0"/>
                <a:ea typeface="Noto Sans JP Light" pitchFamily="34" charset="-122"/>
                <a:cs typeface="Noto Sans JP Light" pitchFamily="34" charset="-120"/>
              </a:rPr>
              <a:t>01</a:t>
            </a:r>
            <a:endParaRPr lang="en-US" sz="1300" dirty="0"/>
          </a:p>
        </p:txBody>
      </p:sp>
      <p:sp>
        <p:nvSpPr>
          <p:cNvPr id="5" name="Shape 3"/>
          <p:cNvSpPr/>
          <p:nvPr/>
        </p:nvSpPr>
        <p:spPr>
          <a:xfrm>
            <a:off x="661475" y="2669282"/>
            <a:ext cx="3512653" cy="19050"/>
          </a:xfrm>
          <a:prstGeom prst="rect">
            <a:avLst/>
          </a:prstGeom>
          <a:solidFill>
            <a:srgbClr val="EE7700"/>
          </a:solidFill>
          <a:ln/>
        </p:spPr>
        <p:txBody>
          <a:bodyPr/>
          <a:lstStyle/>
          <a:p>
            <a:endParaRPr lang="ja-JP" altLang="en-US"/>
          </a:p>
        </p:txBody>
      </p:sp>
      <p:sp>
        <p:nvSpPr>
          <p:cNvPr id="6" name="Text 4"/>
          <p:cNvSpPr/>
          <p:nvPr/>
        </p:nvSpPr>
        <p:spPr>
          <a:xfrm>
            <a:off x="661475" y="2790031"/>
            <a:ext cx="3512653"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G-SYS上でSKU・在庫状況を確認</a:t>
            </a:r>
            <a:endParaRPr lang="ja-JP" sz="1600" dirty="0"/>
          </a:p>
        </p:txBody>
      </p:sp>
      <p:sp>
        <p:nvSpPr>
          <p:cNvPr id="7" name="Text 5"/>
          <p:cNvSpPr/>
          <p:nvPr/>
        </p:nvSpPr>
        <p:spPr>
          <a:xfrm>
            <a:off x="4339422" y="2407345"/>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000000"/>
                </a:solidFill>
                <a:latin typeface="Noto Sans JP Light" pitchFamily="34" charset="0"/>
                <a:ea typeface="Noto Sans JP Light" pitchFamily="34" charset="-122"/>
                <a:cs typeface="Noto Sans JP Light" pitchFamily="34" charset="-120"/>
              </a:rPr>
              <a:t>02</a:t>
            </a:r>
            <a:endParaRPr lang="en-US" sz="1300" dirty="0"/>
          </a:p>
        </p:txBody>
      </p:sp>
      <p:sp>
        <p:nvSpPr>
          <p:cNvPr id="8" name="Shape 6"/>
          <p:cNvSpPr/>
          <p:nvPr/>
        </p:nvSpPr>
        <p:spPr>
          <a:xfrm>
            <a:off x="4339422" y="2669282"/>
            <a:ext cx="3512752" cy="19050"/>
          </a:xfrm>
          <a:prstGeom prst="rect">
            <a:avLst/>
          </a:prstGeom>
          <a:solidFill>
            <a:srgbClr val="EE7700"/>
          </a:solidFill>
          <a:ln/>
        </p:spPr>
        <p:txBody>
          <a:bodyPr/>
          <a:lstStyle/>
          <a:p>
            <a:endParaRPr lang="ja-JP" altLang="en-US"/>
          </a:p>
        </p:txBody>
      </p:sp>
      <p:sp>
        <p:nvSpPr>
          <p:cNvPr id="9" name="Text 7"/>
          <p:cNvSpPr/>
          <p:nvPr/>
        </p:nvSpPr>
        <p:spPr>
          <a:xfrm>
            <a:off x="4339422" y="2790031"/>
            <a:ext cx="3512752"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欠品商品や発注候補を確認</a:t>
            </a:r>
            <a:endParaRPr lang="ja-JP" sz="1600" dirty="0"/>
          </a:p>
        </p:txBody>
      </p:sp>
      <p:sp>
        <p:nvSpPr>
          <p:cNvPr id="10" name="Text 8"/>
          <p:cNvSpPr/>
          <p:nvPr/>
        </p:nvSpPr>
        <p:spPr>
          <a:xfrm>
            <a:off x="8017468" y="2407345"/>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000000"/>
                </a:solidFill>
                <a:latin typeface="Noto Sans JP Light" pitchFamily="34" charset="0"/>
                <a:ea typeface="Noto Sans JP Light" pitchFamily="34" charset="-122"/>
                <a:cs typeface="Noto Sans JP Light" pitchFamily="34" charset="-120"/>
              </a:rPr>
              <a:t>03</a:t>
            </a:r>
            <a:endParaRPr lang="en-US" sz="1300" dirty="0"/>
          </a:p>
        </p:txBody>
      </p:sp>
      <p:sp>
        <p:nvSpPr>
          <p:cNvPr id="11" name="Shape 9"/>
          <p:cNvSpPr/>
          <p:nvPr/>
        </p:nvSpPr>
        <p:spPr>
          <a:xfrm>
            <a:off x="8017468" y="2669282"/>
            <a:ext cx="3512653" cy="19050"/>
          </a:xfrm>
          <a:prstGeom prst="rect">
            <a:avLst/>
          </a:prstGeom>
          <a:solidFill>
            <a:srgbClr val="EE7700"/>
          </a:solidFill>
          <a:ln/>
        </p:spPr>
        <p:txBody>
          <a:bodyPr/>
          <a:lstStyle/>
          <a:p>
            <a:endParaRPr lang="ja-JP" altLang="en-US"/>
          </a:p>
        </p:txBody>
      </p:sp>
      <p:sp>
        <p:nvSpPr>
          <p:cNvPr id="12" name="Text 10"/>
          <p:cNvSpPr/>
          <p:nvPr/>
        </p:nvSpPr>
        <p:spPr>
          <a:xfrm>
            <a:off x="8017468" y="2790031"/>
            <a:ext cx="3512653"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発注数量の参考値を表示</a:t>
            </a:r>
            <a:endParaRPr lang="ja-JP" sz="1600" dirty="0"/>
          </a:p>
        </p:txBody>
      </p:sp>
      <p:sp>
        <p:nvSpPr>
          <p:cNvPr id="13" name="Text 11"/>
          <p:cNvSpPr/>
          <p:nvPr/>
        </p:nvSpPr>
        <p:spPr>
          <a:xfrm>
            <a:off x="661475" y="3337818"/>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000000"/>
                </a:solidFill>
                <a:latin typeface="Noto Sans JP Light" pitchFamily="34" charset="0"/>
                <a:ea typeface="Noto Sans JP Light" pitchFamily="34" charset="-122"/>
                <a:cs typeface="Noto Sans JP Light" pitchFamily="34" charset="-120"/>
              </a:rPr>
              <a:t>04</a:t>
            </a:r>
            <a:endParaRPr lang="en-US" sz="1300" dirty="0"/>
          </a:p>
        </p:txBody>
      </p:sp>
      <p:sp>
        <p:nvSpPr>
          <p:cNvPr id="14" name="Shape 12"/>
          <p:cNvSpPr/>
          <p:nvPr/>
        </p:nvSpPr>
        <p:spPr>
          <a:xfrm>
            <a:off x="661475" y="3599755"/>
            <a:ext cx="3512653" cy="19050"/>
          </a:xfrm>
          <a:prstGeom prst="rect">
            <a:avLst/>
          </a:prstGeom>
          <a:solidFill>
            <a:srgbClr val="EE7700"/>
          </a:solidFill>
          <a:ln/>
        </p:spPr>
        <p:txBody>
          <a:bodyPr/>
          <a:lstStyle/>
          <a:p>
            <a:endParaRPr lang="ja-JP" altLang="en-US"/>
          </a:p>
        </p:txBody>
      </p:sp>
      <p:sp>
        <p:nvSpPr>
          <p:cNvPr id="15" name="Text 13"/>
          <p:cNvSpPr/>
          <p:nvPr/>
        </p:nvSpPr>
        <p:spPr>
          <a:xfrm>
            <a:off x="661475" y="3720505"/>
            <a:ext cx="3512653"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担当者が必要に応じて数量を修正</a:t>
            </a:r>
            <a:endParaRPr lang="ja-JP" sz="1600" dirty="0"/>
          </a:p>
        </p:txBody>
      </p:sp>
      <p:sp>
        <p:nvSpPr>
          <p:cNvPr id="16" name="Text 14"/>
          <p:cNvSpPr/>
          <p:nvPr/>
        </p:nvSpPr>
        <p:spPr>
          <a:xfrm>
            <a:off x="4339422" y="3337818"/>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000000"/>
                </a:solidFill>
                <a:latin typeface="Noto Sans JP Light" pitchFamily="34" charset="0"/>
                <a:ea typeface="Noto Sans JP Light" pitchFamily="34" charset="-122"/>
                <a:cs typeface="Noto Sans JP Light" pitchFamily="34" charset="-120"/>
              </a:rPr>
              <a:t>05</a:t>
            </a:r>
            <a:endParaRPr lang="en-US" sz="1300" dirty="0"/>
          </a:p>
        </p:txBody>
      </p:sp>
      <p:sp>
        <p:nvSpPr>
          <p:cNvPr id="17" name="Shape 15"/>
          <p:cNvSpPr/>
          <p:nvPr/>
        </p:nvSpPr>
        <p:spPr>
          <a:xfrm>
            <a:off x="4339422" y="3599755"/>
            <a:ext cx="3512752" cy="19050"/>
          </a:xfrm>
          <a:prstGeom prst="rect">
            <a:avLst/>
          </a:prstGeom>
          <a:solidFill>
            <a:srgbClr val="EE7700"/>
          </a:solidFill>
          <a:ln/>
        </p:spPr>
        <p:txBody>
          <a:bodyPr/>
          <a:lstStyle/>
          <a:p>
            <a:endParaRPr lang="ja-JP" altLang="en-US"/>
          </a:p>
        </p:txBody>
      </p:sp>
      <p:sp>
        <p:nvSpPr>
          <p:cNvPr id="18" name="Text 16"/>
          <p:cNvSpPr/>
          <p:nvPr/>
        </p:nvSpPr>
        <p:spPr>
          <a:xfrm>
            <a:off x="4339422" y="3720505"/>
            <a:ext cx="3512752"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発注内容を確定</a:t>
            </a:r>
            <a:endParaRPr lang="ja-JP" sz="1600" dirty="0"/>
          </a:p>
        </p:txBody>
      </p:sp>
      <p:sp>
        <p:nvSpPr>
          <p:cNvPr id="19" name="Text 17"/>
          <p:cNvSpPr/>
          <p:nvPr/>
        </p:nvSpPr>
        <p:spPr>
          <a:xfrm>
            <a:off x="8017468" y="3337818"/>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000000"/>
                </a:solidFill>
                <a:latin typeface="Noto Sans JP Light" pitchFamily="34" charset="0"/>
                <a:ea typeface="Noto Sans JP Light" pitchFamily="34" charset="-122"/>
                <a:cs typeface="Noto Sans JP Light" pitchFamily="34" charset="-120"/>
              </a:rPr>
              <a:t>06</a:t>
            </a:r>
            <a:endParaRPr lang="en-US" sz="1300" dirty="0"/>
          </a:p>
        </p:txBody>
      </p:sp>
      <p:sp>
        <p:nvSpPr>
          <p:cNvPr id="20" name="Shape 18"/>
          <p:cNvSpPr/>
          <p:nvPr/>
        </p:nvSpPr>
        <p:spPr>
          <a:xfrm>
            <a:off x="8017468" y="3599755"/>
            <a:ext cx="3512653" cy="19050"/>
          </a:xfrm>
          <a:prstGeom prst="rect">
            <a:avLst/>
          </a:prstGeom>
          <a:solidFill>
            <a:srgbClr val="EE7700"/>
          </a:solidFill>
          <a:ln/>
        </p:spPr>
        <p:txBody>
          <a:bodyPr/>
          <a:lstStyle/>
          <a:p>
            <a:endParaRPr lang="ja-JP" altLang="en-US"/>
          </a:p>
        </p:txBody>
      </p:sp>
      <p:sp>
        <p:nvSpPr>
          <p:cNvPr id="21" name="Text 19"/>
          <p:cNvSpPr/>
          <p:nvPr/>
        </p:nvSpPr>
        <p:spPr>
          <a:xfrm>
            <a:off x="8017468" y="3720505"/>
            <a:ext cx="3512653"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メーカー向け発注書を生成</a:t>
            </a:r>
            <a:endParaRPr lang="ja-JP" sz="1600" dirty="0"/>
          </a:p>
        </p:txBody>
      </p:sp>
      <p:sp>
        <p:nvSpPr>
          <p:cNvPr id="22" name="Text 20"/>
          <p:cNvSpPr/>
          <p:nvPr/>
        </p:nvSpPr>
        <p:spPr>
          <a:xfrm>
            <a:off x="661475" y="4268291"/>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000000"/>
                </a:solidFill>
                <a:latin typeface="Noto Sans JP Light" pitchFamily="34" charset="0"/>
                <a:ea typeface="Noto Sans JP Light" pitchFamily="34" charset="-122"/>
                <a:cs typeface="Noto Sans JP Light" pitchFamily="34" charset="-120"/>
              </a:rPr>
              <a:t>07</a:t>
            </a:r>
            <a:endParaRPr lang="en-US" sz="1300" dirty="0"/>
          </a:p>
        </p:txBody>
      </p:sp>
      <p:sp>
        <p:nvSpPr>
          <p:cNvPr id="23" name="Shape 21"/>
          <p:cNvSpPr/>
          <p:nvPr/>
        </p:nvSpPr>
        <p:spPr>
          <a:xfrm>
            <a:off x="661475" y="4530229"/>
            <a:ext cx="3512653" cy="19050"/>
          </a:xfrm>
          <a:prstGeom prst="rect">
            <a:avLst/>
          </a:prstGeom>
          <a:solidFill>
            <a:srgbClr val="EE7700"/>
          </a:solidFill>
          <a:ln/>
        </p:spPr>
        <p:txBody>
          <a:bodyPr/>
          <a:lstStyle/>
          <a:p>
            <a:endParaRPr lang="ja-JP" altLang="en-US"/>
          </a:p>
        </p:txBody>
      </p:sp>
      <p:sp>
        <p:nvSpPr>
          <p:cNvPr id="24" name="Text 22"/>
          <p:cNvSpPr/>
          <p:nvPr/>
        </p:nvSpPr>
        <p:spPr>
          <a:xfrm>
            <a:off x="661475" y="4650978"/>
            <a:ext cx="3512653"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メーカーへ送付</a:t>
            </a:r>
            <a:endParaRPr lang="ja-JP" sz="1600" dirty="0"/>
          </a:p>
        </p:txBody>
      </p:sp>
      <p:sp>
        <p:nvSpPr>
          <p:cNvPr id="25" name="Text 23"/>
          <p:cNvSpPr/>
          <p:nvPr/>
        </p:nvSpPr>
        <p:spPr>
          <a:xfrm>
            <a:off x="4339422" y="4268291"/>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000000"/>
                </a:solidFill>
                <a:latin typeface="Noto Sans JP Light" pitchFamily="34" charset="0"/>
                <a:ea typeface="Noto Sans JP Light" pitchFamily="34" charset="-122"/>
                <a:cs typeface="Noto Sans JP Light" pitchFamily="34" charset="-120"/>
              </a:rPr>
              <a:t>08</a:t>
            </a:r>
            <a:endParaRPr lang="en-US" sz="1300" dirty="0"/>
          </a:p>
        </p:txBody>
      </p:sp>
      <p:sp>
        <p:nvSpPr>
          <p:cNvPr id="26" name="Shape 24"/>
          <p:cNvSpPr/>
          <p:nvPr/>
        </p:nvSpPr>
        <p:spPr>
          <a:xfrm>
            <a:off x="4339422" y="4530229"/>
            <a:ext cx="3512752" cy="19050"/>
          </a:xfrm>
          <a:prstGeom prst="rect">
            <a:avLst/>
          </a:prstGeom>
          <a:solidFill>
            <a:srgbClr val="EE7700"/>
          </a:solidFill>
          <a:ln/>
        </p:spPr>
        <p:txBody>
          <a:bodyPr/>
          <a:lstStyle/>
          <a:p>
            <a:endParaRPr lang="ja-JP" altLang="en-US"/>
          </a:p>
        </p:txBody>
      </p:sp>
      <p:sp>
        <p:nvSpPr>
          <p:cNvPr id="27" name="Text 25"/>
          <p:cNvSpPr/>
          <p:nvPr/>
        </p:nvSpPr>
        <p:spPr>
          <a:xfrm>
            <a:off x="4339422" y="4650978"/>
            <a:ext cx="3512752"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メーカー回答後の数量・納期を更新</a:t>
            </a:r>
            <a:endParaRPr lang="ja-JP" sz="1600" dirty="0"/>
          </a:p>
        </p:txBody>
      </p:sp>
      <p:sp>
        <p:nvSpPr>
          <p:cNvPr id="28" name="Text 26"/>
          <p:cNvSpPr/>
          <p:nvPr/>
        </p:nvSpPr>
        <p:spPr>
          <a:xfrm>
            <a:off x="8017468" y="4268291"/>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000000"/>
                </a:solidFill>
                <a:latin typeface="Noto Sans JP Light" pitchFamily="34" charset="0"/>
                <a:ea typeface="Noto Sans JP Light" pitchFamily="34" charset="-122"/>
                <a:cs typeface="Noto Sans JP Light" pitchFamily="34" charset="-120"/>
              </a:rPr>
              <a:t>09</a:t>
            </a:r>
            <a:endParaRPr lang="en-US" sz="1300" dirty="0"/>
          </a:p>
        </p:txBody>
      </p:sp>
      <p:sp>
        <p:nvSpPr>
          <p:cNvPr id="29" name="Shape 27"/>
          <p:cNvSpPr/>
          <p:nvPr/>
        </p:nvSpPr>
        <p:spPr>
          <a:xfrm>
            <a:off x="8017468" y="4530229"/>
            <a:ext cx="3512653" cy="19050"/>
          </a:xfrm>
          <a:prstGeom prst="rect">
            <a:avLst/>
          </a:prstGeom>
          <a:solidFill>
            <a:srgbClr val="EE7700"/>
          </a:solidFill>
          <a:ln/>
        </p:spPr>
        <p:txBody>
          <a:bodyPr/>
          <a:lstStyle/>
          <a:p>
            <a:endParaRPr lang="ja-JP" altLang="en-US"/>
          </a:p>
        </p:txBody>
      </p:sp>
      <p:sp>
        <p:nvSpPr>
          <p:cNvPr id="30" name="Text 28"/>
          <p:cNvSpPr/>
          <p:nvPr/>
        </p:nvSpPr>
        <p:spPr>
          <a:xfrm>
            <a:off x="8017468" y="4650978"/>
            <a:ext cx="3512653"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発注履歴として蓄積</a:t>
            </a:r>
            <a:endParaRPr lang="ja-JP" sz="1600" dirty="0"/>
          </a:p>
        </p:txBody>
      </p:sp>
      <p:sp>
        <p:nvSpPr>
          <p:cNvPr id="31" name="Text 29"/>
          <p:cNvSpPr/>
          <p:nvPr/>
        </p:nvSpPr>
        <p:spPr>
          <a:xfrm>
            <a:off x="661475" y="5219502"/>
            <a:ext cx="10868745" cy="979884"/>
          </a:xfrm>
          <a:prstGeom prst="rect">
            <a:avLst/>
          </a:prstGeom>
          <a:noFill/>
          <a:ln/>
        </p:spPr>
        <p:txBody>
          <a:bodyPr wrap="square" lIns="0" tIns="0" rIns="0" bIns="0" rtlCol="0" anchor="t"/>
          <a:lstStyle/>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といった形が考えられます。</a:t>
            </a:r>
            <a:endParaRPr lang="ja-JP" sz="1300" dirty="0"/>
          </a:p>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Excelを完全になくすというよりも、業務途中でのダウンロード・編集・アップロードを減らし、必要な発注書等はシステムから生成する形が望ましいとの認識です。</a:t>
            </a:r>
            <a:endParaRPr lang="ja-JP" sz="1300" dirty="0"/>
          </a:p>
        </p:txBody>
      </p:sp>
      <p:pic>
        <p:nvPicPr>
          <p:cNvPr id="33" name="図 32">
            <a:extLst>
              <a:ext uri="{FF2B5EF4-FFF2-40B4-BE49-F238E27FC236}">
                <a16:creationId xmlns:a16="http://schemas.microsoft.com/office/drawing/2014/main" id="{B2F7A7B2-263B-38E5-1B56-33B981D47633}"/>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10540683" y="147003"/>
            <a:ext cx="14351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スライド番号プレースホルダー 5">
            <a:extLst>
              <a:ext uri="{FF2B5EF4-FFF2-40B4-BE49-F238E27FC236}">
                <a16:creationId xmlns:a16="http://schemas.microsoft.com/office/drawing/2014/main" id="{66A3F840-B0F2-C55B-A6C2-2D8BB21D90AA}"/>
              </a:ext>
            </a:extLst>
          </p:cNvPr>
          <p:cNvSpPr txBox="1">
            <a:spLocks/>
          </p:cNvSpPr>
          <p:nvPr/>
        </p:nvSpPr>
        <p:spPr>
          <a:xfrm>
            <a:off x="71120" y="6422640"/>
            <a:ext cx="540000" cy="360000"/>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B948492C-AFDE-7B4E-95C2-B0C978FE8518}" type="slidenum">
              <a:rPr lang="ja-JP" altLang="en-US" sz="1400" smtClean="0"/>
              <a:pPr algn="r"/>
              <a:t>3</a:t>
            </a:fld>
            <a:endParaRPr lang="ja-JP" alt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512590"/>
            <a:ext cx="10868745" cy="516731"/>
          </a:xfrm>
          <a:prstGeom prst="rect">
            <a:avLst/>
          </a:prstGeom>
          <a:noFill/>
          <a:ln/>
        </p:spPr>
        <p:txBody>
          <a:bodyPr wrap="none" lIns="0" tIns="0" rIns="0" bIns="0" rtlCol="0" anchor="t"/>
          <a:lstStyle/>
          <a:p>
            <a:pPr marL="0" indent="0" algn="l">
              <a:lnSpc>
                <a:spcPct val="104000"/>
              </a:lnSpc>
              <a:buNone/>
            </a:pPr>
            <a:r>
              <a:rPr lang="ja-JP" altLang="en-US" sz="3250" dirty="0">
                <a:solidFill>
                  <a:srgbClr val="000000"/>
                </a:solidFill>
                <a:latin typeface="Noto Sans JP" pitchFamily="34" charset="0"/>
                <a:ea typeface="Noto Sans JP" pitchFamily="34" charset="-122"/>
                <a:cs typeface="Noto Sans JP" pitchFamily="34" charset="-120"/>
              </a:rPr>
              <a:t>4. 欠品・廃番・長期欠品等の管理</a:t>
            </a:r>
            <a:endParaRPr lang="ja-JP" sz="3250" dirty="0"/>
          </a:p>
        </p:txBody>
      </p:sp>
      <p:sp>
        <p:nvSpPr>
          <p:cNvPr id="3" name="Text 1"/>
          <p:cNvSpPr/>
          <p:nvPr/>
        </p:nvSpPr>
        <p:spPr>
          <a:xfrm>
            <a:off x="661475" y="2360017"/>
            <a:ext cx="11478330" cy="264616"/>
          </a:xfrm>
          <a:prstGeom prst="rect">
            <a:avLst/>
          </a:prstGeom>
          <a:noFill/>
          <a:ln/>
        </p:spPr>
        <p:txBody>
          <a:bodyPr wrap="none" lIns="0" tIns="0" rIns="0" bIns="0" rtlCol="0" anchor="t"/>
          <a:lstStyle/>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商品ごとの状態について、</a:t>
            </a:r>
            <a:endParaRPr lang="ja-JP" sz="1300" dirty="0"/>
          </a:p>
        </p:txBody>
      </p:sp>
      <p:sp>
        <p:nvSpPr>
          <p:cNvPr id="4" name="Shape 2"/>
          <p:cNvSpPr/>
          <p:nvPr/>
        </p:nvSpPr>
        <p:spPr>
          <a:xfrm>
            <a:off x="661475" y="2810669"/>
            <a:ext cx="5351725"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5" name="Text 3"/>
          <p:cNvSpPr/>
          <p:nvPr/>
        </p:nvSpPr>
        <p:spPr>
          <a:xfrm>
            <a:off x="833119" y="2982317"/>
            <a:ext cx="5008437"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欠品</a:t>
            </a:r>
            <a:endParaRPr lang="zh-CN" sz="1600" dirty="0"/>
          </a:p>
        </p:txBody>
      </p:sp>
      <p:sp>
        <p:nvSpPr>
          <p:cNvPr id="6" name="Shape 4"/>
          <p:cNvSpPr/>
          <p:nvPr/>
        </p:nvSpPr>
        <p:spPr>
          <a:xfrm>
            <a:off x="6178495" y="2810669"/>
            <a:ext cx="5351725"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7" name="Text 5"/>
          <p:cNvSpPr/>
          <p:nvPr/>
        </p:nvSpPr>
        <p:spPr>
          <a:xfrm>
            <a:off x="6350139" y="2982317"/>
            <a:ext cx="5008437"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長期欠品</a:t>
            </a:r>
            <a:endParaRPr lang="zh-CN" sz="1600" dirty="0"/>
          </a:p>
        </p:txBody>
      </p:sp>
      <p:sp>
        <p:nvSpPr>
          <p:cNvPr id="8" name="Shape 6"/>
          <p:cNvSpPr/>
          <p:nvPr/>
        </p:nvSpPr>
        <p:spPr>
          <a:xfrm>
            <a:off x="661475" y="3577729"/>
            <a:ext cx="5351725"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9" name="Text 7"/>
          <p:cNvSpPr/>
          <p:nvPr/>
        </p:nvSpPr>
        <p:spPr>
          <a:xfrm>
            <a:off x="833119" y="3749377"/>
            <a:ext cx="5008437"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廃番</a:t>
            </a:r>
            <a:endParaRPr lang="zh-CN" sz="1600" dirty="0"/>
          </a:p>
        </p:txBody>
      </p:sp>
      <p:sp>
        <p:nvSpPr>
          <p:cNvPr id="10" name="Shape 8"/>
          <p:cNvSpPr/>
          <p:nvPr/>
        </p:nvSpPr>
        <p:spPr>
          <a:xfrm>
            <a:off x="6178495" y="3577729"/>
            <a:ext cx="5351725"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11" name="Text 9"/>
          <p:cNvSpPr/>
          <p:nvPr/>
        </p:nvSpPr>
        <p:spPr>
          <a:xfrm>
            <a:off x="6350139" y="3749377"/>
            <a:ext cx="5008437"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入荷待ち</a:t>
            </a:r>
            <a:endParaRPr lang="ja-JP" sz="1600" dirty="0"/>
          </a:p>
        </p:txBody>
      </p:sp>
      <p:sp>
        <p:nvSpPr>
          <p:cNvPr id="12" name="Text 10"/>
          <p:cNvSpPr/>
          <p:nvPr/>
        </p:nvSpPr>
        <p:spPr>
          <a:xfrm>
            <a:off x="661475" y="4365526"/>
            <a:ext cx="10868745" cy="979884"/>
          </a:xfrm>
          <a:prstGeom prst="rect">
            <a:avLst/>
          </a:prstGeom>
          <a:noFill/>
          <a:ln/>
        </p:spPr>
        <p:txBody>
          <a:bodyPr wrap="square" lIns="0" tIns="0" rIns="0" bIns="0" rtlCol="0" anchor="t"/>
          <a:lstStyle/>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などを、担当者が把握しやすい形で表示することについて検討しました。</a:t>
            </a:r>
            <a:endParaRPr lang="ja-JP" sz="1300" dirty="0"/>
          </a:p>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ブランド・商品数が増加する中で、対象商品を一覧から探すのではなく、アラートやステータス等により確認しやすくすることが、業務効率化につながると考えられます。</a:t>
            </a:r>
            <a:endParaRPr lang="ja-JP" sz="1300" dirty="0"/>
          </a:p>
        </p:txBody>
      </p:sp>
      <p:pic>
        <p:nvPicPr>
          <p:cNvPr id="14" name="図 13">
            <a:extLst>
              <a:ext uri="{FF2B5EF4-FFF2-40B4-BE49-F238E27FC236}">
                <a16:creationId xmlns:a16="http://schemas.microsoft.com/office/drawing/2014/main" id="{514E6EAF-8CC7-FEF9-4B6E-F63BEDB9A0BE}"/>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10540683" y="147003"/>
            <a:ext cx="14351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スライド番号プレースホルダー 5">
            <a:extLst>
              <a:ext uri="{FF2B5EF4-FFF2-40B4-BE49-F238E27FC236}">
                <a16:creationId xmlns:a16="http://schemas.microsoft.com/office/drawing/2014/main" id="{D3D40039-E03E-53BA-ADAE-C5DD359B2CDE}"/>
              </a:ext>
            </a:extLst>
          </p:cNvPr>
          <p:cNvSpPr txBox="1">
            <a:spLocks/>
          </p:cNvSpPr>
          <p:nvPr/>
        </p:nvSpPr>
        <p:spPr>
          <a:xfrm>
            <a:off x="71120" y="6422640"/>
            <a:ext cx="540000" cy="360000"/>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B948492C-AFDE-7B4E-95C2-B0C978FE8518}" type="slidenum">
              <a:rPr lang="ja-JP" altLang="en-US" sz="1400" smtClean="0"/>
              <a:pPr algn="r"/>
              <a:t>4</a:t>
            </a:fld>
            <a:endParaRPr lang="ja-JP" alt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261864"/>
            <a:ext cx="10868745" cy="516731"/>
          </a:xfrm>
          <a:prstGeom prst="rect">
            <a:avLst/>
          </a:prstGeom>
          <a:noFill/>
          <a:ln/>
        </p:spPr>
        <p:txBody>
          <a:bodyPr wrap="none" lIns="0" tIns="0" rIns="0" bIns="0" rtlCol="0" anchor="t"/>
          <a:lstStyle/>
          <a:p>
            <a:pPr marL="0" indent="0" algn="l">
              <a:lnSpc>
                <a:spcPct val="104000"/>
              </a:lnSpc>
              <a:buNone/>
            </a:pPr>
            <a:r>
              <a:rPr lang="ja-JP" altLang="en-US" sz="3250" dirty="0">
                <a:solidFill>
                  <a:srgbClr val="000000"/>
                </a:solidFill>
                <a:latin typeface="Noto Sans JP" pitchFamily="34" charset="0"/>
                <a:ea typeface="Noto Sans JP" pitchFamily="34" charset="-122"/>
                <a:cs typeface="Noto Sans JP" pitchFamily="34" charset="-120"/>
              </a:rPr>
              <a:t>5. 適正な発注数量の算出</a:t>
            </a:r>
            <a:endParaRPr lang="ja-JP" sz="3250" dirty="0"/>
          </a:p>
        </p:txBody>
      </p:sp>
      <p:sp>
        <p:nvSpPr>
          <p:cNvPr id="3" name="Text 1"/>
          <p:cNvSpPr/>
          <p:nvPr/>
        </p:nvSpPr>
        <p:spPr>
          <a:xfrm>
            <a:off x="661475" y="2109291"/>
            <a:ext cx="11478330" cy="264616"/>
          </a:xfrm>
          <a:prstGeom prst="rect">
            <a:avLst/>
          </a:prstGeom>
          <a:noFill/>
          <a:ln/>
        </p:spPr>
        <p:txBody>
          <a:bodyPr wrap="none" lIns="0" tIns="0" rIns="0" bIns="0" rtlCol="0" anchor="t"/>
          <a:lstStyle/>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発注数量については、単に現在庫だけを見るのではなく、</a:t>
            </a:r>
            <a:endParaRPr lang="ja-JP" sz="1300" dirty="0"/>
          </a:p>
        </p:txBody>
      </p:sp>
      <p:sp>
        <p:nvSpPr>
          <p:cNvPr id="4" name="Shape 2"/>
          <p:cNvSpPr/>
          <p:nvPr/>
        </p:nvSpPr>
        <p:spPr>
          <a:xfrm>
            <a:off x="661475" y="2559943"/>
            <a:ext cx="3512653" cy="627162"/>
          </a:xfrm>
          <a:prstGeom prst="roundRect">
            <a:avLst>
              <a:gd name="adj" fmla="val 11076"/>
            </a:avLst>
          </a:prstGeom>
          <a:solidFill>
            <a:srgbClr val="FFFFFF"/>
          </a:solidFill>
          <a:ln w="19050">
            <a:solidFill>
              <a:srgbClr val="E5CCB2"/>
            </a:solidFill>
            <a:prstDash val="solid"/>
          </a:ln>
        </p:spPr>
        <p:txBody>
          <a:bodyPr/>
          <a:lstStyle/>
          <a:p>
            <a:endParaRPr lang="ja-JP" altLang="en-US"/>
          </a:p>
        </p:txBody>
      </p:sp>
      <p:sp>
        <p:nvSpPr>
          <p:cNvPr id="5" name="Text 3"/>
          <p:cNvSpPr/>
          <p:nvPr/>
        </p:nvSpPr>
        <p:spPr>
          <a:xfrm>
            <a:off x="845819" y="2744291"/>
            <a:ext cx="3143965"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在庫数量</a:t>
            </a:r>
            <a:endParaRPr lang="zh-CN" sz="1600" dirty="0"/>
          </a:p>
        </p:txBody>
      </p:sp>
      <p:sp>
        <p:nvSpPr>
          <p:cNvPr id="6" name="Shape 4"/>
          <p:cNvSpPr/>
          <p:nvPr/>
        </p:nvSpPr>
        <p:spPr>
          <a:xfrm>
            <a:off x="4339422" y="2559943"/>
            <a:ext cx="3512752" cy="627162"/>
          </a:xfrm>
          <a:prstGeom prst="roundRect">
            <a:avLst>
              <a:gd name="adj" fmla="val 11076"/>
            </a:avLst>
          </a:prstGeom>
          <a:solidFill>
            <a:srgbClr val="FFFFFF"/>
          </a:solidFill>
          <a:ln w="19050">
            <a:solidFill>
              <a:srgbClr val="E5CCB2"/>
            </a:solidFill>
            <a:prstDash val="solid"/>
          </a:ln>
        </p:spPr>
        <p:txBody>
          <a:bodyPr/>
          <a:lstStyle/>
          <a:p>
            <a:endParaRPr lang="ja-JP" altLang="en-US"/>
          </a:p>
        </p:txBody>
      </p:sp>
      <p:sp>
        <p:nvSpPr>
          <p:cNvPr id="7" name="Text 5"/>
          <p:cNvSpPr/>
          <p:nvPr/>
        </p:nvSpPr>
        <p:spPr>
          <a:xfrm>
            <a:off x="4523766" y="2744291"/>
            <a:ext cx="3144064"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これまでの販売実績</a:t>
            </a:r>
            <a:endParaRPr lang="ja-JP" sz="1600" dirty="0"/>
          </a:p>
        </p:txBody>
      </p:sp>
      <p:sp>
        <p:nvSpPr>
          <p:cNvPr id="8" name="Shape 6"/>
          <p:cNvSpPr/>
          <p:nvPr/>
        </p:nvSpPr>
        <p:spPr>
          <a:xfrm>
            <a:off x="8017468" y="2559943"/>
            <a:ext cx="3512653" cy="627162"/>
          </a:xfrm>
          <a:prstGeom prst="roundRect">
            <a:avLst>
              <a:gd name="adj" fmla="val 11076"/>
            </a:avLst>
          </a:prstGeom>
          <a:solidFill>
            <a:srgbClr val="FFFFFF"/>
          </a:solidFill>
          <a:ln w="19050">
            <a:solidFill>
              <a:srgbClr val="E5CCB2"/>
            </a:solidFill>
            <a:prstDash val="solid"/>
          </a:ln>
        </p:spPr>
        <p:txBody>
          <a:bodyPr/>
          <a:lstStyle/>
          <a:p>
            <a:endParaRPr lang="ja-JP" altLang="en-US"/>
          </a:p>
        </p:txBody>
      </p:sp>
      <p:sp>
        <p:nvSpPr>
          <p:cNvPr id="9" name="Text 7"/>
          <p:cNvSpPr/>
          <p:nvPr/>
        </p:nvSpPr>
        <p:spPr>
          <a:xfrm>
            <a:off x="8201812" y="2744291"/>
            <a:ext cx="3143965"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発注済み数量</a:t>
            </a:r>
            <a:endParaRPr lang="ja-JP" sz="1600" dirty="0"/>
          </a:p>
        </p:txBody>
      </p:sp>
      <p:sp>
        <p:nvSpPr>
          <p:cNvPr id="10" name="Shape 8"/>
          <p:cNvSpPr/>
          <p:nvPr/>
        </p:nvSpPr>
        <p:spPr>
          <a:xfrm>
            <a:off x="661475" y="3352403"/>
            <a:ext cx="5351626" cy="627162"/>
          </a:xfrm>
          <a:prstGeom prst="roundRect">
            <a:avLst>
              <a:gd name="adj" fmla="val 11076"/>
            </a:avLst>
          </a:prstGeom>
          <a:solidFill>
            <a:srgbClr val="FFFFFF"/>
          </a:solidFill>
          <a:ln w="19050">
            <a:solidFill>
              <a:srgbClr val="E5CCB2"/>
            </a:solidFill>
            <a:prstDash val="solid"/>
          </a:ln>
        </p:spPr>
        <p:txBody>
          <a:bodyPr/>
          <a:lstStyle/>
          <a:p>
            <a:endParaRPr lang="ja-JP" altLang="en-US"/>
          </a:p>
        </p:txBody>
      </p:sp>
      <p:sp>
        <p:nvSpPr>
          <p:cNvPr id="11" name="Text 9"/>
          <p:cNvSpPr/>
          <p:nvPr/>
        </p:nvSpPr>
        <p:spPr>
          <a:xfrm>
            <a:off x="845819" y="3536752"/>
            <a:ext cx="4982939"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リードタイム</a:t>
            </a:r>
            <a:endParaRPr lang="ja-JP" sz="1600" dirty="0"/>
          </a:p>
        </p:txBody>
      </p:sp>
      <p:sp>
        <p:nvSpPr>
          <p:cNvPr id="12" name="Shape 10"/>
          <p:cNvSpPr/>
          <p:nvPr/>
        </p:nvSpPr>
        <p:spPr>
          <a:xfrm>
            <a:off x="6178395" y="3352403"/>
            <a:ext cx="5351725" cy="627162"/>
          </a:xfrm>
          <a:prstGeom prst="roundRect">
            <a:avLst>
              <a:gd name="adj" fmla="val 11076"/>
            </a:avLst>
          </a:prstGeom>
          <a:solidFill>
            <a:srgbClr val="FFFFFF"/>
          </a:solidFill>
          <a:ln w="19050">
            <a:solidFill>
              <a:srgbClr val="E5CCB2"/>
            </a:solidFill>
            <a:prstDash val="solid"/>
          </a:ln>
        </p:spPr>
        <p:txBody>
          <a:bodyPr/>
          <a:lstStyle/>
          <a:p>
            <a:endParaRPr lang="ja-JP" altLang="en-US"/>
          </a:p>
        </p:txBody>
      </p:sp>
      <p:sp>
        <p:nvSpPr>
          <p:cNvPr id="13" name="Text 11"/>
          <p:cNvSpPr/>
          <p:nvPr/>
        </p:nvSpPr>
        <p:spPr>
          <a:xfrm>
            <a:off x="6362739" y="3536752"/>
            <a:ext cx="4983038"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ブランド・メーカーごとの特性</a:t>
            </a:r>
            <a:endParaRPr lang="ja-JP" sz="1600" dirty="0"/>
          </a:p>
        </p:txBody>
      </p:sp>
      <p:sp>
        <p:nvSpPr>
          <p:cNvPr id="14" name="Text 12"/>
          <p:cNvSpPr/>
          <p:nvPr/>
        </p:nvSpPr>
        <p:spPr>
          <a:xfrm>
            <a:off x="661475" y="4165600"/>
            <a:ext cx="10868745" cy="1430536"/>
          </a:xfrm>
          <a:prstGeom prst="rect">
            <a:avLst/>
          </a:prstGeom>
          <a:noFill/>
          <a:ln/>
        </p:spPr>
        <p:txBody>
          <a:bodyPr wrap="square" lIns="0" tIns="0" rIns="0" bIns="0" rtlCol="0" anchor="t"/>
          <a:lstStyle/>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等を考慮し、システム上で発注数量の参考値を表示することについて意見交換しました。</a:t>
            </a:r>
            <a:endParaRPr lang="ja-JP" sz="1300" dirty="0"/>
          </a:p>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メーカー・ブランドによってリードタイムが異なるため、ブランド等ごとに基準値を設定し、その条件を発注数量の計算に反映することも検討事項となります。</a:t>
            </a:r>
            <a:endParaRPr lang="ja-JP" sz="1300" dirty="0"/>
          </a:p>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なお、システムが算出した数量をそのまま自動発注するのではなく、担当者が確認・変更できる運用を想定しています。</a:t>
            </a:r>
            <a:endParaRPr lang="ja-JP" sz="1300" dirty="0"/>
          </a:p>
        </p:txBody>
      </p:sp>
      <p:pic>
        <p:nvPicPr>
          <p:cNvPr id="16" name="図 15">
            <a:extLst>
              <a:ext uri="{FF2B5EF4-FFF2-40B4-BE49-F238E27FC236}">
                <a16:creationId xmlns:a16="http://schemas.microsoft.com/office/drawing/2014/main" id="{BDEE1038-B7C3-76AC-A9AF-3C84DE718758}"/>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10540683" y="147003"/>
            <a:ext cx="14351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スライド番号プレースホルダー 5">
            <a:extLst>
              <a:ext uri="{FF2B5EF4-FFF2-40B4-BE49-F238E27FC236}">
                <a16:creationId xmlns:a16="http://schemas.microsoft.com/office/drawing/2014/main" id="{588817E0-B59A-3EA0-42B6-3A26A31677FE}"/>
              </a:ext>
            </a:extLst>
          </p:cNvPr>
          <p:cNvSpPr txBox="1">
            <a:spLocks/>
          </p:cNvSpPr>
          <p:nvPr/>
        </p:nvSpPr>
        <p:spPr>
          <a:xfrm>
            <a:off x="71120" y="6422640"/>
            <a:ext cx="540000" cy="360000"/>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B948492C-AFDE-7B4E-95C2-B0C978FE8518}" type="slidenum">
              <a:rPr lang="ja-JP" altLang="en-US" sz="1400" smtClean="0"/>
              <a:pPr algn="r"/>
              <a:t>5</a:t>
            </a:fld>
            <a:endParaRPr lang="ja-JP" alt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261864"/>
            <a:ext cx="10868745" cy="516731"/>
          </a:xfrm>
          <a:prstGeom prst="rect">
            <a:avLst/>
          </a:prstGeom>
          <a:noFill/>
          <a:ln/>
        </p:spPr>
        <p:txBody>
          <a:bodyPr wrap="none" lIns="0" tIns="0" rIns="0" bIns="0" rtlCol="0" anchor="t"/>
          <a:lstStyle/>
          <a:p>
            <a:pPr marL="0" indent="0" algn="l">
              <a:lnSpc>
                <a:spcPct val="104000"/>
              </a:lnSpc>
              <a:buNone/>
            </a:pPr>
            <a:r>
              <a:rPr lang="ja-JP" altLang="en-US" sz="3250" dirty="0">
                <a:solidFill>
                  <a:srgbClr val="000000"/>
                </a:solidFill>
                <a:latin typeface="Noto Sans JP" pitchFamily="34" charset="0"/>
                <a:ea typeface="Noto Sans JP" pitchFamily="34" charset="-122"/>
                <a:cs typeface="Noto Sans JP" pitchFamily="34" charset="-120"/>
              </a:rPr>
              <a:t>6. 在庫・販売実績データの更新</a:t>
            </a:r>
            <a:endParaRPr lang="ja-JP" sz="3250" dirty="0"/>
          </a:p>
        </p:txBody>
      </p:sp>
      <p:sp>
        <p:nvSpPr>
          <p:cNvPr id="3" name="Text 1"/>
          <p:cNvSpPr/>
          <p:nvPr/>
        </p:nvSpPr>
        <p:spPr>
          <a:xfrm>
            <a:off x="661475" y="2109291"/>
            <a:ext cx="10868745" cy="1430536"/>
          </a:xfrm>
          <a:prstGeom prst="rect">
            <a:avLst/>
          </a:prstGeom>
          <a:noFill/>
          <a:ln/>
        </p:spPr>
        <p:txBody>
          <a:bodyPr wrap="square" lIns="0" tIns="0" rIns="0" bIns="0" rtlCol="0" anchor="t"/>
          <a:lstStyle/>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発注数量を適切に判断するためには、在庫および販売実績データの更新タイミングも重要との話がありました。</a:t>
            </a:r>
            <a:endParaRPr lang="ja-JP" sz="1300" dirty="0"/>
          </a:p>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現状では、月替わり後の在庫・販売関連データの反映にタイムラグがあり、月初からデータ更新までの期間の販売状況を発注判断へ反映しにくいケースがあるとのことでした。</a:t>
            </a:r>
            <a:endParaRPr lang="ja-JP" sz="1300" dirty="0"/>
          </a:p>
          <a:p>
            <a:pPr marL="0" indent="0" algn="l">
              <a:lnSpc>
                <a:spcPct val="133000"/>
              </a:lnSpc>
              <a:buNone/>
            </a:pPr>
            <a:r>
              <a:rPr lang="zh-CN" altLang="en-US" sz="1300" dirty="0">
                <a:solidFill>
                  <a:srgbClr val="000000"/>
                </a:solidFill>
                <a:latin typeface="Noto Sans JP" pitchFamily="34" charset="0"/>
                <a:ea typeface="Noto Sans JP" pitchFamily="34" charset="-122"/>
                <a:cs typeface="Noto Sans JP" pitchFamily="34" charset="-120"/>
              </a:rPr>
              <a:t>今後、</a:t>
            </a:r>
            <a:endParaRPr lang="ja-JP" sz="13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725863"/>
            <a:ext cx="5351725" cy="627162"/>
          </a:xfrm>
          <a:prstGeom prst="rect">
            <a:avLst/>
          </a:prstGeom>
        </p:spPr>
      </p:pic>
      <p:sp>
        <p:nvSpPr>
          <p:cNvPr id="5" name="Text 2"/>
          <p:cNvSpPr/>
          <p:nvPr/>
        </p:nvSpPr>
        <p:spPr>
          <a:xfrm>
            <a:off x="922017" y="3910211"/>
            <a:ext cx="4906840"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現在庫の更新タイミング</a:t>
            </a:r>
            <a:endParaRPr lang="ja-JP" sz="16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8495" y="3725863"/>
            <a:ext cx="5351725" cy="627162"/>
          </a:xfrm>
          <a:prstGeom prst="rect">
            <a:avLst/>
          </a:prstGeom>
        </p:spPr>
      </p:pic>
      <p:sp>
        <p:nvSpPr>
          <p:cNvPr id="7" name="Text 3"/>
          <p:cNvSpPr/>
          <p:nvPr/>
        </p:nvSpPr>
        <p:spPr>
          <a:xfrm>
            <a:off x="6439037" y="3910211"/>
            <a:ext cx="4906840"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販売実績の取得・保持方法</a:t>
            </a:r>
            <a:endParaRPr lang="ja-JP" sz="160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518323"/>
            <a:ext cx="5351725" cy="627162"/>
          </a:xfrm>
          <a:prstGeom prst="rect">
            <a:avLst/>
          </a:prstGeom>
        </p:spPr>
      </p:pic>
      <p:sp>
        <p:nvSpPr>
          <p:cNvPr id="9" name="Text 4"/>
          <p:cNvSpPr/>
          <p:nvPr/>
        </p:nvSpPr>
        <p:spPr>
          <a:xfrm>
            <a:off x="922017" y="4702671"/>
            <a:ext cx="4906840"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日次単位でのデータ利用可否</a:t>
            </a:r>
            <a:endParaRPr lang="ja-JP" sz="160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8495" y="4518323"/>
            <a:ext cx="5351725" cy="627162"/>
          </a:xfrm>
          <a:prstGeom prst="rect">
            <a:avLst/>
          </a:prstGeom>
        </p:spPr>
      </p:pic>
      <p:sp>
        <p:nvSpPr>
          <p:cNvPr id="11" name="Text 5"/>
          <p:cNvSpPr/>
          <p:nvPr/>
        </p:nvSpPr>
        <p:spPr>
          <a:xfrm>
            <a:off x="6439037" y="4702671"/>
            <a:ext cx="4906840"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発注数量計算に利用するデータ</a:t>
            </a:r>
            <a:endParaRPr lang="ja-JP" sz="1600" dirty="0"/>
          </a:p>
        </p:txBody>
      </p:sp>
      <p:sp>
        <p:nvSpPr>
          <p:cNvPr id="12" name="Text 6"/>
          <p:cNvSpPr/>
          <p:nvPr/>
        </p:nvSpPr>
        <p:spPr>
          <a:xfrm>
            <a:off x="661475" y="5331520"/>
            <a:ext cx="11478330" cy="264616"/>
          </a:xfrm>
          <a:prstGeom prst="rect">
            <a:avLst/>
          </a:prstGeom>
          <a:noFill/>
          <a:ln/>
        </p:spPr>
        <p:txBody>
          <a:bodyPr wrap="none" lIns="0" tIns="0" rIns="0" bIns="0" rtlCol="0" anchor="t"/>
          <a:lstStyle/>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について確認・整理する必要があります。</a:t>
            </a:r>
            <a:endParaRPr lang="ja-JP" sz="1300" dirty="0"/>
          </a:p>
        </p:txBody>
      </p:sp>
      <p:pic>
        <p:nvPicPr>
          <p:cNvPr id="14" name="図 13">
            <a:extLst>
              <a:ext uri="{FF2B5EF4-FFF2-40B4-BE49-F238E27FC236}">
                <a16:creationId xmlns:a16="http://schemas.microsoft.com/office/drawing/2014/main" id="{98A6C418-9E67-392C-4BB4-464DB2FA73D7}"/>
              </a:ext>
            </a:extLst>
          </p:cNvPr>
          <p:cNvPicPr>
            <a:picLocks noChangeAspect="1"/>
          </p:cNvPicPr>
          <p:nvPr/>
        </p:nvPicPr>
        <p:blipFill>
          <a:blip r:embed="rId4">
            <a:extLst>
              <a:ext uri="{28A0092B-C50C-407E-A947-70E740481C1C}">
                <a14:useLocalDpi xmlns:a14="http://schemas.microsoft.com/office/drawing/2010/main"/>
              </a:ext>
            </a:extLst>
          </a:blip>
          <a:srcRect/>
          <a:stretch>
            <a:fillRect/>
          </a:stretch>
        </p:blipFill>
        <p:spPr bwMode="auto">
          <a:xfrm>
            <a:off x="10540683" y="147003"/>
            <a:ext cx="14351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スライド番号プレースホルダー 5">
            <a:extLst>
              <a:ext uri="{FF2B5EF4-FFF2-40B4-BE49-F238E27FC236}">
                <a16:creationId xmlns:a16="http://schemas.microsoft.com/office/drawing/2014/main" id="{F18DE0B3-B075-9858-09F8-44C26BE46E94}"/>
              </a:ext>
            </a:extLst>
          </p:cNvPr>
          <p:cNvSpPr txBox="1">
            <a:spLocks/>
          </p:cNvSpPr>
          <p:nvPr/>
        </p:nvSpPr>
        <p:spPr>
          <a:xfrm>
            <a:off x="71120" y="6422640"/>
            <a:ext cx="540000" cy="360000"/>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B948492C-AFDE-7B4E-95C2-B0C978FE8518}" type="slidenum">
              <a:rPr lang="ja-JP" altLang="en-US" sz="1400" smtClean="0"/>
              <a:pPr algn="r"/>
              <a:t>6</a:t>
            </a:fld>
            <a:endParaRPr lang="ja-JP" alt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990798"/>
            <a:ext cx="10868745" cy="516731"/>
          </a:xfrm>
          <a:prstGeom prst="rect">
            <a:avLst/>
          </a:prstGeom>
          <a:noFill/>
          <a:ln/>
        </p:spPr>
        <p:txBody>
          <a:bodyPr wrap="none" lIns="0" tIns="0" rIns="0" bIns="0" rtlCol="0" anchor="t"/>
          <a:lstStyle/>
          <a:p>
            <a:pPr marL="0" indent="0" algn="l">
              <a:lnSpc>
                <a:spcPct val="104000"/>
              </a:lnSpc>
              <a:buNone/>
            </a:pPr>
            <a:r>
              <a:rPr lang="ja-JP" altLang="en-US" sz="3250" dirty="0">
                <a:solidFill>
                  <a:srgbClr val="000000"/>
                </a:solidFill>
                <a:latin typeface="Noto Sans JP" pitchFamily="34" charset="0"/>
                <a:ea typeface="Noto Sans JP" pitchFamily="34" charset="-122"/>
                <a:cs typeface="Noto Sans JP" pitchFamily="34" charset="-120"/>
              </a:rPr>
              <a:t>7. 発注後の数量・納期変更</a:t>
            </a:r>
            <a:endParaRPr lang="ja-JP" sz="3250" dirty="0"/>
          </a:p>
        </p:txBody>
      </p:sp>
      <p:sp>
        <p:nvSpPr>
          <p:cNvPr id="3" name="Text 1"/>
          <p:cNvSpPr/>
          <p:nvPr/>
        </p:nvSpPr>
        <p:spPr>
          <a:xfrm>
            <a:off x="661475" y="1838226"/>
            <a:ext cx="11478330" cy="264616"/>
          </a:xfrm>
          <a:prstGeom prst="rect">
            <a:avLst/>
          </a:prstGeom>
          <a:noFill/>
          <a:ln/>
        </p:spPr>
        <p:txBody>
          <a:bodyPr wrap="none" lIns="0" tIns="0" rIns="0" bIns="0" rtlCol="0" anchor="t"/>
          <a:lstStyle/>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メーカーへの発注後に、</a:t>
            </a:r>
            <a:endParaRPr lang="ja-JP" sz="1300" dirty="0"/>
          </a:p>
        </p:txBody>
      </p:sp>
      <p:sp>
        <p:nvSpPr>
          <p:cNvPr id="4" name="Text 2"/>
          <p:cNvSpPr/>
          <p:nvPr/>
        </p:nvSpPr>
        <p:spPr>
          <a:xfrm>
            <a:off x="661475" y="2288877"/>
            <a:ext cx="10868745" cy="587077"/>
          </a:xfrm>
          <a:prstGeom prst="rect">
            <a:avLst/>
          </a:prstGeom>
          <a:noFill/>
          <a:ln/>
        </p:spPr>
        <p:txBody>
          <a:bodyPr wrap="square" lIns="0" tIns="66156" rIns="0" bIns="0" rtlCol="0" anchor="t">
            <a:normAutofit/>
          </a:bodyPr>
          <a:lstStyle/>
          <a:p>
            <a:pPr marL="264160" indent="-264160" algn="l">
              <a:lnSpc>
                <a:spcPct val="133000"/>
              </a:lnSpc>
              <a:buSzPct val="100000"/>
              <a:buChar char="•"/>
            </a:pPr>
            <a:r>
              <a:rPr lang="ja-JP" altLang="en-US" sz="1300" dirty="0">
                <a:solidFill>
                  <a:srgbClr val="000000"/>
                </a:solidFill>
                <a:latin typeface="Noto Sans JP" pitchFamily="34" charset="0"/>
                <a:ea typeface="Noto Sans JP" pitchFamily="34" charset="-122"/>
                <a:cs typeface="Noto Sans JP" pitchFamily="34" charset="-120"/>
              </a:rPr>
              <a:t>発注数量に対して実際に供給可能な数量が少なくなる</a:t>
            </a:r>
            <a:endParaRPr lang="ja-JP" sz="1300" dirty="0"/>
          </a:p>
          <a:p>
            <a:pPr marL="264160" indent="-264160" algn="l">
              <a:lnSpc>
                <a:spcPct val="133000"/>
              </a:lnSpc>
              <a:buSzPct val="100000"/>
              <a:buChar char="•"/>
            </a:pPr>
            <a:r>
              <a:rPr lang="ja-JP" altLang="en-US" sz="1300" dirty="0">
                <a:solidFill>
                  <a:srgbClr val="000000"/>
                </a:solidFill>
                <a:latin typeface="Noto Sans JP" pitchFamily="34" charset="0"/>
                <a:ea typeface="Noto Sans JP" pitchFamily="34" charset="-122"/>
                <a:cs typeface="Noto Sans JP" pitchFamily="34" charset="-120"/>
              </a:rPr>
              <a:t>入荷予定日が変更になる</a:t>
            </a:r>
            <a:endParaRPr lang="ja-JP" sz="1300" dirty="0"/>
          </a:p>
        </p:txBody>
      </p:sp>
      <p:sp>
        <p:nvSpPr>
          <p:cNvPr id="5" name="Text 3"/>
          <p:cNvSpPr/>
          <p:nvPr/>
        </p:nvSpPr>
        <p:spPr>
          <a:xfrm>
            <a:off x="661475" y="3061990"/>
            <a:ext cx="10868745" cy="715268"/>
          </a:xfrm>
          <a:prstGeom prst="rect">
            <a:avLst/>
          </a:prstGeom>
          <a:noFill/>
          <a:ln/>
        </p:spPr>
        <p:txBody>
          <a:bodyPr wrap="square" lIns="0" tIns="0" rIns="0" bIns="0" rtlCol="0" anchor="t"/>
          <a:lstStyle/>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といったケースがあります。</a:t>
            </a:r>
            <a:endParaRPr lang="ja-JP" sz="1300" dirty="0"/>
          </a:p>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例えば、</a:t>
            </a:r>
            <a:endParaRPr lang="ja-JP" sz="1300" dirty="0"/>
          </a:p>
        </p:txBody>
      </p:sp>
      <p:sp>
        <p:nvSpPr>
          <p:cNvPr id="6" name="Shape 4"/>
          <p:cNvSpPr/>
          <p:nvPr/>
        </p:nvSpPr>
        <p:spPr>
          <a:xfrm>
            <a:off x="542415" y="3963293"/>
            <a:ext cx="5470785" cy="1002506"/>
          </a:xfrm>
          <a:prstGeom prst="roundRect">
            <a:avLst>
              <a:gd name="adj" fmla="val 11878"/>
            </a:avLst>
          </a:prstGeom>
          <a:solidFill>
            <a:schemeClr val="accent2">
              <a:lumMod val="40000"/>
              <a:lumOff val="60000"/>
            </a:schemeClr>
          </a:solidFill>
          <a:ln/>
        </p:spPr>
        <p:txBody>
          <a:bodyPr/>
          <a:lstStyle/>
          <a:p>
            <a:endParaRPr lang="ja-JP" altLang="en-US"/>
          </a:p>
        </p:txBody>
      </p:sp>
      <p:sp>
        <p:nvSpPr>
          <p:cNvPr id="7" name="Text 5"/>
          <p:cNvSpPr/>
          <p:nvPr/>
        </p:nvSpPr>
        <p:spPr>
          <a:xfrm>
            <a:off x="707710" y="4128591"/>
            <a:ext cx="5140196"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発注数量：10</a:t>
            </a:r>
            <a:endParaRPr lang="zh-CN" sz="1600" dirty="0"/>
          </a:p>
        </p:txBody>
      </p:sp>
      <p:sp>
        <p:nvSpPr>
          <p:cNvPr id="8" name="Text 6"/>
          <p:cNvSpPr/>
          <p:nvPr/>
        </p:nvSpPr>
        <p:spPr>
          <a:xfrm>
            <a:off x="707710" y="4552355"/>
            <a:ext cx="5749781" cy="264616"/>
          </a:xfrm>
          <a:prstGeom prst="rect">
            <a:avLst/>
          </a:prstGeom>
          <a:noFill/>
          <a:ln/>
        </p:spPr>
        <p:txBody>
          <a:bodyPr wrap="none" lIns="0" tIns="0" rIns="0" bIns="0" rtlCol="0" anchor="t"/>
          <a:lstStyle/>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メーカー回答：9</a:t>
            </a:r>
            <a:endParaRPr lang="ja-JP" sz="1300" dirty="0"/>
          </a:p>
        </p:txBody>
      </p:sp>
      <p:sp>
        <p:nvSpPr>
          <p:cNvPr id="9" name="Text 7"/>
          <p:cNvSpPr/>
          <p:nvPr/>
        </p:nvSpPr>
        <p:spPr>
          <a:xfrm>
            <a:off x="6303904" y="4128591"/>
            <a:ext cx="5232666"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入荷予定日：25日</a:t>
            </a:r>
            <a:endParaRPr lang="zh-CN" sz="1600" dirty="0"/>
          </a:p>
        </p:txBody>
      </p:sp>
      <p:sp>
        <p:nvSpPr>
          <p:cNvPr id="10" name="Text 8"/>
          <p:cNvSpPr/>
          <p:nvPr/>
        </p:nvSpPr>
        <p:spPr>
          <a:xfrm>
            <a:off x="6303904" y="4552355"/>
            <a:ext cx="5842251" cy="264616"/>
          </a:xfrm>
          <a:prstGeom prst="rect">
            <a:avLst/>
          </a:prstGeom>
          <a:noFill/>
          <a:ln/>
        </p:spPr>
        <p:txBody>
          <a:bodyPr wrap="none" lIns="0" tIns="0" rIns="0" bIns="0" rtlCol="0" anchor="t"/>
          <a:lstStyle/>
          <a:p>
            <a:pPr marL="0" indent="0" algn="l">
              <a:lnSpc>
                <a:spcPct val="133000"/>
              </a:lnSpc>
              <a:buNone/>
            </a:pPr>
            <a:r>
              <a:rPr lang="zh-CN" altLang="en-US" sz="1300" dirty="0">
                <a:solidFill>
                  <a:srgbClr val="000000"/>
                </a:solidFill>
                <a:latin typeface="Noto Sans JP" pitchFamily="34" charset="0"/>
                <a:ea typeface="Noto Sans JP" pitchFamily="34" charset="-122"/>
                <a:cs typeface="Noto Sans JP" pitchFamily="34" charset="-120"/>
              </a:rPr>
              <a:t>変更後：26日</a:t>
            </a:r>
            <a:endParaRPr lang="zh-CN" sz="1300" dirty="0"/>
          </a:p>
        </p:txBody>
      </p:sp>
      <p:sp>
        <p:nvSpPr>
          <p:cNvPr id="11" name="Text 9"/>
          <p:cNvSpPr/>
          <p:nvPr/>
        </p:nvSpPr>
        <p:spPr>
          <a:xfrm>
            <a:off x="661475" y="5151834"/>
            <a:ext cx="10868745" cy="715268"/>
          </a:xfrm>
          <a:prstGeom prst="rect">
            <a:avLst/>
          </a:prstGeom>
          <a:noFill/>
          <a:ln/>
        </p:spPr>
        <p:txBody>
          <a:bodyPr wrap="square" lIns="0" tIns="0" rIns="0" bIns="0" rtlCol="0" anchor="t"/>
          <a:lstStyle/>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といった変更について、現在は関連情報を手作業で修正する場面があります。</a:t>
            </a:r>
            <a:endParaRPr lang="ja-JP" sz="1300" dirty="0"/>
          </a:p>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これらをG-SYS上で変更し、関連する情報にも反映できる仕組みについて検討しました。</a:t>
            </a:r>
            <a:endParaRPr lang="ja-JP" sz="1300" dirty="0"/>
          </a:p>
        </p:txBody>
      </p:sp>
      <p:pic>
        <p:nvPicPr>
          <p:cNvPr id="13" name="図 12">
            <a:extLst>
              <a:ext uri="{FF2B5EF4-FFF2-40B4-BE49-F238E27FC236}">
                <a16:creationId xmlns:a16="http://schemas.microsoft.com/office/drawing/2014/main" id="{BFF952C3-696C-E157-984D-F40C38EDCED3}"/>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10540683" y="147003"/>
            <a:ext cx="14351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スライド番号プレースホルダー 5">
            <a:extLst>
              <a:ext uri="{FF2B5EF4-FFF2-40B4-BE49-F238E27FC236}">
                <a16:creationId xmlns:a16="http://schemas.microsoft.com/office/drawing/2014/main" id="{6C535677-07AA-DE56-6714-C2927652B9D1}"/>
              </a:ext>
            </a:extLst>
          </p:cNvPr>
          <p:cNvSpPr txBox="1">
            <a:spLocks/>
          </p:cNvSpPr>
          <p:nvPr/>
        </p:nvSpPr>
        <p:spPr>
          <a:xfrm>
            <a:off x="71120" y="6422640"/>
            <a:ext cx="540000" cy="360000"/>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B948492C-AFDE-7B4E-95C2-B0C978FE8518}" type="slidenum">
              <a:rPr lang="ja-JP" altLang="en-US" sz="1400" smtClean="0"/>
              <a:pPr algn="r"/>
              <a:t>7</a:t>
            </a:fld>
            <a:endParaRPr lang="ja-JP" alt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419523"/>
            <a:ext cx="10868745" cy="516731"/>
          </a:xfrm>
          <a:prstGeom prst="rect">
            <a:avLst/>
          </a:prstGeom>
          <a:noFill/>
          <a:ln/>
        </p:spPr>
        <p:txBody>
          <a:bodyPr wrap="none" lIns="0" tIns="0" rIns="0" bIns="0" rtlCol="0" anchor="t"/>
          <a:lstStyle/>
          <a:p>
            <a:pPr marL="0" indent="0" algn="l">
              <a:lnSpc>
                <a:spcPct val="104000"/>
              </a:lnSpc>
              <a:buNone/>
            </a:pPr>
            <a:r>
              <a:rPr lang="ja-JP" altLang="en-US" sz="3250" dirty="0">
                <a:solidFill>
                  <a:srgbClr val="000000"/>
                </a:solidFill>
                <a:latin typeface="Noto Sans JP" pitchFamily="34" charset="0"/>
                <a:ea typeface="Noto Sans JP" pitchFamily="34" charset="-122"/>
                <a:cs typeface="Noto Sans JP" pitchFamily="34" charset="-120"/>
              </a:rPr>
              <a:t>8. メーカーへの発注書・メール送付</a:t>
            </a:r>
            <a:endParaRPr lang="ja-JP" sz="3250" dirty="0"/>
          </a:p>
        </p:txBody>
      </p:sp>
      <p:sp>
        <p:nvSpPr>
          <p:cNvPr id="3" name="Text 1"/>
          <p:cNvSpPr/>
          <p:nvPr/>
        </p:nvSpPr>
        <p:spPr>
          <a:xfrm>
            <a:off x="661475" y="2266950"/>
            <a:ext cx="10868745" cy="715268"/>
          </a:xfrm>
          <a:prstGeom prst="rect">
            <a:avLst/>
          </a:prstGeom>
          <a:noFill/>
          <a:ln/>
        </p:spPr>
        <p:txBody>
          <a:bodyPr wrap="square" lIns="0" tIns="0" rIns="0" bIns="0" rtlCol="0" anchor="t"/>
          <a:lstStyle/>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メーカーとの発注に関するやり取りは、現在メールが中心となっています。</a:t>
            </a:r>
            <a:endParaRPr lang="ja-JP" sz="1300" dirty="0"/>
          </a:p>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今後、G-SYS上で、</a:t>
            </a:r>
            <a:endParaRPr lang="ja-JP" sz="1300" dirty="0"/>
          </a:p>
        </p:txBody>
      </p:sp>
      <p:sp>
        <p:nvSpPr>
          <p:cNvPr id="4" name="Shape 2"/>
          <p:cNvSpPr/>
          <p:nvPr/>
        </p:nvSpPr>
        <p:spPr>
          <a:xfrm>
            <a:off x="661475" y="3168253"/>
            <a:ext cx="3512653"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5" name="Text 3"/>
          <p:cNvSpPr/>
          <p:nvPr/>
        </p:nvSpPr>
        <p:spPr>
          <a:xfrm>
            <a:off x="833119" y="3339902"/>
            <a:ext cx="3169364"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メーカー</a:t>
            </a:r>
            <a:endParaRPr lang="ja-JP" sz="1600" dirty="0"/>
          </a:p>
        </p:txBody>
      </p:sp>
      <p:sp>
        <p:nvSpPr>
          <p:cNvPr id="6" name="Shape 4"/>
          <p:cNvSpPr/>
          <p:nvPr/>
        </p:nvSpPr>
        <p:spPr>
          <a:xfrm>
            <a:off x="4339422" y="3168253"/>
            <a:ext cx="3512752"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7" name="Text 5"/>
          <p:cNvSpPr/>
          <p:nvPr/>
        </p:nvSpPr>
        <p:spPr>
          <a:xfrm>
            <a:off x="4511066" y="3339902"/>
            <a:ext cx="3169464"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ブランド</a:t>
            </a:r>
            <a:endParaRPr lang="ja-JP" sz="1600" dirty="0"/>
          </a:p>
        </p:txBody>
      </p:sp>
      <p:sp>
        <p:nvSpPr>
          <p:cNvPr id="8" name="Shape 6"/>
          <p:cNvSpPr/>
          <p:nvPr/>
        </p:nvSpPr>
        <p:spPr>
          <a:xfrm>
            <a:off x="8017468" y="3168253"/>
            <a:ext cx="3512653"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9" name="Text 7"/>
          <p:cNvSpPr/>
          <p:nvPr/>
        </p:nvSpPr>
        <p:spPr>
          <a:xfrm>
            <a:off x="8189112" y="3339902"/>
            <a:ext cx="3169364"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商品</a:t>
            </a:r>
            <a:endParaRPr lang="zh-CN" sz="1600" dirty="0"/>
          </a:p>
        </p:txBody>
      </p:sp>
      <p:sp>
        <p:nvSpPr>
          <p:cNvPr id="10" name="Shape 8"/>
          <p:cNvSpPr/>
          <p:nvPr/>
        </p:nvSpPr>
        <p:spPr>
          <a:xfrm>
            <a:off x="661475" y="3935313"/>
            <a:ext cx="5351626"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11" name="Text 9"/>
          <p:cNvSpPr/>
          <p:nvPr/>
        </p:nvSpPr>
        <p:spPr>
          <a:xfrm>
            <a:off x="833119" y="4106962"/>
            <a:ext cx="5008338" cy="258465"/>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Noto Sans JP" pitchFamily="34" charset="0"/>
                <a:ea typeface="Noto Sans JP" pitchFamily="34" charset="-122"/>
                <a:cs typeface="Noto Sans JP" pitchFamily="34" charset="-120"/>
              </a:rPr>
              <a:t>SKU</a:t>
            </a:r>
            <a:endParaRPr lang="en-US" sz="1600" dirty="0"/>
          </a:p>
        </p:txBody>
      </p:sp>
      <p:sp>
        <p:nvSpPr>
          <p:cNvPr id="12" name="Shape 10"/>
          <p:cNvSpPr/>
          <p:nvPr/>
        </p:nvSpPr>
        <p:spPr>
          <a:xfrm>
            <a:off x="6178395" y="3935313"/>
            <a:ext cx="5351725"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13" name="Text 11"/>
          <p:cNvSpPr/>
          <p:nvPr/>
        </p:nvSpPr>
        <p:spPr>
          <a:xfrm>
            <a:off x="6350040" y="4106962"/>
            <a:ext cx="5008437"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発注数量</a:t>
            </a:r>
            <a:endParaRPr lang="zh-CN" sz="1600" dirty="0"/>
          </a:p>
        </p:txBody>
      </p:sp>
      <p:sp>
        <p:nvSpPr>
          <p:cNvPr id="14" name="Text 12"/>
          <p:cNvSpPr/>
          <p:nvPr/>
        </p:nvSpPr>
        <p:spPr>
          <a:xfrm>
            <a:off x="661475" y="4723110"/>
            <a:ext cx="10868745" cy="715268"/>
          </a:xfrm>
          <a:prstGeom prst="rect">
            <a:avLst/>
          </a:prstGeom>
          <a:noFill/>
          <a:ln/>
        </p:spPr>
        <p:txBody>
          <a:bodyPr wrap="square" lIns="0" tIns="0" rIns="0" bIns="0" rtlCol="0" anchor="t"/>
          <a:lstStyle/>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等を基に発注書を生成し、メール送付まで行える仕組みについて検討しました。</a:t>
            </a:r>
            <a:endParaRPr lang="ja-JP" sz="1300" dirty="0"/>
          </a:p>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メーカー側の現在の業務を大きく変更することなく、当社側の発注書作成・メール送付作業を効率化する方向を想定しています。</a:t>
            </a:r>
            <a:endParaRPr lang="ja-JP" sz="1300" dirty="0"/>
          </a:p>
        </p:txBody>
      </p:sp>
      <p:pic>
        <p:nvPicPr>
          <p:cNvPr id="16" name="図 15">
            <a:extLst>
              <a:ext uri="{FF2B5EF4-FFF2-40B4-BE49-F238E27FC236}">
                <a16:creationId xmlns:a16="http://schemas.microsoft.com/office/drawing/2014/main" id="{F54EE299-26AD-B42E-89F5-C99CD28696E3}"/>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10540683" y="147003"/>
            <a:ext cx="14351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スライド番号プレースホルダー 5">
            <a:extLst>
              <a:ext uri="{FF2B5EF4-FFF2-40B4-BE49-F238E27FC236}">
                <a16:creationId xmlns:a16="http://schemas.microsoft.com/office/drawing/2014/main" id="{F1C28976-410F-D7A3-4B34-2884579A51B2}"/>
              </a:ext>
            </a:extLst>
          </p:cNvPr>
          <p:cNvSpPr txBox="1">
            <a:spLocks/>
          </p:cNvSpPr>
          <p:nvPr/>
        </p:nvSpPr>
        <p:spPr>
          <a:xfrm>
            <a:off x="71120" y="6422640"/>
            <a:ext cx="540000" cy="360000"/>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B948492C-AFDE-7B4E-95C2-B0C978FE8518}" type="slidenum">
              <a:rPr lang="ja-JP" altLang="en-US" sz="1400" smtClean="0"/>
              <a:pPr algn="r"/>
              <a:t>8</a:t>
            </a:fld>
            <a:endParaRPr lang="ja-JP" alt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223268"/>
            <a:ext cx="10868745" cy="516731"/>
          </a:xfrm>
          <a:prstGeom prst="rect">
            <a:avLst/>
          </a:prstGeom>
          <a:noFill/>
          <a:ln/>
        </p:spPr>
        <p:txBody>
          <a:bodyPr wrap="none" lIns="0" tIns="0" rIns="0" bIns="0" rtlCol="0" anchor="t"/>
          <a:lstStyle/>
          <a:p>
            <a:pPr marL="0" indent="0" algn="l">
              <a:lnSpc>
                <a:spcPct val="104000"/>
              </a:lnSpc>
              <a:buNone/>
            </a:pPr>
            <a:r>
              <a:rPr lang="ja-JP" altLang="en-US" sz="3250" dirty="0">
                <a:solidFill>
                  <a:srgbClr val="000000"/>
                </a:solidFill>
                <a:latin typeface="Noto Sans JP" pitchFamily="34" charset="0"/>
                <a:ea typeface="Noto Sans JP" pitchFamily="34" charset="-122"/>
                <a:cs typeface="Noto Sans JP" pitchFamily="34" charset="-120"/>
              </a:rPr>
              <a:t>9. 発注履歴の管理</a:t>
            </a:r>
            <a:endParaRPr lang="ja-JP" sz="3250" dirty="0"/>
          </a:p>
        </p:txBody>
      </p:sp>
      <p:sp>
        <p:nvSpPr>
          <p:cNvPr id="3" name="Text 1"/>
          <p:cNvSpPr/>
          <p:nvPr/>
        </p:nvSpPr>
        <p:spPr>
          <a:xfrm>
            <a:off x="661475" y="2070695"/>
            <a:ext cx="11478330" cy="264616"/>
          </a:xfrm>
          <a:prstGeom prst="rect">
            <a:avLst/>
          </a:prstGeom>
          <a:noFill/>
          <a:ln/>
        </p:spPr>
        <p:txBody>
          <a:bodyPr wrap="none" lIns="0" tIns="0" rIns="0" bIns="0" rtlCol="0" anchor="t"/>
          <a:lstStyle/>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発注をシステム上で行うことにより、</a:t>
            </a:r>
            <a:endParaRPr lang="ja-JP" sz="1300" dirty="0"/>
          </a:p>
        </p:txBody>
      </p:sp>
      <p:sp>
        <p:nvSpPr>
          <p:cNvPr id="4" name="Shape 2"/>
          <p:cNvSpPr/>
          <p:nvPr/>
        </p:nvSpPr>
        <p:spPr>
          <a:xfrm>
            <a:off x="661475" y="2521347"/>
            <a:ext cx="2593216" cy="627162"/>
          </a:xfrm>
          <a:prstGeom prst="roundRect">
            <a:avLst>
              <a:gd name="adj" fmla="val 11076"/>
            </a:avLst>
          </a:prstGeom>
          <a:solidFill>
            <a:srgbClr val="FFFFFF"/>
          </a:solidFill>
          <a:ln w="19050">
            <a:solidFill>
              <a:srgbClr val="E5CCB2"/>
            </a:solidFill>
            <a:prstDash val="solid"/>
          </a:ln>
        </p:spPr>
        <p:txBody>
          <a:bodyPr/>
          <a:lstStyle/>
          <a:p>
            <a:endParaRPr lang="ja-JP" altLang="en-US"/>
          </a:p>
        </p:txBody>
      </p:sp>
      <p:sp>
        <p:nvSpPr>
          <p:cNvPr id="5" name="Text 3"/>
          <p:cNvSpPr/>
          <p:nvPr/>
        </p:nvSpPr>
        <p:spPr>
          <a:xfrm>
            <a:off x="845819" y="2705695"/>
            <a:ext cx="2224528"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発注日</a:t>
            </a:r>
            <a:endParaRPr lang="zh-CN" sz="1600" dirty="0"/>
          </a:p>
        </p:txBody>
      </p:sp>
      <p:sp>
        <p:nvSpPr>
          <p:cNvPr id="6" name="Shape 4"/>
          <p:cNvSpPr/>
          <p:nvPr/>
        </p:nvSpPr>
        <p:spPr>
          <a:xfrm>
            <a:off x="3419985" y="2521347"/>
            <a:ext cx="2593216" cy="627162"/>
          </a:xfrm>
          <a:prstGeom prst="roundRect">
            <a:avLst>
              <a:gd name="adj" fmla="val 11076"/>
            </a:avLst>
          </a:prstGeom>
          <a:solidFill>
            <a:srgbClr val="FFFFFF"/>
          </a:solidFill>
          <a:ln w="19050">
            <a:solidFill>
              <a:srgbClr val="E5CCB2"/>
            </a:solidFill>
            <a:prstDash val="solid"/>
          </a:ln>
        </p:spPr>
        <p:txBody>
          <a:bodyPr/>
          <a:lstStyle/>
          <a:p>
            <a:endParaRPr lang="ja-JP" altLang="en-US"/>
          </a:p>
        </p:txBody>
      </p:sp>
      <p:sp>
        <p:nvSpPr>
          <p:cNvPr id="7" name="Text 5"/>
          <p:cNvSpPr/>
          <p:nvPr/>
        </p:nvSpPr>
        <p:spPr>
          <a:xfrm>
            <a:off x="3604329" y="2705695"/>
            <a:ext cx="2224528"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メーカー</a:t>
            </a:r>
            <a:endParaRPr lang="ja-JP" sz="1600" dirty="0"/>
          </a:p>
        </p:txBody>
      </p:sp>
      <p:sp>
        <p:nvSpPr>
          <p:cNvPr id="8" name="Shape 6"/>
          <p:cNvSpPr/>
          <p:nvPr/>
        </p:nvSpPr>
        <p:spPr>
          <a:xfrm>
            <a:off x="6178495" y="2521347"/>
            <a:ext cx="2593216" cy="627162"/>
          </a:xfrm>
          <a:prstGeom prst="roundRect">
            <a:avLst>
              <a:gd name="adj" fmla="val 11076"/>
            </a:avLst>
          </a:prstGeom>
          <a:solidFill>
            <a:srgbClr val="FFFFFF"/>
          </a:solidFill>
          <a:ln w="19050">
            <a:solidFill>
              <a:srgbClr val="E5CCB2"/>
            </a:solidFill>
            <a:prstDash val="solid"/>
          </a:ln>
        </p:spPr>
        <p:txBody>
          <a:bodyPr/>
          <a:lstStyle/>
          <a:p>
            <a:endParaRPr lang="ja-JP" altLang="en-US"/>
          </a:p>
        </p:txBody>
      </p:sp>
      <p:sp>
        <p:nvSpPr>
          <p:cNvPr id="9" name="Text 7"/>
          <p:cNvSpPr/>
          <p:nvPr/>
        </p:nvSpPr>
        <p:spPr>
          <a:xfrm>
            <a:off x="6362838" y="2705695"/>
            <a:ext cx="2224528"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ブランド</a:t>
            </a:r>
            <a:endParaRPr lang="ja-JP" sz="1600" dirty="0"/>
          </a:p>
        </p:txBody>
      </p:sp>
      <p:sp>
        <p:nvSpPr>
          <p:cNvPr id="10" name="Shape 8"/>
          <p:cNvSpPr/>
          <p:nvPr/>
        </p:nvSpPr>
        <p:spPr>
          <a:xfrm>
            <a:off x="8937005" y="2521347"/>
            <a:ext cx="2593216" cy="627162"/>
          </a:xfrm>
          <a:prstGeom prst="roundRect">
            <a:avLst>
              <a:gd name="adj" fmla="val 11076"/>
            </a:avLst>
          </a:prstGeom>
          <a:solidFill>
            <a:srgbClr val="FFFFFF"/>
          </a:solidFill>
          <a:ln w="19050">
            <a:solidFill>
              <a:srgbClr val="E5CCB2"/>
            </a:solidFill>
            <a:prstDash val="solid"/>
          </a:ln>
        </p:spPr>
        <p:txBody>
          <a:bodyPr/>
          <a:lstStyle/>
          <a:p>
            <a:endParaRPr lang="ja-JP" altLang="en-US"/>
          </a:p>
        </p:txBody>
      </p:sp>
      <p:sp>
        <p:nvSpPr>
          <p:cNvPr id="11" name="Text 9"/>
          <p:cNvSpPr/>
          <p:nvPr/>
        </p:nvSpPr>
        <p:spPr>
          <a:xfrm>
            <a:off x="9121348" y="2705695"/>
            <a:ext cx="2224528"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商品</a:t>
            </a:r>
            <a:endParaRPr lang="zh-CN" sz="1600" dirty="0"/>
          </a:p>
        </p:txBody>
      </p:sp>
      <p:sp>
        <p:nvSpPr>
          <p:cNvPr id="12" name="Shape 10"/>
          <p:cNvSpPr/>
          <p:nvPr/>
        </p:nvSpPr>
        <p:spPr>
          <a:xfrm>
            <a:off x="661475" y="3313807"/>
            <a:ext cx="2593216" cy="627162"/>
          </a:xfrm>
          <a:prstGeom prst="roundRect">
            <a:avLst>
              <a:gd name="adj" fmla="val 11076"/>
            </a:avLst>
          </a:prstGeom>
          <a:solidFill>
            <a:srgbClr val="FFFFFF"/>
          </a:solidFill>
          <a:ln w="19050">
            <a:solidFill>
              <a:srgbClr val="E5CCB2"/>
            </a:solidFill>
            <a:prstDash val="solid"/>
          </a:ln>
        </p:spPr>
        <p:txBody>
          <a:bodyPr/>
          <a:lstStyle/>
          <a:p>
            <a:endParaRPr lang="ja-JP" altLang="en-US"/>
          </a:p>
        </p:txBody>
      </p:sp>
      <p:sp>
        <p:nvSpPr>
          <p:cNvPr id="13" name="Text 11"/>
          <p:cNvSpPr/>
          <p:nvPr/>
        </p:nvSpPr>
        <p:spPr>
          <a:xfrm>
            <a:off x="845819" y="3498155"/>
            <a:ext cx="2224528" cy="258465"/>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Noto Sans JP" pitchFamily="34" charset="0"/>
                <a:ea typeface="Noto Sans JP" pitchFamily="34" charset="-122"/>
                <a:cs typeface="Noto Sans JP" pitchFamily="34" charset="-120"/>
              </a:rPr>
              <a:t>SKU</a:t>
            </a:r>
            <a:endParaRPr lang="en-US" sz="1600" dirty="0"/>
          </a:p>
        </p:txBody>
      </p:sp>
      <p:sp>
        <p:nvSpPr>
          <p:cNvPr id="14" name="Shape 12"/>
          <p:cNvSpPr/>
          <p:nvPr/>
        </p:nvSpPr>
        <p:spPr>
          <a:xfrm>
            <a:off x="3419985" y="3313807"/>
            <a:ext cx="2593216" cy="627162"/>
          </a:xfrm>
          <a:prstGeom prst="roundRect">
            <a:avLst>
              <a:gd name="adj" fmla="val 11076"/>
            </a:avLst>
          </a:prstGeom>
          <a:solidFill>
            <a:srgbClr val="FFFFFF"/>
          </a:solidFill>
          <a:ln w="19050">
            <a:solidFill>
              <a:srgbClr val="E5CCB2"/>
            </a:solidFill>
            <a:prstDash val="solid"/>
          </a:ln>
        </p:spPr>
        <p:txBody>
          <a:bodyPr/>
          <a:lstStyle/>
          <a:p>
            <a:endParaRPr lang="ja-JP" altLang="en-US"/>
          </a:p>
        </p:txBody>
      </p:sp>
      <p:sp>
        <p:nvSpPr>
          <p:cNvPr id="15" name="Text 13"/>
          <p:cNvSpPr/>
          <p:nvPr/>
        </p:nvSpPr>
        <p:spPr>
          <a:xfrm>
            <a:off x="3604329" y="3498155"/>
            <a:ext cx="2224528"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発注数量</a:t>
            </a:r>
            <a:endParaRPr lang="zh-CN" sz="1600" dirty="0"/>
          </a:p>
        </p:txBody>
      </p:sp>
      <p:sp>
        <p:nvSpPr>
          <p:cNvPr id="16" name="Shape 14"/>
          <p:cNvSpPr/>
          <p:nvPr/>
        </p:nvSpPr>
        <p:spPr>
          <a:xfrm>
            <a:off x="6178495" y="3313807"/>
            <a:ext cx="2593216" cy="627162"/>
          </a:xfrm>
          <a:prstGeom prst="roundRect">
            <a:avLst>
              <a:gd name="adj" fmla="val 11076"/>
            </a:avLst>
          </a:prstGeom>
          <a:solidFill>
            <a:srgbClr val="FFFFFF"/>
          </a:solidFill>
          <a:ln w="19050">
            <a:solidFill>
              <a:srgbClr val="E5CCB2"/>
            </a:solidFill>
            <a:prstDash val="solid"/>
          </a:ln>
        </p:spPr>
        <p:txBody>
          <a:bodyPr/>
          <a:lstStyle/>
          <a:p>
            <a:endParaRPr lang="ja-JP" altLang="en-US"/>
          </a:p>
        </p:txBody>
      </p:sp>
      <p:sp>
        <p:nvSpPr>
          <p:cNvPr id="17" name="Text 15"/>
          <p:cNvSpPr/>
          <p:nvPr/>
        </p:nvSpPr>
        <p:spPr>
          <a:xfrm>
            <a:off x="6362838" y="3498155"/>
            <a:ext cx="2224528"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メーカー回答数量</a:t>
            </a:r>
            <a:endParaRPr lang="ja-JP" sz="1600" dirty="0"/>
          </a:p>
        </p:txBody>
      </p:sp>
      <p:sp>
        <p:nvSpPr>
          <p:cNvPr id="18" name="Shape 16"/>
          <p:cNvSpPr/>
          <p:nvPr/>
        </p:nvSpPr>
        <p:spPr>
          <a:xfrm>
            <a:off x="8937005" y="3313807"/>
            <a:ext cx="2593216" cy="627162"/>
          </a:xfrm>
          <a:prstGeom prst="roundRect">
            <a:avLst>
              <a:gd name="adj" fmla="val 11076"/>
            </a:avLst>
          </a:prstGeom>
          <a:solidFill>
            <a:srgbClr val="FFFFFF"/>
          </a:solidFill>
          <a:ln w="19050">
            <a:solidFill>
              <a:srgbClr val="E5CCB2"/>
            </a:solidFill>
            <a:prstDash val="solid"/>
          </a:ln>
        </p:spPr>
        <p:txBody>
          <a:bodyPr/>
          <a:lstStyle/>
          <a:p>
            <a:endParaRPr lang="ja-JP" altLang="en-US"/>
          </a:p>
        </p:txBody>
      </p:sp>
      <p:sp>
        <p:nvSpPr>
          <p:cNvPr id="19" name="Text 17"/>
          <p:cNvSpPr/>
          <p:nvPr/>
        </p:nvSpPr>
        <p:spPr>
          <a:xfrm>
            <a:off x="9121348" y="3498155"/>
            <a:ext cx="2224528"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希望納期</a:t>
            </a:r>
            <a:endParaRPr lang="zh-CN" sz="1600" dirty="0"/>
          </a:p>
        </p:txBody>
      </p:sp>
      <p:sp>
        <p:nvSpPr>
          <p:cNvPr id="20" name="Shape 18"/>
          <p:cNvSpPr/>
          <p:nvPr/>
        </p:nvSpPr>
        <p:spPr>
          <a:xfrm>
            <a:off x="661475" y="4106267"/>
            <a:ext cx="5351725" cy="627162"/>
          </a:xfrm>
          <a:prstGeom prst="roundRect">
            <a:avLst>
              <a:gd name="adj" fmla="val 11076"/>
            </a:avLst>
          </a:prstGeom>
          <a:solidFill>
            <a:srgbClr val="FFFFFF"/>
          </a:solidFill>
          <a:ln w="19050">
            <a:solidFill>
              <a:srgbClr val="E5CCB2"/>
            </a:solidFill>
            <a:prstDash val="solid"/>
          </a:ln>
        </p:spPr>
        <p:txBody>
          <a:bodyPr/>
          <a:lstStyle/>
          <a:p>
            <a:endParaRPr lang="ja-JP" altLang="en-US"/>
          </a:p>
        </p:txBody>
      </p:sp>
      <p:sp>
        <p:nvSpPr>
          <p:cNvPr id="21" name="Text 19"/>
          <p:cNvSpPr/>
          <p:nvPr/>
        </p:nvSpPr>
        <p:spPr>
          <a:xfrm>
            <a:off x="845819" y="4290616"/>
            <a:ext cx="4983038"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確定納期</a:t>
            </a:r>
            <a:endParaRPr lang="zh-CN" sz="1600" dirty="0"/>
          </a:p>
        </p:txBody>
      </p:sp>
      <p:sp>
        <p:nvSpPr>
          <p:cNvPr id="22" name="Shape 20"/>
          <p:cNvSpPr/>
          <p:nvPr/>
        </p:nvSpPr>
        <p:spPr>
          <a:xfrm>
            <a:off x="6178495" y="4106267"/>
            <a:ext cx="5351725" cy="627162"/>
          </a:xfrm>
          <a:prstGeom prst="roundRect">
            <a:avLst>
              <a:gd name="adj" fmla="val 11076"/>
            </a:avLst>
          </a:prstGeom>
          <a:solidFill>
            <a:srgbClr val="FFFFFF"/>
          </a:solidFill>
          <a:ln w="19050">
            <a:solidFill>
              <a:srgbClr val="E5CCB2"/>
            </a:solidFill>
            <a:prstDash val="solid"/>
          </a:ln>
        </p:spPr>
        <p:txBody>
          <a:bodyPr/>
          <a:lstStyle/>
          <a:p>
            <a:endParaRPr lang="ja-JP" altLang="en-US"/>
          </a:p>
        </p:txBody>
      </p:sp>
      <p:sp>
        <p:nvSpPr>
          <p:cNvPr id="23" name="Text 21"/>
          <p:cNvSpPr/>
          <p:nvPr/>
        </p:nvSpPr>
        <p:spPr>
          <a:xfrm>
            <a:off x="6362838" y="4290616"/>
            <a:ext cx="4983038"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担当者</a:t>
            </a:r>
            <a:endParaRPr lang="zh-CN" sz="1600" dirty="0"/>
          </a:p>
        </p:txBody>
      </p:sp>
      <p:sp>
        <p:nvSpPr>
          <p:cNvPr id="24" name="Text 22"/>
          <p:cNvSpPr/>
          <p:nvPr/>
        </p:nvSpPr>
        <p:spPr>
          <a:xfrm>
            <a:off x="661475" y="4919464"/>
            <a:ext cx="10868745" cy="715268"/>
          </a:xfrm>
          <a:prstGeom prst="rect">
            <a:avLst/>
          </a:prstGeom>
          <a:noFill/>
          <a:ln/>
        </p:spPr>
        <p:txBody>
          <a:bodyPr wrap="square" lIns="0" tIns="0" rIns="0" bIns="0" rtlCol="0" anchor="t"/>
          <a:lstStyle/>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等を発注履歴として蓄積することも検討しました。</a:t>
            </a:r>
            <a:endParaRPr lang="ja-JP" sz="1300" dirty="0"/>
          </a:p>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これにより、過去の発注内容や変更状況を確認しやすくすることが期待されます。</a:t>
            </a:r>
            <a:endParaRPr lang="ja-JP" sz="1300" dirty="0"/>
          </a:p>
        </p:txBody>
      </p:sp>
      <p:pic>
        <p:nvPicPr>
          <p:cNvPr id="26" name="図 25">
            <a:extLst>
              <a:ext uri="{FF2B5EF4-FFF2-40B4-BE49-F238E27FC236}">
                <a16:creationId xmlns:a16="http://schemas.microsoft.com/office/drawing/2014/main" id="{FA4DAFB7-94E5-57F9-505B-25DA5A84537D}"/>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10540683" y="147003"/>
            <a:ext cx="14351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スライド番号プレースホルダー 5">
            <a:extLst>
              <a:ext uri="{FF2B5EF4-FFF2-40B4-BE49-F238E27FC236}">
                <a16:creationId xmlns:a16="http://schemas.microsoft.com/office/drawing/2014/main" id="{436C9A7E-58EC-9E55-D9ED-1D3396EC2CC4}"/>
              </a:ext>
            </a:extLst>
          </p:cNvPr>
          <p:cNvSpPr txBox="1">
            <a:spLocks/>
          </p:cNvSpPr>
          <p:nvPr/>
        </p:nvSpPr>
        <p:spPr>
          <a:xfrm>
            <a:off x="71120" y="6422640"/>
            <a:ext cx="540000" cy="360000"/>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B948492C-AFDE-7B4E-95C2-B0C978FE8518}" type="slidenum">
              <a:rPr lang="ja-JP" altLang="en-US" sz="1400" smtClean="0"/>
              <a:pPr algn="r"/>
              <a:t>9</a:t>
            </a:fld>
            <a:endParaRPr lang="ja-JP" alt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803102"/>
            <a:ext cx="10868745" cy="516731"/>
          </a:xfrm>
          <a:prstGeom prst="rect">
            <a:avLst/>
          </a:prstGeom>
          <a:noFill/>
          <a:ln/>
        </p:spPr>
        <p:txBody>
          <a:bodyPr wrap="none" lIns="0" tIns="0" rIns="0" bIns="0" rtlCol="0" anchor="t"/>
          <a:lstStyle/>
          <a:p>
            <a:pPr marL="0" indent="0" algn="l">
              <a:lnSpc>
                <a:spcPct val="104000"/>
              </a:lnSpc>
              <a:buNone/>
            </a:pPr>
            <a:r>
              <a:rPr lang="zh-CN" altLang="en-US" sz="3250" dirty="0">
                <a:solidFill>
                  <a:srgbClr val="000000"/>
                </a:solidFill>
                <a:latin typeface="Noto Sans JP" pitchFamily="34" charset="0"/>
                <a:ea typeface="Noto Sans JP" pitchFamily="34" charset="-122"/>
                <a:cs typeface="Noto Sans JP" pitchFamily="34" charset="-120"/>
              </a:rPr>
              <a:t>10. 権限・承認</a:t>
            </a:r>
            <a:endParaRPr lang="zh-CN" sz="3250" dirty="0"/>
          </a:p>
        </p:txBody>
      </p:sp>
      <p:sp>
        <p:nvSpPr>
          <p:cNvPr id="3" name="Text 1"/>
          <p:cNvSpPr/>
          <p:nvPr/>
        </p:nvSpPr>
        <p:spPr>
          <a:xfrm>
            <a:off x="661475" y="2650530"/>
            <a:ext cx="10868745" cy="715268"/>
          </a:xfrm>
          <a:prstGeom prst="rect">
            <a:avLst/>
          </a:prstGeom>
          <a:noFill/>
          <a:ln/>
        </p:spPr>
        <p:txBody>
          <a:bodyPr wrap="square" lIns="0" tIns="0" rIns="0" bIns="0" rtlCol="0" anchor="t"/>
          <a:lstStyle/>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オンライン上で発注・価格変更等を実施する場合には、利用者ごとの権限設定が必要との認識です。</a:t>
            </a:r>
            <a:endParaRPr lang="ja-JP" sz="1300" dirty="0"/>
          </a:p>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例えば、</a:t>
            </a:r>
            <a:endParaRPr lang="ja-JP" sz="1300" dirty="0"/>
          </a:p>
        </p:txBody>
      </p:sp>
      <p:sp>
        <p:nvSpPr>
          <p:cNvPr id="4" name="Shape 2"/>
          <p:cNvSpPr/>
          <p:nvPr/>
        </p:nvSpPr>
        <p:spPr>
          <a:xfrm>
            <a:off x="661475" y="3551833"/>
            <a:ext cx="3512653"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5" name="Text 3"/>
          <p:cNvSpPr/>
          <p:nvPr/>
        </p:nvSpPr>
        <p:spPr>
          <a:xfrm>
            <a:off x="833119" y="3723481"/>
            <a:ext cx="3169364"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入力・修正を行う担当者</a:t>
            </a:r>
            <a:endParaRPr lang="ja-JP" sz="1600" dirty="0"/>
          </a:p>
        </p:txBody>
      </p:sp>
      <p:sp>
        <p:nvSpPr>
          <p:cNvPr id="6" name="Shape 4"/>
          <p:cNvSpPr/>
          <p:nvPr/>
        </p:nvSpPr>
        <p:spPr>
          <a:xfrm>
            <a:off x="4339422" y="3551833"/>
            <a:ext cx="3512752"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7" name="Text 5"/>
          <p:cNvSpPr/>
          <p:nvPr/>
        </p:nvSpPr>
        <p:spPr>
          <a:xfrm>
            <a:off x="4511066" y="3723481"/>
            <a:ext cx="3169464"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内容を確認・承認する担当者</a:t>
            </a:r>
            <a:endParaRPr lang="ja-JP" sz="1600" dirty="0"/>
          </a:p>
        </p:txBody>
      </p:sp>
      <p:sp>
        <p:nvSpPr>
          <p:cNvPr id="8" name="Shape 6"/>
          <p:cNvSpPr/>
          <p:nvPr/>
        </p:nvSpPr>
        <p:spPr>
          <a:xfrm>
            <a:off x="8017468" y="3551833"/>
            <a:ext cx="3512653"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9" name="Text 7"/>
          <p:cNvSpPr/>
          <p:nvPr/>
        </p:nvSpPr>
        <p:spPr>
          <a:xfrm>
            <a:off x="8189112" y="3723481"/>
            <a:ext cx="3169364"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管理機能を利用する管理者</a:t>
            </a:r>
            <a:endParaRPr lang="ja-JP" sz="1600" dirty="0"/>
          </a:p>
        </p:txBody>
      </p:sp>
      <p:sp>
        <p:nvSpPr>
          <p:cNvPr id="10" name="Text 8"/>
          <p:cNvSpPr/>
          <p:nvPr/>
        </p:nvSpPr>
        <p:spPr>
          <a:xfrm>
            <a:off x="661475" y="4339630"/>
            <a:ext cx="10868745" cy="715268"/>
          </a:xfrm>
          <a:prstGeom prst="rect">
            <a:avLst/>
          </a:prstGeom>
          <a:noFill/>
          <a:ln/>
        </p:spPr>
        <p:txBody>
          <a:bodyPr wrap="square" lIns="0" tIns="0" rIns="0" bIns="0" rtlCol="0" anchor="t"/>
          <a:lstStyle/>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など、役割に応じた操作範囲を設定することが考えられます。</a:t>
            </a:r>
            <a:endParaRPr lang="ja-JP" sz="1300" dirty="0"/>
          </a:p>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一方で、承認工程を必要以上に複雑にせず、実運用に適した形とすることも今後の検討事項です。</a:t>
            </a:r>
            <a:endParaRPr lang="ja-JP" sz="1300" dirty="0"/>
          </a:p>
        </p:txBody>
      </p:sp>
      <p:pic>
        <p:nvPicPr>
          <p:cNvPr id="12" name="図 11">
            <a:extLst>
              <a:ext uri="{FF2B5EF4-FFF2-40B4-BE49-F238E27FC236}">
                <a16:creationId xmlns:a16="http://schemas.microsoft.com/office/drawing/2014/main" id="{45409169-5605-E436-F68F-7FF057003F2D}"/>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10540683" y="147003"/>
            <a:ext cx="14351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スライド番号プレースホルダー 5">
            <a:extLst>
              <a:ext uri="{FF2B5EF4-FFF2-40B4-BE49-F238E27FC236}">
                <a16:creationId xmlns:a16="http://schemas.microsoft.com/office/drawing/2014/main" id="{4FF360C2-BEAA-C5B5-F3C8-583CC299449D}"/>
              </a:ext>
            </a:extLst>
          </p:cNvPr>
          <p:cNvSpPr txBox="1">
            <a:spLocks/>
          </p:cNvSpPr>
          <p:nvPr/>
        </p:nvSpPr>
        <p:spPr>
          <a:xfrm>
            <a:off x="71120" y="6422640"/>
            <a:ext cx="540000" cy="360000"/>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B948492C-AFDE-7B4E-95C2-B0C978FE8518}" type="slidenum">
              <a:rPr lang="ja-JP" altLang="en-US" sz="1400" smtClean="0"/>
              <a:pPr algn="r"/>
              <a:t>10</a:t>
            </a:fld>
            <a:endParaRPr lang="ja-JP" alt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394123"/>
            <a:ext cx="10868745" cy="516731"/>
          </a:xfrm>
          <a:prstGeom prst="rect">
            <a:avLst/>
          </a:prstGeom>
          <a:noFill/>
          <a:ln/>
        </p:spPr>
        <p:txBody>
          <a:bodyPr wrap="none" lIns="0" tIns="0" rIns="0" bIns="0" rtlCol="0" anchor="t"/>
          <a:lstStyle/>
          <a:p>
            <a:pPr marL="0" indent="0" algn="l">
              <a:lnSpc>
                <a:spcPct val="104000"/>
              </a:lnSpc>
              <a:buNone/>
            </a:pPr>
            <a:r>
              <a:rPr lang="zh-CN" altLang="en-US" sz="3250" dirty="0">
                <a:solidFill>
                  <a:srgbClr val="000000"/>
                </a:solidFill>
                <a:latin typeface="Noto Sans JP" pitchFamily="34" charset="0"/>
                <a:ea typeface="Noto Sans JP" pitchFamily="34" charset="-122"/>
                <a:cs typeface="Noto Sans JP" pitchFamily="34" charset="-120"/>
              </a:rPr>
              <a:t>11. 価格変更業務</a:t>
            </a:r>
            <a:endParaRPr lang="zh-CN" sz="3250" dirty="0"/>
          </a:p>
        </p:txBody>
      </p:sp>
      <p:sp>
        <p:nvSpPr>
          <p:cNvPr id="3" name="Text 1"/>
          <p:cNvSpPr/>
          <p:nvPr/>
        </p:nvSpPr>
        <p:spPr>
          <a:xfrm>
            <a:off x="661475" y="2241550"/>
            <a:ext cx="10868745" cy="1165920"/>
          </a:xfrm>
          <a:prstGeom prst="rect">
            <a:avLst/>
          </a:prstGeom>
          <a:noFill/>
          <a:ln/>
        </p:spPr>
        <p:txBody>
          <a:bodyPr wrap="square" lIns="0" tIns="0" rIns="0" bIns="0" rtlCol="0" anchor="t"/>
          <a:lstStyle/>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発注業務に加えて、価格変更についてもオンライン化の要望がありました。</a:t>
            </a:r>
            <a:endParaRPr lang="ja-JP" sz="1300" dirty="0"/>
          </a:p>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現在行っているデータのダウンロード、価格修正、CSV等による再反映を減らし、G-SYS上で価格を変更できる仕組みについて検討しました。</a:t>
            </a:r>
            <a:endParaRPr lang="ja-JP" sz="1300" dirty="0"/>
          </a:p>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あわせて、</a:t>
            </a:r>
            <a:endParaRPr lang="ja-JP" sz="13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593505"/>
            <a:ext cx="5351725" cy="627162"/>
          </a:xfrm>
          <a:prstGeom prst="rect">
            <a:avLst/>
          </a:prstGeom>
        </p:spPr>
      </p:pic>
      <p:sp>
        <p:nvSpPr>
          <p:cNvPr id="5" name="Text 2"/>
          <p:cNvSpPr/>
          <p:nvPr/>
        </p:nvSpPr>
        <p:spPr>
          <a:xfrm>
            <a:off x="922017" y="3777853"/>
            <a:ext cx="4906840"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複数商品の一括変更</a:t>
            </a:r>
            <a:endParaRPr lang="ja-JP" sz="16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8495" y="3593505"/>
            <a:ext cx="5351725" cy="627162"/>
          </a:xfrm>
          <a:prstGeom prst="rect">
            <a:avLst/>
          </a:prstGeom>
        </p:spPr>
      </p:pic>
      <p:sp>
        <p:nvSpPr>
          <p:cNvPr id="7" name="Text 3"/>
          <p:cNvSpPr/>
          <p:nvPr/>
        </p:nvSpPr>
        <p:spPr>
          <a:xfrm>
            <a:off x="6439037" y="3777853"/>
            <a:ext cx="4906840"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将来日の価格変更予約</a:t>
            </a:r>
            <a:endParaRPr lang="ja-JP" sz="160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385965"/>
            <a:ext cx="5351725" cy="627162"/>
          </a:xfrm>
          <a:prstGeom prst="rect">
            <a:avLst/>
          </a:prstGeom>
        </p:spPr>
      </p:pic>
      <p:sp>
        <p:nvSpPr>
          <p:cNvPr id="9" name="Text 4"/>
          <p:cNvSpPr/>
          <p:nvPr/>
        </p:nvSpPr>
        <p:spPr>
          <a:xfrm>
            <a:off x="922017" y="4570313"/>
            <a:ext cx="4906840"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利益率や赤字となる価格への警告</a:t>
            </a:r>
            <a:endParaRPr lang="ja-JP" sz="160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8495" y="4385965"/>
            <a:ext cx="5351725" cy="627162"/>
          </a:xfrm>
          <a:prstGeom prst="rect">
            <a:avLst/>
          </a:prstGeom>
        </p:spPr>
      </p:pic>
      <p:sp>
        <p:nvSpPr>
          <p:cNvPr id="11" name="Text 5"/>
          <p:cNvSpPr/>
          <p:nvPr/>
        </p:nvSpPr>
        <p:spPr>
          <a:xfrm>
            <a:off x="6439037" y="4570313"/>
            <a:ext cx="4906840"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変更履歴</a:t>
            </a:r>
            <a:endParaRPr lang="zh-CN" sz="1600" dirty="0"/>
          </a:p>
        </p:txBody>
      </p:sp>
      <p:sp>
        <p:nvSpPr>
          <p:cNvPr id="12" name="Text 6"/>
          <p:cNvSpPr/>
          <p:nvPr/>
        </p:nvSpPr>
        <p:spPr>
          <a:xfrm>
            <a:off x="661475" y="5199162"/>
            <a:ext cx="11478330" cy="264616"/>
          </a:xfrm>
          <a:prstGeom prst="rect">
            <a:avLst/>
          </a:prstGeom>
          <a:noFill/>
          <a:ln/>
        </p:spPr>
        <p:txBody>
          <a:bodyPr wrap="none" lIns="0" tIns="0" rIns="0" bIns="0" rtlCol="0" anchor="t"/>
          <a:lstStyle/>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等についても今後の検討対象とします。</a:t>
            </a:r>
            <a:endParaRPr lang="ja-JP" sz="1300" dirty="0"/>
          </a:p>
        </p:txBody>
      </p:sp>
      <p:pic>
        <p:nvPicPr>
          <p:cNvPr id="14" name="図 13">
            <a:extLst>
              <a:ext uri="{FF2B5EF4-FFF2-40B4-BE49-F238E27FC236}">
                <a16:creationId xmlns:a16="http://schemas.microsoft.com/office/drawing/2014/main" id="{59EA48E0-003F-9E0F-8A6C-2043D9D329A5}"/>
              </a:ext>
            </a:extLst>
          </p:cNvPr>
          <p:cNvPicPr>
            <a:picLocks noChangeAspect="1"/>
          </p:cNvPicPr>
          <p:nvPr/>
        </p:nvPicPr>
        <p:blipFill>
          <a:blip r:embed="rId4">
            <a:extLst>
              <a:ext uri="{28A0092B-C50C-407E-A947-70E740481C1C}">
                <a14:useLocalDpi xmlns:a14="http://schemas.microsoft.com/office/drawing/2010/main"/>
              </a:ext>
            </a:extLst>
          </a:blip>
          <a:srcRect/>
          <a:stretch>
            <a:fillRect/>
          </a:stretch>
        </p:blipFill>
        <p:spPr bwMode="auto">
          <a:xfrm>
            <a:off x="10540683" y="147003"/>
            <a:ext cx="14351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スライド番号プレースホルダー 5">
            <a:extLst>
              <a:ext uri="{FF2B5EF4-FFF2-40B4-BE49-F238E27FC236}">
                <a16:creationId xmlns:a16="http://schemas.microsoft.com/office/drawing/2014/main" id="{D530D784-A997-273E-C15C-A3EF66980332}"/>
              </a:ext>
            </a:extLst>
          </p:cNvPr>
          <p:cNvSpPr txBox="1">
            <a:spLocks/>
          </p:cNvSpPr>
          <p:nvPr/>
        </p:nvSpPr>
        <p:spPr>
          <a:xfrm>
            <a:off x="71120" y="6422640"/>
            <a:ext cx="540000" cy="360000"/>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B948492C-AFDE-7B4E-95C2-B0C978FE8518}" type="slidenum">
              <a:rPr lang="ja-JP" altLang="en-US" sz="1400" smtClean="0"/>
              <a:pPr algn="r"/>
              <a:t>11</a:t>
            </a:fld>
            <a:endParaRPr lang="ja-JP" alt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644848"/>
            <a:ext cx="10868745" cy="516731"/>
          </a:xfrm>
          <a:prstGeom prst="rect">
            <a:avLst/>
          </a:prstGeom>
          <a:noFill/>
          <a:ln/>
        </p:spPr>
        <p:txBody>
          <a:bodyPr wrap="none" lIns="0" tIns="0" rIns="0" bIns="0" rtlCol="0" anchor="t"/>
          <a:lstStyle/>
          <a:p>
            <a:pPr marL="0" indent="0" algn="l">
              <a:lnSpc>
                <a:spcPct val="104000"/>
              </a:lnSpc>
              <a:buNone/>
            </a:pPr>
            <a:r>
              <a:rPr lang="ja-JP" altLang="en-US" sz="3250" dirty="0">
                <a:solidFill>
                  <a:srgbClr val="000000"/>
                </a:solidFill>
                <a:latin typeface="Noto Sans JP" pitchFamily="34" charset="0"/>
                <a:ea typeface="Noto Sans JP" pitchFamily="34" charset="-122"/>
                <a:cs typeface="Noto Sans JP" pitchFamily="34" charset="-120"/>
              </a:rPr>
              <a:t>12. 発注・請求・売上・仕入データ</a:t>
            </a:r>
            <a:endParaRPr lang="ja-JP" sz="3250" dirty="0"/>
          </a:p>
        </p:txBody>
      </p:sp>
      <p:sp>
        <p:nvSpPr>
          <p:cNvPr id="3" name="Text 1"/>
          <p:cNvSpPr/>
          <p:nvPr/>
        </p:nvSpPr>
        <p:spPr>
          <a:xfrm>
            <a:off x="661475" y="2492276"/>
            <a:ext cx="11478330" cy="264616"/>
          </a:xfrm>
          <a:prstGeom prst="rect">
            <a:avLst/>
          </a:prstGeom>
          <a:noFill/>
          <a:ln/>
        </p:spPr>
        <p:txBody>
          <a:bodyPr wrap="none" lIns="0" tIns="0" rIns="0" bIns="0" rtlCol="0" anchor="t"/>
          <a:lstStyle/>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将来的なテーマとして、発注データを起点に、</a:t>
            </a:r>
            <a:endParaRPr lang="ja-JP" sz="1300" dirty="0"/>
          </a:p>
        </p:txBody>
      </p:sp>
      <p:sp>
        <p:nvSpPr>
          <p:cNvPr id="4" name="Shape 2"/>
          <p:cNvSpPr/>
          <p:nvPr/>
        </p:nvSpPr>
        <p:spPr>
          <a:xfrm>
            <a:off x="661475" y="2942927"/>
            <a:ext cx="3512653"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5" name="Text 3"/>
          <p:cNvSpPr/>
          <p:nvPr/>
        </p:nvSpPr>
        <p:spPr>
          <a:xfrm>
            <a:off x="833119" y="3114576"/>
            <a:ext cx="3169364"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請求</a:t>
            </a:r>
            <a:endParaRPr lang="zh-CN" sz="1600" dirty="0"/>
          </a:p>
        </p:txBody>
      </p:sp>
      <p:sp>
        <p:nvSpPr>
          <p:cNvPr id="6" name="Shape 4"/>
          <p:cNvSpPr/>
          <p:nvPr/>
        </p:nvSpPr>
        <p:spPr>
          <a:xfrm>
            <a:off x="4339422" y="2942927"/>
            <a:ext cx="3512752"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7" name="Text 5"/>
          <p:cNvSpPr/>
          <p:nvPr/>
        </p:nvSpPr>
        <p:spPr>
          <a:xfrm>
            <a:off x="4511066" y="3114576"/>
            <a:ext cx="3169464"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仕入</a:t>
            </a:r>
            <a:endParaRPr lang="zh-CN" sz="1600" dirty="0"/>
          </a:p>
        </p:txBody>
      </p:sp>
      <p:sp>
        <p:nvSpPr>
          <p:cNvPr id="8" name="Shape 6"/>
          <p:cNvSpPr/>
          <p:nvPr/>
        </p:nvSpPr>
        <p:spPr>
          <a:xfrm>
            <a:off x="8017468" y="2942927"/>
            <a:ext cx="3512653"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9" name="Text 7"/>
          <p:cNvSpPr/>
          <p:nvPr/>
        </p:nvSpPr>
        <p:spPr>
          <a:xfrm>
            <a:off x="8189112" y="3114576"/>
            <a:ext cx="3169364"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売上</a:t>
            </a:r>
            <a:endParaRPr lang="zh-CN" sz="1600" dirty="0"/>
          </a:p>
        </p:txBody>
      </p:sp>
      <p:sp>
        <p:nvSpPr>
          <p:cNvPr id="10" name="Shape 8"/>
          <p:cNvSpPr/>
          <p:nvPr/>
        </p:nvSpPr>
        <p:spPr>
          <a:xfrm>
            <a:off x="661475" y="3709987"/>
            <a:ext cx="5351626"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11" name="Text 9"/>
          <p:cNvSpPr/>
          <p:nvPr/>
        </p:nvSpPr>
        <p:spPr>
          <a:xfrm>
            <a:off x="833119" y="3881636"/>
            <a:ext cx="5008338"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ブランド別実績</a:t>
            </a:r>
            <a:endParaRPr lang="ja-JP" sz="1600" dirty="0"/>
          </a:p>
        </p:txBody>
      </p:sp>
      <p:sp>
        <p:nvSpPr>
          <p:cNvPr id="12" name="Shape 10"/>
          <p:cNvSpPr/>
          <p:nvPr/>
        </p:nvSpPr>
        <p:spPr>
          <a:xfrm>
            <a:off x="6178395" y="3709987"/>
            <a:ext cx="5351725" cy="601762"/>
          </a:xfrm>
          <a:prstGeom prst="roundRect">
            <a:avLst>
              <a:gd name="adj" fmla="val 11543"/>
            </a:avLst>
          </a:prstGeom>
          <a:solidFill>
            <a:srgbClr val="FFE6CC"/>
          </a:solidFill>
          <a:ln w="6350">
            <a:solidFill>
              <a:srgbClr val="E5CCB2"/>
            </a:solidFill>
            <a:prstDash val="solid"/>
          </a:ln>
        </p:spPr>
        <p:txBody>
          <a:bodyPr/>
          <a:lstStyle/>
          <a:p>
            <a:endParaRPr lang="ja-JP" altLang="en-US"/>
          </a:p>
        </p:txBody>
      </p:sp>
      <p:sp>
        <p:nvSpPr>
          <p:cNvPr id="13" name="Text 11"/>
          <p:cNvSpPr/>
          <p:nvPr/>
        </p:nvSpPr>
        <p:spPr>
          <a:xfrm>
            <a:off x="6350040" y="3881636"/>
            <a:ext cx="5008437"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粗利</a:t>
            </a:r>
            <a:endParaRPr lang="zh-CN" sz="1600" dirty="0"/>
          </a:p>
        </p:txBody>
      </p:sp>
      <p:sp>
        <p:nvSpPr>
          <p:cNvPr id="14" name="Text 12"/>
          <p:cNvSpPr/>
          <p:nvPr/>
        </p:nvSpPr>
        <p:spPr>
          <a:xfrm>
            <a:off x="661475" y="4497784"/>
            <a:ext cx="10868745" cy="715268"/>
          </a:xfrm>
          <a:prstGeom prst="rect">
            <a:avLst/>
          </a:prstGeom>
          <a:noFill/>
          <a:ln/>
        </p:spPr>
        <p:txBody>
          <a:bodyPr wrap="square" lIns="0" tIns="0" rIns="0" bIns="0" rtlCol="0" anchor="t"/>
          <a:lstStyle/>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等を確認・分析できるようにすることについても話題となりました。</a:t>
            </a:r>
            <a:endParaRPr lang="ja-JP" sz="1300" dirty="0"/>
          </a:p>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発注業務そのもののオンライン化とは分けながら、今後の拡張テーマとして検討します。</a:t>
            </a:r>
            <a:endParaRPr lang="ja-JP" sz="1300" dirty="0"/>
          </a:p>
        </p:txBody>
      </p:sp>
      <p:pic>
        <p:nvPicPr>
          <p:cNvPr id="16" name="図 15">
            <a:extLst>
              <a:ext uri="{FF2B5EF4-FFF2-40B4-BE49-F238E27FC236}">
                <a16:creationId xmlns:a16="http://schemas.microsoft.com/office/drawing/2014/main" id="{3D1BACFD-4A75-D144-17E9-42237D80D1AB}"/>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10540683" y="147003"/>
            <a:ext cx="14351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スライド番号プレースホルダー 5">
            <a:extLst>
              <a:ext uri="{FF2B5EF4-FFF2-40B4-BE49-F238E27FC236}">
                <a16:creationId xmlns:a16="http://schemas.microsoft.com/office/drawing/2014/main" id="{F95E27F6-5B88-60AE-B68C-86B38D7C00C6}"/>
              </a:ext>
            </a:extLst>
          </p:cNvPr>
          <p:cNvSpPr txBox="1">
            <a:spLocks/>
          </p:cNvSpPr>
          <p:nvPr/>
        </p:nvSpPr>
        <p:spPr>
          <a:xfrm>
            <a:off x="71120" y="6422640"/>
            <a:ext cx="540000" cy="360000"/>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B948492C-AFDE-7B4E-95C2-B0C978FE8518}" type="slidenum">
              <a:rPr lang="ja-JP" altLang="en-US" sz="1400" smtClean="0"/>
              <a:pPr algn="r"/>
              <a:t>12</a:t>
            </a:fld>
            <a:endParaRPr lang="ja-JP" alt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2515295"/>
            <a:ext cx="10868745" cy="516731"/>
          </a:xfrm>
          <a:prstGeom prst="rect">
            <a:avLst/>
          </a:prstGeom>
          <a:noFill/>
          <a:ln/>
        </p:spPr>
        <p:txBody>
          <a:bodyPr wrap="none" lIns="0" tIns="0" rIns="0" bIns="0" rtlCol="0" anchor="t"/>
          <a:lstStyle/>
          <a:p>
            <a:pPr marL="0" indent="0" algn="l">
              <a:lnSpc>
                <a:spcPct val="104000"/>
              </a:lnSpc>
              <a:buNone/>
            </a:pPr>
            <a:r>
              <a:rPr lang="ja-JP" altLang="en-US" sz="3250" dirty="0">
                <a:solidFill>
                  <a:srgbClr val="000000"/>
                </a:solidFill>
                <a:latin typeface="Noto Sans JP" pitchFamily="34" charset="0"/>
                <a:ea typeface="Noto Sans JP" pitchFamily="34" charset="-122"/>
                <a:cs typeface="Noto Sans JP" pitchFamily="34" charset="-120"/>
              </a:rPr>
              <a:t>13. 倉庫・物流システムとの連携</a:t>
            </a:r>
            <a:endParaRPr lang="ja-JP" sz="3250" dirty="0"/>
          </a:p>
        </p:txBody>
      </p:sp>
      <p:sp>
        <p:nvSpPr>
          <p:cNvPr id="3" name="Text 1"/>
          <p:cNvSpPr/>
          <p:nvPr/>
        </p:nvSpPr>
        <p:spPr>
          <a:xfrm>
            <a:off x="661475" y="3362722"/>
            <a:ext cx="10868745" cy="979884"/>
          </a:xfrm>
          <a:prstGeom prst="rect">
            <a:avLst/>
          </a:prstGeom>
          <a:noFill/>
          <a:ln/>
        </p:spPr>
        <p:txBody>
          <a:bodyPr wrap="square" lIns="0" tIns="0" rIns="0" bIns="0" rtlCol="0" anchor="t">
            <a:normAutofit/>
          </a:bodyPr>
          <a:lstStyle/>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入荷数量や入荷予定日の変更に伴い、倉庫側の情報を修正するケースもあるため、G-SYS上で変更した情報を倉庫・物流側へ効率的に連携できるかについても確認していくこととなりました。</a:t>
            </a:r>
            <a:endParaRPr lang="ja-JP" sz="1300" dirty="0"/>
          </a:p>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既存の物流システムとの連携方法を確認したうえで、自動化可能な範囲を検討します。</a:t>
            </a:r>
            <a:endParaRPr lang="ja-JP" sz="1300" dirty="0"/>
          </a:p>
        </p:txBody>
      </p:sp>
      <p:pic>
        <p:nvPicPr>
          <p:cNvPr id="5" name="図 4">
            <a:extLst>
              <a:ext uri="{FF2B5EF4-FFF2-40B4-BE49-F238E27FC236}">
                <a16:creationId xmlns:a16="http://schemas.microsoft.com/office/drawing/2014/main" id="{0293165B-56D2-9D51-1D54-698DBCD13DE9}"/>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10540683" y="147003"/>
            <a:ext cx="14351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スライド番号プレースホルダー 5">
            <a:extLst>
              <a:ext uri="{FF2B5EF4-FFF2-40B4-BE49-F238E27FC236}">
                <a16:creationId xmlns:a16="http://schemas.microsoft.com/office/drawing/2014/main" id="{171295C7-98ED-75DA-0F95-3F0A7DBBC679}"/>
              </a:ext>
            </a:extLst>
          </p:cNvPr>
          <p:cNvSpPr txBox="1">
            <a:spLocks/>
          </p:cNvSpPr>
          <p:nvPr/>
        </p:nvSpPr>
        <p:spPr>
          <a:xfrm>
            <a:off x="71120" y="6422640"/>
            <a:ext cx="540000" cy="360000"/>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B948492C-AFDE-7B4E-95C2-B0C978FE8518}" type="slidenum">
              <a:rPr lang="ja-JP" altLang="en-US" sz="1400" smtClean="0"/>
              <a:pPr algn="r"/>
              <a:t>13</a:t>
            </a:fld>
            <a:endParaRPr lang="ja-JP" alt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739477"/>
            <a:ext cx="10868745" cy="516731"/>
          </a:xfrm>
          <a:prstGeom prst="rect">
            <a:avLst/>
          </a:prstGeom>
          <a:noFill/>
          <a:ln/>
        </p:spPr>
        <p:txBody>
          <a:bodyPr wrap="none" lIns="0" tIns="0" rIns="0" bIns="0" rtlCol="0" anchor="t"/>
          <a:lstStyle/>
          <a:p>
            <a:pPr marL="0" indent="0" algn="l">
              <a:lnSpc>
                <a:spcPct val="104000"/>
              </a:lnSpc>
              <a:buNone/>
            </a:pPr>
            <a:r>
              <a:rPr lang="ja-JP" altLang="en-US" sz="3250" dirty="0">
                <a:solidFill>
                  <a:srgbClr val="000000"/>
                </a:solidFill>
                <a:latin typeface="Noto Sans JP" pitchFamily="34" charset="0"/>
                <a:ea typeface="Noto Sans JP" pitchFamily="34" charset="-122"/>
                <a:cs typeface="Noto Sans JP" pitchFamily="34" charset="-120"/>
              </a:rPr>
              <a:t>14. 今後の方向性</a:t>
            </a:r>
            <a:endParaRPr lang="ja-JP" sz="3250" dirty="0"/>
          </a:p>
        </p:txBody>
      </p:sp>
      <p:sp>
        <p:nvSpPr>
          <p:cNvPr id="3" name="Text 1"/>
          <p:cNvSpPr/>
          <p:nvPr/>
        </p:nvSpPr>
        <p:spPr>
          <a:xfrm>
            <a:off x="661475" y="1586905"/>
            <a:ext cx="10868745" cy="715268"/>
          </a:xfrm>
          <a:prstGeom prst="rect">
            <a:avLst/>
          </a:prstGeom>
          <a:noFill/>
          <a:ln/>
        </p:spPr>
        <p:txBody>
          <a:bodyPr wrap="square" lIns="0" tIns="0" rIns="0" bIns="0" rtlCol="0" anchor="t"/>
          <a:lstStyle/>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今回の打ち合わせでは詳細仕様の確定までは行わず、主に現在の業務課題と改善の方向性を確認しました。</a:t>
            </a:r>
            <a:endParaRPr lang="ja-JP" sz="1300" dirty="0"/>
          </a:p>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今後は、今回の内容と現在のG-SYSの仕様を確認しながら、</a:t>
            </a:r>
            <a:endParaRPr lang="ja-JP" sz="1300" dirty="0"/>
          </a:p>
        </p:txBody>
      </p:sp>
      <p:sp>
        <p:nvSpPr>
          <p:cNvPr id="4" name="Shape 2"/>
          <p:cNvSpPr/>
          <p:nvPr/>
        </p:nvSpPr>
        <p:spPr>
          <a:xfrm>
            <a:off x="661475" y="2488208"/>
            <a:ext cx="2593216" cy="885627"/>
          </a:xfrm>
          <a:prstGeom prst="roundRect">
            <a:avLst>
              <a:gd name="adj" fmla="val 7844"/>
            </a:avLst>
          </a:prstGeom>
          <a:solidFill>
            <a:srgbClr val="FFFFFF"/>
          </a:solidFill>
          <a:ln w="19050">
            <a:solidFill>
              <a:srgbClr val="E5CCB2"/>
            </a:solidFill>
            <a:prstDash val="solid"/>
          </a:ln>
        </p:spPr>
        <p:txBody>
          <a:bodyPr/>
          <a:lstStyle/>
          <a:p>
            <a:endParaRPr lang="ja-JP" altLang="en-US"/>
          </a:p>
        </p:txBody>
      </p:sp>
      <p:sp>
        <p:nvSpPr>
          <p:cNvPr id="5" name="Text 3"/>
          <p:cNvSpPr/>
          <p:nvPr/>
        </p:nvSpPr>
        <p:spPr>
          <a:xfrm>
            <a:off x="845819" y="2672556"/>
            <a:ext cx="2224528" cy="516930"/>
          </a:xfrm>
          <a:prstGeom prst="rect">
            <a:avLst/>
          </a:prstGeom>
          <a:noFill/>
          <a:ln/>
        </p:spPr>
        <p:txBody>
          <a:bodyPr wrap="square" lIns="0" tIns="0" rIns="0" bIns="0" rtlCol="0" anchor="t">
            <a:normAutofit/>
          </a:bodyPr>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発注業務のオンライン化</a:t>
            </a:r>
            <a:endParaRPr lang="ja-JP" sz="1600" dirty="0"/>
          </a:p>
        </p:txBody>
      </p:sp>
      <p:sp>
        <p:nvSpPr>
          <p:cNvPr id="6" name="Shape 4"/>
          <p:cNvSpPr/>
          <p:nvPr/>
        </p:nvSpPr>
        <p:spPr>
          <a:xfrm>
            <a:off x="3419985" y="2488208"/>
            <a:ext cx="2593216" cy="885627"/>
          </a:xfrm>
          <a:prstGeom prst="roundRect">
            <a:avLst>
              <a:gd name="adj" fmla="val 7844"/>
            </a:avLst>
          </a:prstGeom>
          <a:solidFill>
            <a:srgbClr val="FFFFFF"/>
          </a:solidFill>
          <a:ln w="19050">
            <a:solidFill>
              <a:srgbClr val="E5CCB2"/>
            </a:solidFill>
            <a:prstDash val="solid"/>
          </a:ln>
        </p:spPr>
        <p:txBody>
          <a:bodyPr/>
          <a:lstStyle/>
          <a:p>
            <a:endParaRPr lang="ja-JP" altLang="en-US"/>
          </a:p>
        </p:txBody>
      </p:sp>
      <p:sp>
        <p:nvSpPr>
          <p:cNvPr id="7" name="Text 5"/>
          <p:cNvSpPr/>
          <p:nvPr/>
        </p:nvSpPr>
        <p:spPr>
          <a:xfrm>
            <a:off x="3604329" y="2672556"/>
            <a:ext cx="2224528"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欠品等のアラート</a:t>
            </a:r>
            <a:endParaRPr lang="ja-JP" sz="1600" dirty="0"/>
          </a:p>
        </p:txBody>
      </p:sp>
      <p:sp>
        <p:nvSpPr>
          <p:cNvPr id="8" name="Shape 6"/>
          <p:cNvSpPr/>
          <p:nvPr/>
        </p:nvSpPr>
        <p:spPr>
          <a:xfrm>
            <a:off x="6178495" y="2488208"/>
            <a:ext cx="2593216" cy="885627"/>
          </a:xfrm>
          <a:prstGeom prst="roundRect">
            <a:avLst>
              <a:gd name="adj" fmla="val 7844"/>
            </a:avLst>
          </a:prstGeom>
          <a:solidFill>
            <a:srgbClr val="FFFFFF"/>
          </a:solidFill>
          <a:ln w="19050">
            <a:solidFill>
              <a:srgbClr val="E5CCB2"/>
            </a:solidFill>
            <a:prstDash val="solid"/>
          </a:ln>
        </p:spPr>
        <p:txBody>
          <a:bodyPr/>
          <a:lstStyle/>
          <a:p>
            <a:endParaRPr lang="ja-JP" altLang="en-US"/>
          </a:p>
        </p:txBody>
      </p:sp>
      <p:sp>
        <p:nvSpPr>
          <p:cNvPr id="9" name="Text 7"/>
          <p:cNvSpPr/>
          <p:nvPr/>
        </p:nvSpPr>
        <p:spPr>
          <a:xfrm>
            <a:off x="6362838" y="2672556"/>
            <a:ext cx="2224528" cy="258465"/>
          </a:xfrm>
          <a:prstGeom prst="rect">
            <a:avLst/>
          </a:prstGeom>
          <a:noFill/>
          <a:ln/>
        </p:spPr>
        <p:txBody>
          <a:bodyPr wrap="none" lIns="0" tIns="0" rIns="0" bIns="0" rtlCol="0" anchor="t"/>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発注数量の参考値算出</a:t>
            </a:r>
            <a:endParaRPr lang="ja-JP" sz="1600" dirty="0"/>
          </a:p>
        </p:txBody>
      </p:sp>
      <p:sp>
        <p:nvSpPr>
          <p:cNvPr id="10" name="Shape 8"/>
          <p:cNvSpPr/>
          <p:nvPr/>
        </p:nvSpPr>
        <p:spPr>
          <a:xfrm>
            <a:off x="8937005" y="2488208"/>
            <a:ext cx="2593216" cy="885627"/>
          </a:xfrm>
          <a:prstGeom prst="roundRect">
            <a:avLst>
              <a:gd name="adj" fmla="val 7844"/>
            </a:avLst>
          </a:prstGeom>
          <a:solidFill>
            <a:srgbClr val="FFFFFF"/>
          </a:solidFill>
          <a:ln w="19050">
            <a:solidFill>
              <a:srgbClr val="E5CCB2"/>
            </a:solidFill>
            <a:prstDash val="solid"/>
          </a:ln>
        </p:spPr>
        <p:txBody>
          <a:bodyPr/>
          <a:lstStyle/>
          <a:p>
            <a:endParaRPr lang="ja-JP" altLang="en-US"/>
          </a:p>
        </p:txBody>
      </p:sp>
      <p:sp>
        <p:nvSpPr>
          <p:cNvPr id="11" name="Text 9"/>
          <p:cNvSpPr/>
          <p:nvPr/>
        </p:nvSpPr>
        <p:spPr>
          <a:xfrm>
            <a:off x="9121348" y="2672556"/>
            <a:ext cx="2224528" cy="516930"/>
          </a:xfrm>
          <a:prstGeom prst="rect">
            <a:avLst/>
          </a:prstGeom>
          <a:noFill/>
          <a:ln/>
        </p:spPr>
        <p:txBody>
          <a:bodyPr wrap="square" lIns="0" tIns="0" rIns="0" bIns="0" rtlCol="0" anchor="t">
            <a:normAutofit/>
          </a:bodyPr>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発注書作成・メーカー送付</a:t>
            </a:r>
            <a:endParaRPr lang="ja-JP" sz="1600" dirty="0"/>
          </a:p>
        </p:txBody>
      </p:sp>
      <p:sp>
        <p:nvSpPr>
          <p:cNvPr id="12" name="Shape 10"/>
          <p:cNvSpPr/>
          <p:nvPr/>
        </p:nvSpPr>
        <p:spPr>
          <a:xfrm>
            <a:off x="661475" y="3539133"/>
            <a:ext cx="2593216" cy="885627"/>
          </a:xfrm>
          <a:prstGeom prst="roundRect">
            <a:avLst>
              <a:gd name="adj" fmla="val 7844"/>
            </a:avLst>
          </a:prstGeom>
          <a:solidFill>
            <a:srgbClr val="FFFFFF"/>
          </a:solidFill>
          <a:ln w="19050">
            <a:solidFill>
              <a:srgbClr val="E5CCB2"/>
            </a:solidFill>
            <a:prstDash val="solid"/>
          </a:ln>
        </p:spPr>
        <p:txBody>
          <a:bodyPr/>
          <a:lstStyle/>
          <a:p>
            <a:endParaRPr lang="ja-JP" altLang="en-US"/>
          </a:p>
        </p:txBody>
      </p:sp>
      <p:sp>
        <p:nvSpPr>
          <p:cNvPr id="13" name="Text 11"/>
          <p:cNvSpPr/>
          <p:nvPr/>
        </p:nvSpPr>
        <p:spPr>
          <a:xfrm>
            <a:off x="845819" y="3723481"/>
            <a:ext cx="2224528" cy="516930"/>
          </a:xfrm>
          <a:prstGeom prst="rect">
            <a:avLst/>
          </a:prstGeom>
          <a:noFill/>
          <a:ln/>
        </p:spPr>
        <p:txBody>
          <a:bodyPr wrap="square" lIns="0" tIns="0" rIns="0" bIns="0" rtlCol="0" anchor="t">
            <a:normAutofit/>
          </a:bodyPr>
          <a:lstStyle/>
          <a:p>
            <a:pPr marL="0" indent="0" algn="l">
              <a:lnSpc>
                <a:spcPct val="104000"/>
              </a:lnSpc>
              <a:buNone/>
            </a:pPr>
            <a:r>
              <a:rPr lang="ja-JP" altLang="en-US" sz="1600" dirty="0">
                <a:solidFill>
                  <a:srgbClr val="000000"/>
                </a:solidFill>
                <a:latin typeface="Noto Sans JP" pitchFamily="34" charset="0"/>
                <a:ea typeface="Noto Sans JP" pitchFamily="34" charset="-122"/>
                <a:cs typeface="Noto Sans JP" pitchFamily="34" charset="-120"/>
              </a:rPr>
              <a:t>発注後の数量・納期変更</a:t>
            </a:r>
            <a:endParaRPr lang="ja-JP" sz="1600" dirty="0"/>
          </a:p>
        </p:txBody>
      </p:sp>
      <p:sp>
        <p:nvSpPr>
          <p:cNvPr id="14" name="Shape 12"/>
          <p:cNvSpPr/>
          <p:nvPr/>
        </p:nvSpPr>
        <p:spPr>
          <a:xfrm>
            <a:off x="3419985" y="3539133"/>
            <a:ext cx="2593216" cy="885627"/>
          </a:xfrm>
          <a:prstGeom prst="roundRect">
            <a:avLst>
              <a:gd name="adj" fmla="val 7844"/>
            </a:avLst>
          </a:prstGeom>
          <a:solidFill>
            <a:srgbClr val="FFFFFF"/>
          </a:solidFill>
          <a:ln w="19050">
            <a:solidFill>
              <a:srgbClr val="E5CCB2"/>
            </a:solidFill>
            <a:prstDash val="solid"/>
          </a:ln>
        </p:spPr>
        <p:txBody>
          <a:bodyPr/>
          <a:lstStyle/>
          <a:p>
            <a:endParaRPr lang="ja-JP" altLang="en-US"/>
          </a:p>
        </p:txBody>
      </p:sp>
      <p:sp>
        <p:nvSpPr>
          <p:cNvPr id="15" name="Text 13"/>
          <p:cNvSpPr/>
          <p:nvPr/>
        </p:nvSpPr>
        <p:spPr>
          <a:xfrm>
            <a:off x="3604329" y="3723481"/>
            <a:ext cx="2224528"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発注履歴</a:t>
            </a:r>
            <a:endParaRPr lang="zh-CN" sz="1600" dirty="0"/>
          </a:p>
        </p:txBody>
      </p:sp>
      <p:sp>
        <p:nvSpPr>
          <p:cNvPr id="16" name="Shape 14"/>
          <p:cNvSpPr/>
          <p:nvPr/>
        </p:nvSpPr>
        <p:spPr>
          <a:xfrm>
            <a:off x="6178495" y="3539133"/>
            <a:ext cx="2593216" cy="885627"/>
          </a:xfrm>
          <a:prstGeom prst="roundRect">
            <a:avLst>
              <a:gd name="adj" fmla="val 7844"/>
            </a:avLst>
          </a:prstGeom>
          <a:solidFill>
            <a:srgbClr val="FFFFFF"/>
          </a:solidFill>
          <a:ln w="19050">
            <a:solidFill>
              <a:srgbClr val="E5CCB2"/>
            </a:solidFill>
            <a:prstDash val="solid"/>
          </a:ln>
        </p:spPr>
        <p:txBody>
          <a:bodyPr/>
          <a:lstStyle/>
          <a:p>
            <a:endParaRPr lang="ja-JP" altLang="en-US"/>
          </a:p>
        </p:txBody>
      </p:sp>
      <p:sp>
        <p:nvSpPr>
          <p:cNvPr id="17" name="Text 15"/>
          <p:cNvSpPr/>
          <p:nvPr/>
        </p:nvSpPr>
        <p:spPr>
          <a:xfrm>
            <a:off x="6362838" y="3723481"/>
            <a:ext cx="2224528"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権限・承認</a:t>
            </a:r>
            <a:endParaRPr lang="zh-CN" sz="1600" dirty="0"/>
          </a:p>
        </p:txBody>
      </p:sp>
      <p:sp>
        <p:nvSpPr>
          <p:cNvPr id="18" name="Shape 16"/>
          <p:cNvSpPr/>
          <p:nvPr/>
        </p:nvSpPr>
        <p:spPr>
          <a:xfrm>
            <a:off x="8937005" y="3539133"/>
            <a:ext cx="2593216" cy="885627"/>
          </a:xfrm>
          <a:prstGeom prst="roundRect">
            <a:avLst>
              <a:gd name="adj" fmla="val 7844"/>
            </a:avLst>
          </a:prstGeom>
          <a:solidFill>
            <a:srgbClr val="FFFFFF"/>
          </a:solidFill>
          <a:ln w="19050">
            <a:solidFill>
              <a:srgbClr val="E5CCB2"/>
            </a:solidFill>
            <a:prstDash val="solid"/>
          </a:ln>
        </p:spPr>
        <p:txBody>
          <a:bodyPr/>
          <a:lstStyle/>
          <a:p>
            <a:endParaRPr lang="ja-JP" altLang="en-US"/>
          </a:p>
        </p:txBody>
      </p:sp>
      <p:sp>
        <p:nvSpPr>
          <p:cNvPr id="19" name="Text 17"/>
          <p:cNvSpPr/>
          <p:nvPr/>
        </p:nvSpPr>
        <p:spPr>
          <a:xfrm>
            <a:off x="9121348" y="3723481"/>
            <a:ext cx="2224528"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価格変更</a:t>
            </a:r>
            <a:endParaRPr lang="zh-CN" sz="1600" dirty="0"/>
          </a:p>
        </p:txBody>
      </p:sp>
      <p:sp>
        <p:nvSpPr>
          <p:cNvPr id="20" name="Shape 18"/>
          <p:cNvSpPr/>
          <p:nvPr/>
        </p:nvSpPr>
        <p:spPr>
          <a:xfrm>
            <a:off x="661475" y="4590058"/>
            <a:ext cx="10868745" cy="627162"/>
          </a:xfrm>
          <a:prstGeom prst="roundRect">
            <a:avLst>
              <a:gd name="adj" fmla="val 11076"/>
            </a:avLst>
          </a:prstGeom>
          <a:solidFill>
            <a:srgbClr val="FFFFFF"/>
          </a:solidFill>
          <a:ln w="19050">
            <a:solidFill>
              <a:srgbClr val="E5CCB2"/>
            </a:solidFill>
            <a:prstDash val="solid"/>
          </a:ln>
        </p:spPr>
        <p:txBody>
          <a:bodyPr/>
          <a:lstStyle/>
          <a:p>
            <a:endParaRPr lang="ja-JP" altLang="en-US"/>
          </a:p>
        </p:txBody>
      </p:sp>
      <p:sp>
        <p:nvSpPr>
          <p:cNvPr id="21" name="Text 19"/>
          <p:cNvSpPr/>
          <p:nvPr/>
        </p:nvSpPr>
        <p:spPr>
          <a:xfrm>
            <a:off x="845819" y="4774406"/>
            <a:ext cx="10500058" cy="258465"/>
          </a:xfrm>
          <a:prstGeom prst="rect">
            <a:avLst/>
          </a:prstGeom>
          <a:noFill/>
          <a:ln/>
        </p:spPr>
        <p:txBody>
          <a:bodyPr wrap="none" lIns="0" tIns="0" rIns="0" bIns="0" rtlCol="0" anchor="t"/>
          <a:lstStyle/>
          <a:p>
            <a:pPr marL="0" indent="0" algn="l">
              <a:lnSpc>
                <a:spcPct val="104000"/>
              </a:lnSpc>
              <a:buNone/>
            </a:pPr>
            <a:r>
              <a:rPr lang="zh-CN" altLang="en-US" sz="1600" dirty="0">
                <a:solidFill>
                  <a:srgbClr val="000000"/>
                </a:solidFill>
                <a:latin typeface="Noto Sans JP" pitchFamily="34" charset="0"/>
                <a:ea typeface="Noto Sans JP" pitchFamily="34" charset="-122"/>
                <a:cs typeface="Noto Sans JP" pitchFamily="34" charset="-120"/>
              </a:rPr>
              <a:t>在庫・物流連携</a:t>
            </a:r>
            <a:endParaRPr lang="zh-CN" sz="1600" dirty="0"/>
          </a:p>
        </p:txBody>
      </p:sp>
      <p:sp>
        <p:nvSpPr>
          <p:cNvPr id="22" name="Text 20"/>
          <p:cNvSpPr/>
          <p:nvPr/>
        </p:nvSpPr>
        <p:spPr>
          <a:xfrm>
            <a:off x="661475" y="5403255"/>
            <a:ext cx="10868745" cy="715268"/>
          </a:xfrm>
          <a:prstGeom prst="rect">
            <a:avLst/>
          </a:prstGeom>
          <a:noFill/>
          <a:ln/>
        </p:spPr>
        <p:txBody>
          <a:bodyPr wrap="square" lIns="0" tIns="0" rIns="0" bIns="0" rtlCol="0" anchor="t"/>
          <a:lstStyle/>
          <a:p>
            <a:pPr marL="0" indent="0" algn="l">
              <a:lnSpc>
                <a:spcPct val="133000"/>
              </a:lnSpc>
              <a:spcAft>
                <a:spcPts val="1450"/>
              </a:spcAft>
              <a:buNone/>
            </a:pPr>
            <a:r>
              <a:rPr lang="ja-JP" altLang="en-US" sz="1300" dirty="0">
                <a:solidFill>
                  <a:srgbClr val="000000"/>
                </a:solidFill>
                <a:latin typeface="Noto Sans JP" pitchFamily="34" charset="0"/>
                <a:ea typeface="Noto Sans JP" pitchFamily="34" charset="-122"/>
                <a:cs typeface="Noto Sans JP" pitchFamily="34" charset="-120"/>
              </a:rPr>
              <a:t>等について具体的な実現方法を検討します。</a:t>
            </a:r>
            <a:endParaRPr lang="ja-JP" sz="1300" dirty="0"/>
          </a:p>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次回は、想定する業務フローや画面イメージを具体化したものを提示し、認識合わせを行う予定です。</a:t>
            </a:r>
            <a:endParaRPr lang="ja-JP" sz="1300" dirty="0"/>
          </a:p>
        </p:txBody>
      </p:sp>
      <p:pic>
        <p:nvPicPr>
          <p:cNvPr id="24" name="図 23">
            <a:extLst>
              <a:ext uri="{FF2B5EF4-FFF2-40B4-BE49-F238E27FC236}">
                <a16:creationId xmlns:a16="http://schemas.microsoft.com/office/drawing/2014/main" id="{9B91898D-C7E9-00DF-9507-E40600059761}"/>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10540683" y="147003"/>
            <a:ext cx="14351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スライド番号プレースホルダー 5">
            <a:extLst>
              <a:ext uri="{FF2B5EF4-FFF2-40B4-BE49-F238E27FC236}">
                <a16:creationId xmlns:a16="http://schemas.microsoft.com/office/drawing/2014/main" id="{81AC25F6-888E-573E-24DE-B8A444110DBE}"/>
              </a:ext>
            </a:extLst>
          </p:cNvPr>
          <p:cNvSpPr txBox="1">
            <a:spLocks/>
          </p:cNvSpPr>
          <p:nvPr/>
        </p:nvSpPr>
        <p:spPr>
          <a:xfrm>
            <a:off x="71120" y="6422640"/>
            <a:ext cx="540000" cy="360000"/>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B948492C-AFDE-7B4E-95C2-B0C978FE8518}" type="slidenum">
              <a:rPr lang="ja-JP" altLang="en-US" sz="1400" smtClean="0"/>
              <a:pPr algn="r"/>
              <a:t>14</a:t>
            </a:fld>
            <a:endParaRPr lang="ja-JP" alt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2433638"/>
            <a:ext cx="10868745" cy="516731"/>
          </a:xfrm>
          <a:prstGeom prst="rect">
            <a:avLst/>
          </a:prstGeom>
          <a:noFill/>
          <a:ln/>
        </p:spPr>
        <p:txBody>
          <a:bodyPr wrap="none" lIns="0" tIns="0" rIns="0" bIns="0" rtlCol="0" anchor="t"/>
          <a:lstStyle/>
          <a:p>
            <a:pPr marL="0" indent="0" algn="l">
              <a:lnSpc>
                <a:spcPct val="104000"/>
              </a:lnSpc>
              <a:buNone/>
            </a:pPr>
            <a:r>
              <a:rPr lang="ja-JP" altLang="en-US" sz="3250" dirty="0">
                <a:solidFill>
                  <a:srgbClr val="000000"/>
                </a:solidFill>
                <a:latin typeface="Noto Sans JP" pitchFamily="34" charset="0"/>
                <a:ea typeface="Noto Sans JP" pitchFamily="34" charset="-122"/>
                <a:cs typeface="Noto Sans JP" pitchFamily="34" charset="-120"/>
              </a:rPr>
              <a:t>15. 次回打ち合わせ</a:t>
            </a:r>
            <a:endParaRPr lang="ja-JP" sz="3250" dirty="0"/>
          </a:p>
        </p:txBody>
      </p:sp>
      <p:sp>
        <p:nvSpPr>
          <p:cNvPr id="3" name="Text 1"/>
          <p:cNvSpPr/>
          <p:nvPr/>
        </p:nvSpPr>
        <p:spPr>
          <a:xfrm>
            <a:off x="661475" y="3198416"/>
            <a:ext cx="10868745" cy="713184"/>
          </a:xfrm>
          <a:prstGeom prst="rect">
            <a:avLst/>
          </a:prstGeom>
          <a:noFill/>
          <a:ln/>
        </p:spPr>
        <p:txBody>
          <a:bodyPr wrap="none" lIns="0" tIns="0" rIns="0" bIns="0" rtlCol="0" anchor="t"/>
          <a:lstStyle/>
          <a:p>
            <a:pPr marL="0" indent="0" algn="ctr">
              <a:lnSpc>
                <a:spcPct val="104000"/>
              </a:lnSpc>
              <a:buNone/>
            </a:pPr>
            <a:r>
              <a:rPr lang="zh-CN" altLang="en-US" sz="4450" b="1" dirty="0">
                <a:solidFill>
                  <a:srgbClr val="000000"/>
                </a:solidFill>
                <a:latin typeface="Noto Sans JP Bold" pitchFamily="34" charset="0"/>
                <a:ea typeface="Noto Sans JP Bold" pitchFamily="34" charset="-122"/>
                <a:cs typeface="Noto Sans JP Bold" pitchFamily="34" charset="-120"/>
              </a:rPr>
              <a:t>2026年9月17日予定</a:t>
            </a:r>
            <a:endParaRPr lang="zh-CN" sz="4450" dirty="0"/>
          </a:p>
        </p:txBody>
      </p:sp>
      <p:sp>
        <p:nvSpPr>
          <p:cNvPr id="4" name="Text 2"/>
          <p:cNvSpPr/>
          <p:nvPr/>
        </p:nvSpPr>
        <p:spPr>
          <a:xfrm>
            <a:off x="661475" y="4159647"/>
            <a:ext cx="11478330" cy="264616"/>
          </a:xfrm>
          <a:prstGeom prst="rect">
            <a:avLst/>
          </a:prstGeom>
          <a:noFill/>
          <a:ln/>
        </p:spPr>
        <p:txBody>
          <a:bodyPr wrap="none" lIns="0" tIns="0" rIns="0" bIns="0" rtlCol="0" anchor="t"/>
          <a:lstStyle/>
          <a:p>
            <a:pPr marL="0" indent="0" algn="l">
              <a:lnSpc>
                <a:spcPct val="133000"/>
              </a:lnSpc>
              <a:buNone/>
            </a:pPr>
            <a:r>
              <a:rPr lang="ja-JP" altLang="en-US" sz="1300" dirty="0">
                <a:solidFill>
                  <a:srgbClr val="000000"/>
                </a:solidFill>
                <a:latin typeface="Noto Sans JP" pitchFamily="34" charset="0"/>
                <a:ea typeface="Noto Sans JP" pitchFamily="34" charset="-122"/>
                <a:cs typeface="Noto Sans JP" pitchFamily="34" charset="-120"/>
              </a:rPr>
              <a:t>次回までに今回のヒアリング内容を整理し、G-SYSの現行仕様も踏まえた改善案を検討します。</a:t>
            </a:r>
            <a:endParaRPr lang="ja-JP" sz="1300" dirty="0"/>
          </a:p>
        </p:txBody>
      </p:sp>
      <p:pic>
        <p:nvPicPr>
          <p:cNvPr id="6" name="図 5">
            <a:extLst>
              <a:ext uri="{FF2B5EF4-FFF2-40B4-BE49-F238E27FC236}">
                <a16:creationId xmlns:a16="http://schemas.microsoft.com/office/drawing/2014/main" id="{CC9E07A4-BE8F-C104-C944-821858753569}"/>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10540683" y="147003"/>
            <a:ext cx="14351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スライド番号プレースホルダー 5">
            <a:extLst>
              <a:ext uri="{FF2B5EF4-FFF2-40B4-BE49-F238E27FC236}">
                <a16:creationId xmlns:a16="http://schemas.microsoft.com/office/drawing/2014/main" id="{0E8F5E7A-AAED-41DB-F09A-7D2A952A513D}"/>
              </a:ext>
            </a:extLst>
          </p:cNvPr>
          <p:cNvSpPr txBox="1">
            <a:spLocks/>
          </p:cNvSpPr>
          <p:nvPr/>
        </p:nvSpPr>
        <p:spPr>
          <a:xfrm>
            <a:off x="71120" y="6422640"/>
            <a:ext cx="540000" cy="360000"/>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B948492C-AFDE-7B4E-95C2-B0C978FE8518}" type="slidenum">
              <a:rPr lang="ja-JP" altLang="en-US" sz="1400" smtClean="0"/>
              <a:pPr algn="r"/>
              <a:t>15</a:t>
            </a:fld>
            <a:endParaRPr lang="ja-JP" altLang="en-US" sz="14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1440</Words>
  <Application>Microsoft Office PowerPoint</Application>
  <PresentationFormat>ワイド画面</PresentationFormat>
  <Paragraphs>180</Paragraphs>
  <Slides>15</Slides>
  <Notes>15</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15</vt:i4>
      </vt:variant>
    </vt:vector>
  </HeadingPairs>
  <TitlesOfParts>
    <vt:vector size="22" baseType="lpstr">
      <vt:lpstr>Noto Sans JP Light</vt:lpstr>
      <vt:lpstr>游ゴシック</vt:lpstr>
      <vt:lpstr>游ゴシック Light</vt:lpstr>
      <vt:lpstr>Arial</vt:lpstr>
      <vt:lpstr>Noto Sans JP</vt:lpstr>
      <vt:lpstr>Noto Sans JP Bold</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Phase1,Inc.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G-Sysアップグレード検討</dc:title>
  <dc:creator>Tomoaki Harashima</dc:creator>
  <cp:lastModifiedBy>智明 原島</cp:lastModifiedBy>
  <cp:revision>1</cp:revision>
  <dcterms:created xsi:type="dcterms:W3CDTF">2026-08-26T09:51:51Z</dcterms:created>
  <dcterms:modified xsi:type="dcterms:W3CDTF">2026-08-26T09:58:23Z</dcterms:modified>
</cp:coreProperties>
</file>