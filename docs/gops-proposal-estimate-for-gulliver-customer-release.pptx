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4" d="100"/>
          <a:sy n="154" d="100"/>
        </p:scale>
        <p:origin x="534"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22960" y="777240"/>
            <a:ext cx="8229600" cy="320040"/>
          </a:xfrm>
          <a:prstGeom prst="rect">
            <a:avLst/>
          </a:prstGeom>
          <a:noFill/>
        </p:spPr>
        <p:txBody>
          <a:bodyPr wrap="square" lIns="0" tIns="0" rIns="0" bIns="0" anchor="t">
            <a:spAutoFit/>
          </a:bodyPr>
          <a:lstStyle/>
          <a:p>
            <a:pPr algn="l"/>
            <a:r>
              <a:rPr sz="1300" b="1" i="0">
                <a:solidFill>
                  <a:srgbClr val="C8722F"/>
                </a:solidFill>
                <a:latin typeface="Yu Gothic"/>
              </a:rPr>
              <a:t>ご提案資料 ＋ 概算見積書 ／ PROPOSAL &amp; ESTIMATE</a:t>
            </a:r>
          </a:p>
        </p:txBody>
      </p:sp>
      <p:sp>
        <p:nvSpPr>
          <p:cNvPr id="4" name="TextBox 3"/>
          <p:cNvSpPr txBox="1"/>
          <p:nvPr/>
        </p:nvSpPr>
        <p:spPr>
          <a:xfrm>
            <a:off x="777240" y="1143000"/>
            <a:ext cx="10058400" cy="800219"/>
          </a:xfrm>
          <a:prstGeom prst="rect">
            <a:avLst/>
          </a:prstGeom>
          <a:noFill/>
        </p:spPr>
        <p:txBody>
          <a:bodyPr wrap="square" lIns="0" tIns="0" rIns="0" bIns="0" anchor="t">
            <a:spAutoFit/>
          </a:bodyPr>
          <a:lstStyle/>
          <a:p>
            <a:pPr algn="l"/>
            <a:r>
              <a:rPr sz="5200" b="1" i="0" dirty="0">
                <a:solidFill>
                  <a:srgbClr val="2A2724"/>
                </a:solidFill>
                <a:latin typeface="Yu Gothic"/>
              </a:rPr>
              <a:t>G-OPS</a:t>
            </a:r>
            <a:r>
              <a:rPr lang="ja-JP" altLang="en-US" sz="5200" b="1" dirty="0">
                <a:solidFill>
                  <a:srgbClr val="2A2724"/>
                </a:solidFill>
                <a:latin typeface="Yu Gothic"/>
              </a:rPr>
              <a:t>（仮称）</a:t>
            </a:r>
            <a:endParaRPr lang="en-US" sz="5200" b="1" i="0" dirty="0">
              <a:solidFill>
                <a:srgbClr val="2A2724"/>
              </a:solidFill>
              <a:latin typeface="Yu Gothic"/>
            </a:endParaRPr>
          </a:p>
        </p:txBody>
      </p:sp>
      <p:sp>
        <p:nvSpPr>
          <p:cNvPr id="5" name="TextBox 4"/>
          <p:cNvSpPr txBox="1"/>
          <p:nvPr/>
        </p:nvSpPr>
        <p:spPr>
          <a:xfrm>
            <a:off x="822960" y="2148840"/>
            <a:ext cx="7315200" cy="502920"/>
          </a:xfrm>
          <a:prstGeom prst="rect">
            <a:avLst/>
          </a:prstGeom>
          <a:noFill/>
        </p:spPr>
        <p:txBody>
          <a:bodyPr wrap="square" lIns="0" tIns="0" rIns="0" bIns="0" anchor="t">
            <a:spAutoFit/>
          </a:bodyPr>
          <a:lstStyle/>
          <a:p>
            <a:pPr algn="l"/>
            <a:r>
              <a:rPr sz="2200" b="0" i="0">
                <a:solidFill>
                  <a:srgbClr val="6B655D"/>
                </a:solidFill>
                <a:latin typeface="Yu Gothic"/>
              </a:rPr>
              <a:t>G-SYS Operations Portal</a:t>
            </a:r>
          </a:p>
        </p:txBody>
      </p:sp>
      <p:sp>
        <p:nvSpPr>
          <p:cNvPr id="6" name="Rounded Rectangle 5"/>
          <p:cNvSpPr/>
          <p:nvPr/>
        </p:nvSpPr>
        <p:spPr>
          <a:xfrm>
            <a:off x="822960" y="2724912"/>
            <a:ext cx="36576" cy="822960"/>
          </a:xfrm>
          <a:prstGeom prst="roundRect">
            <a:avLst>
              <a:gd name="adj" fmla="val 50000"/>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724912"/>
            <a:ext cx="8778240" cy="822960"/>
          </a:xfrm>
          <a:prstGeom prst="rect">
            <a:avLst/>
          </a:prstGeom>
          <a:noFill/>
        </p:spPr>
        <p:txBody>
          <a:bodyPr wrap="square" lIns="0" tIns="0" rIns="0" bIns="0" anchor="t">
            <a:spAutoFit/>
          </a:bodyPr>
          <a:lstStyle/>
          <a:p>
            <a:pPr algn="l">
              <a:lnSpc>
                <a:spcPct val="130000"/>
              </a:lnSpc>
            </a:pPr>
            <a:r>
              <a:rPr sz="1500" b="0" i="0">
                <a:solidFill>
                  <a:srgbClr val="6B655D"/>
                </a:solidFill>
                <a:latin typeface="Yu Gothic"/>
              </a:rPr>
              <a:t>既存のG-SYSを置き換えるのではなく、活かしながら—</a:t>
            </a:r>
          </a:p>
          <a:p>
            <a:pPr algn="l">
              <a:lnSpc>
                <a:spcPct val="130000"/>
              </a:lnSpc>
            </a:pPr>
            <a:r>
              <a:rPr sz="1500" b="0" i="0">
                <a:solidFill>
                  <a:srgbClr val="6B655D"/>
                </a:solidFill>
                <a:latin typeface="Yu Gothic"/>
              </a:rPr>
              <a:t>発注から入荷・未納管理までを、ひとつの画面でつなげます。</a:t>
            </a:r>
          </a:p>
        </p:txBody>
      </p:sp>
      <p:cxnSp>
        <p:nvCxnSpPr>
          <p:cNvPr id="8" name="Connector 7"/>
          <p:cNvCxnSpPr/>
          <p:nvPr/>
        </p:nvCxnSpPr>
        <p:spPr>
          <a:xfrm>
            <a:off x="822960" y="5257800"/>
            <a:ext cx="1054303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5440680"/>
            <a:ext cx="5486400" cy="230832"/>
          </a:xfrm>
          <a:prstGeom prst="rect">
            <a:avLst/>
          </a:prstGeom>
          <a:noFill/>
        </p:spPr>
        <p:txBody>
          <a:bodyPr wrap="square" lIns="0" tIns="0" rIns="0" bIns="0" anchor="t">
            <a:spAutoFit/>
          </a:bodyPr>
          <a:lstStyle/>
          <a:p>
            <a:pPr algn="l"/>
            <a:r>
              <a:rPr lang="ja-JP" altLang="en-US" sz="1500" b="1" i="0" dirty="0">
                <a:solidFill>
                  <a:srgbClr val="2A2724"/>
                </a:solidFill>
                <a:latin typeface="Yu Gothic"/>
              </a:rPr>
              <a:t>株式会社ガリバー　</a:t>
            </a:r>
            <a:r>
              <a:rPr sz="1500" b="1" i="0" dirty="0" err="1">
                <a:solidFill>
                  <a:srgbClr val="2A2724"/>
                </a:solidFill>
                <a:latin typeface="Yu Gothic"/>
              </a:rPr>
              <a:t>御中</a:t>
            </a:r>
            <a:endParaRPr sz="1500" b="1" i="0" dirty="0">
              <a:solidFill>
                <a:srgbClr val="2A2724"/>
              </a:solidFill>
              <a:latin typeface="Yu Gothic"/>
            </a:endParaRPr>
          </a:p>
        </p:txBody>
      </p:sp>
      <p:sp>
        <p:nvSpPr>
          <p:cNvPr id="10" name="TextBox 9"/>
          <p:cNvSpPr txBox="1"/>
          <p:nvPr/>
        </p:nvSpPr>
        <p:spPr>
          <a:xfrm>
            <a:off x="8439912" y="5440680"/>
            <a:ext cx="2926080" cy="431144"/>
          </a:xfrm>
          <a:prstGeom prst="rect">
            <a:avLst/>
          </a:prstGeom>
          <a:noFill/>
        </p:spPr>
        <p:txBody>
          <a:bodyPr wrap="square" lIns="0" tIns="0" rIns="0" bIns="0" anchor="t">
            <a:spAutoFit/>
          </a:bodyPr>
          <a:lstStyle/>
          <a:p>
            <a:pPr algn="r">
              <a:lnSpc>
                <a:spcPct val="120000"/>
              </a:lnSpc>
            </a:pPr>
            <a:r>
              <a:rPr sz="1200" b="0" i="0" dirty="0" err="1">
                <a:solidFill>
                  <a:srgbClr val="9A938A"/>
                </a:solidFill>
                <a:latin typeface="Yu Gothic"/>
              </a:rPr>
              <a:t>ご提案</a:t>
            </a:r>
            <a:endParaRPr sz="1200" b="0" i="0" dirty="0">
              <a:solidFill>
                <a:srgbClr val="9A938A"/>
              </a:solidFill>
              <a:latin typeface="Yu Gothic"/>
            </a:endParaRPr>
          </a:p>
          <a:p>
            <a:pPr algn="r">
              <a:lnSpc>
                <a:spcPct val="120000"/>
              </a:lnSpc>
            </a:pPr>
            <a:r>
              <a:rPr sz="1200" b="0" i="0" dirty="0">
                <a:solidFill>
                  <a:srgbClr val="9A938A"/>
                </a:solidFill>
                <a:latin typeface="Yu Gothic"/>
              </a:rPr>
              <a:t>2026年9月</a:t>
            </a:r>
          </a:p>
        </p:txBody>
      </p:sp>
      <p:sp>
        <p:nvSpPr>
          <p:cNvPr id="11" name="TextBox 10"/>
          <p:cNvSpPr txBox="1"/>
          <p:nvPr/>
        </p:nvSpPr>
        <p:spPr>
          <a:xfrm>
            <a:off x="822960" y="5989320"/>
            <a:ext cx="10543032" cy="548640"/>
          </a:xfrm>
          <a:prstGeom prst="rect">
            <a:avLst/>
          </a:prstGeom>
          <a:noFill/>
        </p:spPr>
        <p:txBody>
          <a:bodyPr wrap="square" lIns="0" tIns="0" rIns="0" bIns="0" anchor="t">
            <a:spAutoFit/>
          </a:bodyPr>
          <a:lstStyle/>
          <a:p>
            <a:pPr algn="l"/>
            <a:r>
              <a:rPr sz="1050" b="0" i="0">
                <a:solidFill>
                  <a:srgbClr val="9A938A"/>
                </a:solidFill>
                <a:latin typeface="Yu Gothic"/>
              </a:rPr>
              <a:t>本資料の画面は、実際に動作している検証環境の最新UIをもとに構成しています。</a:t>
            </a:r>
          </a:p>
        </p:txBody>
      </p:sp>
      <p:pic>
        <p:nvPicPr>
          <p:cNvPr id="12" name="図 11">
            <a:extLst>
              <a:ext uri="{FF2B5EF4-FFF2-40B4-BE49-F238E27FC236}">
                <a16:creationId xmlns:a16="http://schemas.microsoft.com/office/drawing/2014/main" id="{8C7D3F69-617B-0214-F40B-27E9CBE3E02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OVERVIEW</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02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G-OPSの全体像</a:t>
            </a: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G-SYSを置き換えるのではなく、既存の資産を活かしながら業務を広げるという考え方です。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6309360" cy="3291840"/>
          </a:xfrm>
          <a:prstGeom prst="rect">
            <a:avLst/>
          </a:prstGeom>
          <a:noFill/>
        </p:spPr>
        <p:txBody>
          <a:bodyPr wrap="square" lIns="0" tIns="0" rIns="0" bIns="0" anchor="t">
            <a:spAutoFit/>
          </a:bodyPr>
          <a:lstStyle/>
          <a:p>
            <a:pPr algn="l">
              <a:lnSpc>
                <a:spcPct val="135000"/>
              </a:lnSpc>
            </a:pPr>
            <a:r>
              <a:rPr sz="1300" b="0" i="0">
                <a:solidFill>
                  <a:srgbClr val="2A2724"/>
                </a:solidFill>
                <a:latin typeface="Yu Gothic"/>
              </a:rPr>
              <a:t>G-OPSは、G-SYSに置き換わる新しいシステムではありません。G-SYSが持つ在庫・発注実績・発注判断のロジックといった既存の資産をそのまま活用しながら、その上で発注や関連業務をひとつの画面で行えるようにする仕組みです。</a:t>
            </a:r>
          </a:p>
          <a:p>
            <a:pPr algn="l">
              <a:lnSpc>
                <a:spcPct val="135000"/>
              </a:lnSpc>
            </a:pPr>
            <a:endParaRPr sz="1300" b="0" i="0">
              <a:solidFill>
                <a:srgbClr val="2A2724"/>
              </a:solidFill>
              <a:latin typeface="Yu Gothic"/>
            </a:endParaRPr>
          </a:p>
          <a:p>
            <a:pPr algn="l">
              <a:lnSpc>
                <a:spcPct val="135000"/>
              </a:lnSpc>
            </a:pPr>
            <a:r>
              <a:rPr sz="1300" b="0" i="0">
                <a:solidFill>
                  <a:srgbClr val="2A2724"/>
                </a:solidFill>
                <a:latin typeface="Yu Gothic"/>
              </a:rPr>
              <a:t>G-SYSのデータは常に参照専用（読み取り専用）で扱われ、G-SYSのデータベースへ直接書き込みが行われることはありません。発注の履歴・承認・監査ログといったG-OPS独自の業務データは、G-SYSとは別の専用データベースで管理します。</a:t>
            </a:r>
          </a:p>
        </p:txBody>
      </p:sp>
      <p:sp>
        <p:nvSpPr>
          <p:cNvPr id="8" name="Rounded Rectangle 7"/>
          <p:cNvSpPr/>
          <p:nvPr/>
        </p:nvSpPr>
        <p:spPr>
          <a:xfrm>
            <a:off x="7086600" y="1828800"/>
            <a:ext cx="4526280" cy="3291840"/>
          </a:xfrm>
          <a:prstGeom prst="roundRect">
            <a:avLst>
              <a:gd name="adj" fmla="val 6000"/>
            </a:avLst>
          </a:prstGeom>
          <a:solidFill>
            <a:srgbClr val="FCF8F3"/>
          </a:solidFill>
          <a:ln w="12700">
            <a:solidFill>
              <a:srgbClr val="EAD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0" y="2011680"/>
            <a:ext cx="4069080" cy="274320"/>
          </a:xfrm>
          <a:prstGeom prst="rect">
            <a:avLst/>
          </a:prstGeom>
          <a:noFill/>
        </p:spPr>
        <p:txBody>
          <a:bodyPr wrap="square" lIns="0" tIns="0" rIns="0" bIns="0" anchor="t">
            <a:spAutoFit/>
          </a:bodyPr>
          <a:lstStyle/>
          <a:p>
            <a:pPr algn="l"/>
            <a:r>
              <a:rPr sz="1400" b="1" i="0">
                <a:solidFill>
                  <a:srgbClr val="2A2724"/>
                </a:solidFill>
                <a:latin typeface="Yu Gothic"/>
              </a:rPr>
              <a:t>G-OPSの共通基盤機能</a:t>
            </a:r>
          </a:p>
        </p:txBody>
      </p:sp>
      <p:sp>
        <p:nvSpPr>
          <p:cNvPr id="10" name="Oval 9"/>
          <p:cNvSpPr/>
          <p:nvPr/>
        </p:nvSpPr>
        <p:spPr>
          <a:xfrm>
            <a:off x="7315200" y="2441448"/>
            <a:ext cx="137160" cy="137160"/>
          </a:xfrm>
          <a:prstGeom prst="ellipse">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50" b="1" i="0">
                <a:solidFill>
                  <a:srgbClr val="FFFFFF"/>
                </a:solidFill>
                <a:latin typeface="Yu Gothic"/>
              </a:rPr>
              <a:t>✓</a:t>
            </a:r>
          </a:p>
        </p:txBody>
      </p:sp>
      <p:sp>
        <p:nvSpPr>
          <p:cNvPr id="11" name="TextBox 10"/>
          <p:cNvSpPr txBox="1"/>
          <p:nvPr/>
        </p:nvSpPr>
        <p:spPr>
          <a:xfrm>
            <a:off x="7525512" y="2423160"/>
            <a:ext cx="3858768" cy="256032"/>
          </a:xfrm>
          <a:prstGeom prst="rect">
            <a:avLst/>
          </a:prstGeom>
          <a:noFill/>
        </p:spPr>
        <p:txBody>
          <a:bodyPr wrap="square" lIns="0" tIns="0" rIns="0" bIns="0" anchor="t">
            <a:spAutoFit/>
          </a:bodyPr>
          <a:lstStyle/>
          <a:p>
            <a:pPr algn="l"/>
            <a:r>
              <a:rPr sz="1200" b="0" i="0">
                <a:solidFill>
                  <a:srgbClr val="2A2724"/>
                </a:solidFill>
                <a:latin typeface="Yu Gothic"/>
              </a:rPr>
              <a:t>権限管理（管理者／担当者でできることを分離）</a:t>
            </a:r>
          </a:p>
        </p:txBody>
      </p:sp>
      <p:sp>
        <p:nvSpPr>
          <p:cNvPr id="12" name="Oval 11"/>
          <p:cNvSpPr/>
          <p:nvPr/>
        </p:nvSpPr>
        <p:spPr>
          <a:xfrm>
            <a:off x="7315200" y="2807208"/>
            <a:ext cx="137160" cy="137160"/>
          </a:xfrm>
          <a:prstGeom prst="ellipse">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50" b="1" i="0">
                <a:solidFill>
                  <a:srgbClr val="FFFFFF"/>
                </a:solidFill>
                <a:latin typeface="Yu Gothic"/>
              </a:rPr>
              <a:t>✓</a:t>
            </a:r>
          </a:p>
        </p:txBody>
      </p:sp>
      <p:sp>
        <p:nvSpPr>
          <p:cNvPr id="13" name="TextBox 12"/>
          <p:cNvSpPr txBox="1"/>
          <p:nvPr/>
        </p:nvSpPr>
        <p:spPr>
          <a:xfrm>
            <a:off x="7525512" y="2788920"/>
            <a:ext cx="3858768" cy="256032"/>
          </a:xfrm>
          <a:prstGeom prst="rect">
            <a:avLst/>
          </a:prstGeom>
          <a:noFill/>
        </p:spPr>
        <p:txBody>
          <a:bodyPr wrap="square" lIns="0" tIns="0" rIns="0" bIns="0" anchor="t">
            <a:spAutoFit/>
          </a:bodyPr>
          <a:lstStyle/>
          <a:p>
            <a:pPr algn="l"/>
            <a:r>
              <a:rPr sz="1200" b="0" i="0">
                <a:solidFill>
                  <a:srgbClr val="2A2724"/>
                </a:solidFill>
                <a:latin typeface="Yu Gothic"/>
              </a:rPr>
              <a:t>すべての操作を記録する監査ログ（操作履歴）</a:t>
            </a:r>
          </a:p>
        </p:txBody>
      </p:sp>
      <p:sp>
        <p:nvSpPr>
          <p:cNvPr id="14" name="Oval 13"/>
          <p:cNvSpPr/>
          <p:nvPr/>
        </p:nvSpPr>
        <p:spPr>
          <a:xfrm>
            <a:off x="7315200" y="3172968"/>
            <a:ext cx="137160" cy="137160"/>
          </a:xfrm>
          <a:prstGeom prst="ellipse">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50" b="1" i="0">
                <a:solidFill>
                  <a:srgbClr val="FFFFFF"/>
                </a:solidFill>
                <a:latin typeface="Yu Gothic"/>
              </a:rPr>
              <a:t>✓</a:t>
            </a:r>
          </a:p>
        </p:txBody>
      </p:sp>
      <p:sp>
        <p:nvSpPr>
          <p:cNvPr id="15" name="TextBox 14"/>
          <p:cNvSpPr txBox="1"/>
          <p:nvPr/>
        </p:nvSpPr>
        <p:spPr>
          <a:xfrm>
            <a:off x="7525512" y="3154680"/>
            <a:ext cx="3858768" cy="256032"/>
          </a:xfrm>
          <a:prstGeom prst="rect">
            <a:avLst/>
          </a:prstGeom>
          <a:noFill/>
        </p:spPr>
        <p:txBody>
          <a:bodyPr wrap="square" lIns="0" tIns="0" rIns="0" bIns="0" anchor="t">
            <a:spAutoFit/>
          </a:bodyPr>
          <a:lstStyle/>
          <a:p>
            <a:pPr algn="l"/>
            <a:r>
              <a:rPr sz="1200" b="0" i="0">
                <a:solidFill>
                  <a:srgbClr val="2A2724"/>
                </a:solidFill>
                <a:latin typeface="Yu Gothic"/>
              </a:rPr>
              <a:t>日本語 / English 表示切替（利用者ごとに保持）</a:t>
            </a:r>
          </a:p>
        </p:txBody>
      </p:sp>
      <p:sp>
        <p:nvSpPr>
          <p:cNvPr id="16" name="TextBox 15"/>
          <p:cNvSpPr txBox="1"/>
          <p:nvPr/>
        </p:nvSpPr>
        <p:spPr>
          <a:xfrm>
            <a:off x="7525512" y="3474720"/>
            <a:ext cx="3886200" cy="502920"/>
          </a:xfrm>
          <a:prstGeom prst="rect">
            <a:avLst/>
          </a:prstGeom>
          <a:noFill/>
        </p:spPr>
        <p:txBody>
          <a:bodyPr wrap="square" lIns="0" tIns="0" rIns="0" bIns="0" anchor="t">
            <a:spAutoFit/>
          </a:bodyPr>
          <a:lstStyle/>
          <a:p>
            <a:pPr algn="l">
              <a:lnSpc>
                <a:spcPct val="125000"/>
              </a:lnSpc>
            </a:pPr>
            <a:r>
              <a:rPr sz="950" b="0" i="0">
                <a:solidFill>
                  <a:srgbClr val="6B655D"/>
                </a:solidFill>
                <a:latin typeface="Yu Gothic"/>
              </a:rPr>
              <a:t>※ 画面の表示言語と、メーカーへ送るメール文面の言語は独立して管理されます。英語UIを選んでも、日本語設定のメーカー宛メールが英語になることはありません。</a:t>
            </a:r>
          </a:p>
        </p:txBody>
      </p:sp>
      <p:sp>
        <p:nvSpPr>
          <p:cNvPr id="17" name="Rounded Rectangle 16"/>
          <p:cNvSpPr/>
          <p:nvPr/>
        </p:nvSpPr>
        <p:spPr>
          <a:xfrm>
            <a:off x="7315200" y="4069080"/>
            <a:ext cx="1874519" cy="105156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01-dashboard-ja.png__1.7826__top__0.00.png"/>
          <p:cNvPicPr>
            <a:picLocks noChangeAspect="1"/>
          </p:cNvPicPr>
          <p:nvPr/>
        </p:nvPicPr>
        <p:blipFill>
          <a:blip r:embed="rId2"/>
          <a:stretch>
            <a:fillRect/>
          </a:stretch>
        </p:blipFill>
        <p:spPr>
          <a:xfrm>
            <a:off x="7315200" y="4069080"/>
            <a:ext cx="1874519" cy="1051560"/>
          </a:xfrm>
          <a:prstGeom prst="rect">
            <a:avLst/>
          </a:prstGeom>
        </p:spPr>
      </p:pic>
      <p:sp>
        <p:nvSpPr>
          <p:cNvPr id="19" name="TextBox 18"/>
          <p:cNvSpPr txBox="1"/>
          <p:nvPr/>
        </p:nvSpPr>
        <p:spPr>
          <a:xfrm>
            <a:off x="7315200" y="5148072"/>
            <a:ext cx="1874519" cy="228600"/>
          </a:xfrm>
          <a:prstGeom prst="rect">
            <a:avLst/>
          </a:prstGeom>
          <a:noFill/>
        </p:spPr>
        <p:txBody>
          <a:bodyPr wrap="square" lIns="0" tIns="0" rIns="0" bIns="0" anchor="t">
            <a:spAutoFit/>
          </a:bodyPr>
          <a:lstStyle/>
          <a:p>
            <a:pPr algn="ctr"/>
            <a:r>
              <a:rPr sz="900" b="0" i="0">
                <a:solidFill>
                  <a:srgbClr val="6B655D"/>
                </a:solidFill>
                <a:latin typeface="Yu Gothic"/>
              </a:rPr>
              <a:t>日本語（デフォルト）</a:t>
            </a:r>
          </a:p>
        </p:txBody>
      </p:sp>
      <p:sp>
        <p:nvSpPr>
          <p:cNvPr id="20" name="Rounded Rectangle 19"/>
          <p:cNvSpPr/>
          <p:nvPr/>
        </p:nvSpPr>
        <p:spPr>
          <a:xfrm>
            <a:off x="9418320" y="4069080"/>
            <a:ext cx="1874519" cy="105156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27-dashboard-en.png__1.7826__top__0.00.png"/>
          <p:cNvPicPr>
            <a:picLocks noChangeAspect="1"/>
          </p:cNvPicPr>
          <p:nvPr/>
        </p:nvPicPr>
        <p:blipFill>
          <a:blip r:embed="rId3"/>
          <a:stretch>
            <a:fillRect/>
          </a:stretch>
        </p:blipFill>
        <p:spPr>
          <a:xfrm>
            <a:off x="9418320" y="4069080"/>
            <a:ext cx="1874519" cy="1051560"/>
          </a:xfrm>
          <a:prstGeom prst="rect">
            <a:avLst/>
          </a:prstGeom>
        </p:spPr>
      </p:pic>
      <p:sp>
        <p:nvSpPr>
          <p:cNvPr id="22" name="TextBox 21"/>
          <p:cNvSpPr txBox="1"/>
          <p:nvPr/>
        </p:nvSpPr>
        <p:spPr>
          <a:xfrm>
            <a:off x="9418320" y="5148072"/>
            <a:ext cx="1874519" cy="228600"/>
          </a:xfrm>
          <a:prstGeom prst="rect">
            <a:avLst/>
          </a:prstGeom>
          <a:noFill/>
        </p:spPr>
        <p:txBody>
          <a:bodyPr wrap="square" lIns="0" tIns="0" rIns="0" bIns="0" anchor="t">
            <a:spAutoFit/>
          </a:bodyPr>
          <a:lstStyle/>
          <a:p>
            <a:pPr algn="ctr"/>
            <a:r>
              <a:rPr sz="900" b="0" i="0">
                <a:solidFill>
                  <a:srgbClr val="6B655D"/>
                </a:solidFill>
                <a:latin typeface="Yu Gothic"/>
              </a:rPr>
              <a:t>English</a:t>
            </a:r>
          </a:p>
        </p:txBody>
      </p:sp>
      <p:pic>
        <p:nvPicPr>
          <p:cNvPr id="23" name="図 22">
            <a:extLst>
              <a:ext uri="{FF2B5EF4-FFF2-40B4-BE49-F238E27FC236}">
                <a16:creationId xmlns:a16="http://schemas.microsoft.com/office/drawing/2014/main" id="{407EE742-100A-768D-29C9-65A12E62500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ARCHITECTURE</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03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システム構成 — G-SYSを置き換えない、活かす構成</a:t>
            </a: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発注などG-OPS独自の業務データはPortal DBで管理し、G-SYSへの参照は読み取り専用です。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85800" y="1965960"/>
            <a:ext cx="1417320" cy="777240"/>
          </a:xfrm>
          <a:prstGeom prst="roundRect">
            <a:avLst>
              <a:gd name="adj" fmla="val 6000"/>
            </a:avLst>
          </a:prstGeom>
          <a:solidFill>
            <a:srgbClr val="FFFFFF"/>
          </a:solidFill>
          <a:ln w="19050">
            <a:solidFill>
              <a:srgbClr val="C8722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2A2724"/>
                </a:solidFill>
                <a:latin typeface="Yu Gothic"/>
              </a:rPr>
              <a:t>利用者</a:t>
            </a:r>
          </a:p>
          <a:p>
            <a:pPr algn="ctr"/>
            <a:r>
              <a:rPr sz="1300" b="1" i="0">
                <a:solidFill>
                  <a:srgbClr val="2A2724"/>
                </a:solidFill>
                <a:latin typeface="Yu Gothic"/>
              </a:rPr>
              <a:t>(User)</a:t>
            </a:r>
          </a:p>
        </p:txBody>
      </p:sp>
      <p:sp>
        <p:nvSpPr>
          <p:cNvPr id="8" name="Rounded Rectangle 7"/>
          <p:cNvSpPr/>
          <p:nvPr/>
        </p:nvSpPr>
        <p:spPr>
          <a:xfrm>
            <a:off x="2514600" y="1965960"/>
            <a:ext cx="1417320" cy="777240"/>
          </a:xfrm>
          <a:prstGeom prst="roundRect">
            <a:avLst>
              <a:gd name="adj" fmla="val 6000"/>
            </a:avLst>
          </a:prstGeom>
          <a:solidFill>
            <a:srgbClr val="FFFFFF"/>
          </a:solidFill>
          <a:ln w="19050">
            <a:solidFill>
              <a:srgbClr val="C8722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2A2724"/>
                </a:solidFill>
                <a:latin typeface="Yu Gothic"/>
              </a:rPr>
              <a:t>G-OPS</a:t>
            </a:r>
          </a:p>
          <a:p>
            <a:pPr algn="ctr"/>
            <a:r>
              <a:rPr sz="1300" b="1" i="0">
                <a:solidFill>
                  <a:srgbClr val="2A2724"/>
                </a:solidFill>
                <a:latin typeface="Yu Gothic"/>
              </a:rPr>
              <a:t>Frontend</a:t>
            </a:r>
          </a:p>
        </p:txBody>
      </p:sp>
      <p:sp>
        <p:nvSpPr>
          <p:cNvPr id="9" name="Rounded Rectangle 8"/>
          <p:cNvSpPr/>
          <p:nvPr/>
        </p:nvSpPr>
        <p:spPr>
          <a:xfrm>
            <a:off x="4343400" y="1965960"/>
            <a:ext cx="1417320" cy="777240"/>
          </a:xfrm>
          <a:prstGeom prst="roundRect">
            <a:avLst>
              <a:gd name="adj" fmla="val 6000"/>
            </a:avLst>
          </a:prstGeom>
          <a:solidFill>
            <a:srgbClr val="FFFFFF"/>
          </a:solidFill>
          <a:ln w="19050">
            <a:solidFill>
              <a:srgbClr val="C8722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2A2724"/>
                </a:solidFill>
                <a:latin typeface="Yu Gothic"/>
              </a:rPr>
              <a:t>G-OPS</a:t>
            </a:r>
          </a:p>
          <a:p>
            <a:pPr algn="ctr"/>
            <a:r>
              <a:rPr sz="1300" b="1" i="0">
                <a:solidFill>
                  <a:srgbClr val="2A2724"/>
                </a:solidFill>
                <a:latin typeface="Yu Gothic"/>
              </a:rPr>
              <a:t>Backend</a:t>
            </a:r>
          </a:p>
        </p:txBody>
      </p:sp>
      <p:sp>
        <p:nvSpPr>
          <p:cNvPr id="10" name="Right Arrow 9"/>
          <p:cNvSpPr/>
          <p:nvPr/>
        </p:nvSpPr>
        <p:spPr>
          <a:xfrm>
            <a:off x="2152570" y="2240280"/>
            <a:ext cx="320040" cy="228600"/>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3981370" y="2240280"/>
            <a:ext cx="320040" cy="228600"/>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246120" y="3154680"/>
            <a:ext cx="1965960" cy="777240"/>
          </a:xfrm>
          <a:prstGeom prst="roundRect">
            <a:avLst>
              <a:gd name="adj" fmla="val 6000"/>
            </a:avLst>
          </a:prstGeom>
          <a:solidFill>
            <a:srgbClr val="EEF2EC"/>
          </a:solidFill>
          <a:ln w="19050">
            <a:solidFill>
              <a:srgbClr val="3F6B3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2A2724"/>
                </a:solidFill>
                <a:latin typeface="Yu Gothic"/>
              </a:rPr>
              <a:t>Portal DB</a:t>
            </a:r>
          </a:p>
          <a:p>
            <a:pPr algn="ctr"/>
            <a:r>
              <a:rPr sz="950" b="0" i="0">
                <a:solidFill>
                  <a:srgbClr val="6B655D"/>
                </a:solidFill>
                <a:latin typeface="Yu Gothic"/>
              </a:rPr>
              <a:t>(発注・承認・履歴など)</a:t>
            </a:r>
          </a:p>
        </p:txBody>
      </p:sp>
      <p:sp>
        <p:nvSpPr>
          <p:cNvPr id="13" name="Rounded Rectangle 12"/>
          <p:cNvSpPr/>
          <p:nvPr/>
        </p:nvSpPr>
        <p:spPr>
          <a:xfrm>
            <a:off x="5577840" y="3154680"/>
            <a:ext cx="2148840" cy="777240"/>
          </a:xfrm>
          <a:prstGeom prst="roundRect">
            <a:avLst>
              <a:gd name="adj" fmla="val 6000"/>
            </a:avLst>
          </a:prstGeom>
          <a:solidFill>
            <a:srgbClr val="FFFFFF"/>
          </a:solidFill>
          <a:ln w="19050">
            <a:solidFill>
              <a:srgbClr val="C8722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2A2724"/>
                </a:solidFill>
                <a:latin typeface="Yu Gothic"/>
              </a:rPr>
              <a:t>Legacy Adapter</a:t>
            </a:r>
          </a:p>
          <a:p>
            <a:pPr algn="ctr"/>
            <a:r>
              <a:rPr sz="950" b="0" i="0">
                <a:solidFill>
                  <a:srgbClr val="6B655D"/>
                </a:solidFill>
                <a:latin typeface="Yu Gothic"/>
              </a:rPr>
              <a:t>(G-OPS側の新設Component)</a:t>
            </a:r>
          </a:p>
        </p:txBody>
      </p:sp>
      <p:sp>
        <p:nvSpPr>
          <p:cNvPr id="14" name="Rounded Rectangle 13"/>
          <p:cNvSpPr/>
          <p:nvPr/>
        </p:nvSpPr>
        <p:spPr>
          <a:xfrm>
            <a:off x="8275320" y="3154680"/>
            <a:ext cx="2148840" cy="777240"/>
          </a:xfrm>
          <a:prstGeom prst="roundRect">
            <a:avLst>
              <a:gd name="adj" fmla="val 6000"/>
            </a:avLst>
          </a:prstGeom>
          <a:solidFill>
            <a:srgbClr val="EFECE7"/>
          </a:solidFill>
          <a:ln w="19050">
            <a:solidFill>
              <a:srgbClr val="9A938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2A2724"/>
                </a:solidFill>
                <a:latin typeface="Yu Gothic"/>
              </a:rPr>
              <a:t>G-SYS (MySQL)</a:t>
            </a:r>
          </a:p>
          <a:p>
            <a:pPr algn="ctr"/>
            <a:r>
              <a:rPr sz="950" b="1" i="0">
                <a:solidFill>
                  <a:srgbClr val="A85A1F"/>
                </a:solidFill>
                <a:latin typeface="Yu Gothic"/>
              </a:rPr>
              <a:t>READ ONLY 参照</a:t>
            </a:r>
          </a:p>
        </p:txBody>
      </p:sp>
      <p:sp>
        <p:nvSpPr>
          <p:cNvPr id="18" name="Right Arrow 17"/>
          <p:cNvSpPr/>
          <p:nvPr/>
        </p:nvSpPr>
        <p:spPr>
          <a:xfrm>
            <a:off x="7726679" y="3429000"/>
            <a:ext cx="502920" cy="228600"/>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502920" y="4251960"/>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2920" y="4343400"/>
            <a:ext cx="7315200" cy="256032"/>
          </a:xfrm>
          <a:prstGeom prst="rect">
            <a:avLst/>
          </a:prstGeom>
          <a:noFill/>
        </p:spPr>
        <p:txBody>
          <a:bodyPr wrap="square" lIns="0" tIns="0" rIns="0" bIns="0" anchor="t">
            <a:spAutoFit/>
          </a:bodyPr>
          <a:lstStyle/>
          <a:p>
            <a:pPr algn="l"/>
            <a:r>
              <a:rPr sz="1250" b="1" i="0">
                <a:solidFill>
                  <a:srgbClr val="2A2724"/>
                </a:solidFill>
                <a:latin typeface="Yu Gothic"/>
              </a:rPr>
              <a:t>正式PO連携（G-SYSへのファイル連携経路）</a:t>
            </a:r>
          </a:p>
        </p:txBody>
      </p:sp>
      <p:sp>
        <p:nvSpPr>
          <p:cNvPr id="21" name="Rounded Rectangle 20"/>
          <p:cNvSpPr/>
          <p:nvPr/>
        </p:nvSpPr>
        <p:spPr>
          <a:xfrm>
            <a:off x="685800" y="4690872"/>
            <a:ext cx="1920240" cy="621792"/>
          </a:xfrm>
          <a:prstGeom prst="roundRect">
            <a:avLst>
              <a:gd name="adj" fmla="val 6000"/>
            </a:avLst>
          </a:prstGeom>
          <a:solidFill>
            <a:srgbClr val="FFFFFF"/>
          </a:solidFill>
          <a:ln w="15875">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i="0">
                <a:solidFill>
                  <a:srgbClr val="2A2724"/>
                </a:solidFill>
                <a:latin typeface="Yu Gothic"/>
              </a:rPr>
              <a:t>Official PO</a:t>
            </a:r>
          </a:p>
          <a:p>
            <a:pPr algn="ctr"/>
            <a:r>
              <a:rPr sz="1150" b="1" i="0">
                <a:solidFill>
                  <a:srgbClr val="2A2724"/>
                </a:solidFill>
                <a:latin typeface="Yu Gothic"/>
              </a:rPr>
              <a:t>Excel生成</a:t>
            </a:r>
          </a:p>
        </p:txBody>
      </p:sp>
      <p:sp>
        <p:nvSpPr>
          <p:cNvPr id="22" name="Rounded Rectangle 21"/>
          <p:cNvSpPr/>
          <p:nvPr/>
        </p:nvSpPr>
        <p:spPr>
          <a:xfrm>
            <a:off x="3063240" y="4690872"/>
            <a:ext cx="2103120" cy="621792"/>
          </a:xfrm>
          <a:prstGeom prst="roundRect">
            <a:avLst>
              <a:gd name="adj" fmla="val 6000"/>
            </a:avLst>
          </a:prstGeom>
          <a:solidFill>
            <a:srgbClr val="FFFFFF"/>
          </a:solidFill>
          <a:ln w="15875">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i="0">
                <a:solidFill>
                  <a:srgbClr val="2A2724"/>
                </a:solidFill>
                <a:latin typeface="Yu Gothic"/>
              </a:rPr>
              <a:t>G-SYS</a:t>
            </a:r>
          </a:p>
          <a:p>
            <a:pPr algn="ctr"/>
            <a:r>
              <a:rPr sz="1150" b="1" i="0">
                <a:solidFill>
                  <a:srgbClr val="2A2724"/>
                </a:solidFill>
                <a:latin typeface="Yu Gothic"/>
              </a:rPr>
              <a:t>Import Folder</a:t>
            </a:r>
          </a:p>
        </p:txBody>
      </p:sp>
      <p:sp>
        <p:nvSpPr>
          <p:cNvPr id="23" name="Rounded Rectangle 22"/>
          <p:cNvSpPr/>
          <p:nvPr/>
        </p:nvSpPr>
        <p:spPr>
          <a:xfrm>
            <a:off x="5623560" y="4690872"/>
            <a:ext cx="2103120" cy="621792"/>
          </a:xfrm>
          <a:prstGeom prst="roundRect">
            <a:avLst>
              <a:gd name="adj" fmla="val 6000"/>
            </a:avLst>
          </a:prstGeom>
          <a:solidFill>
            <a:srgbClr val="FFFFFF"/>
          </a:solidFill>
          <a:ln w="15875">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i="0">
                <a:solidFill>
                  <a:srgbClr val="2A2724"/>
                </a:solidFill>
                <a:latin typeface="Yu Gothic"/>
              </a:rPr>
              <a:t>既存G-SYS</a:t>
            </a:r>
          </a:p>
          <a:p>
            <a:pPr algn="ctr"/>
            <a:r>
              <a:rPr sz="1150" b="1" i="0">
                <a:solidFill>
                  <a:srgbClr val="2A2724"/>
                </a:solidFill>
                <a:latin typeface="Yu Gothic"/>
              </a:rPr>
              <a:t>Import Batch</a:t>
            </a:r>
          </a:p>
        </p:txBody>
      </p:sp>
      <p:sp>
        <p:nvSpPr>
          <p:cNvPr id="24" name="Rounded Rectangle 23"/>
          <p:cNvSpPr/>
          <p:nvPr/>
        </p:nvSpPr>
        <p:spPr>
          <a:xfrm>
            <a:off x="8183879" y="4690872"/>
            <a:ext cx="1920240" cy="621792"/>
          </a:xfrm>
          <a:prstGeom prst="roundRect">
            <a:avLst>
              <a:gd name="adj" fmla="val 6000"/>
            </a:avLst>
          </a:prstGeom>
          <a:solidFill>
            <a:srgbClr val="FFFFFF"/>
          </a:solidFill>
          <a:ln w="15875">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i="0">
                <a:solidFill>
                  <a:srgbClr val="2A2724"/>
                </a:solidFill>
                <a:latin typeface="Yu Gothic"/>
              </a:rPr>
              <a:t>G-SYS本体へ</a:t>
            </a:r>
          </a:p>
          <a:p>
            <a:pPr algn="ctr"/>
            <a:r>
              <a:rPr sz="1150" b="1" i="0">
                <a:solidFill>
                  <a:srgbClr val="2A2724"/>
                </a:solidFill>
                <a:latin typeface="Yu Gothic"/>
              </a:rPr>
              <a:t>登録</a:t>
            </a:r>
          </a:p>
        </p:txBody>
      </p:sp>
      <p:sp>
        <p:nvSpPr>
          <p:cNvPr id="25" name="Right Arrow 24"/>
          <p:cNvSpPr/>
          <p:nvPr/>
        </p:nvSpPr>
        <p:spPr>
          <a:xfrm>
            <a:off x="2651760" y="4892040"/>
            <a:ext cx="365760" cy="228600"/>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ight Arrow 25"/>
          <p:cNvSpPr/>
          <p:nvPr/>
        </p:nvSpPr>
        <p:spPr>
          <a:xfrm>
            <a:off x="5212080" y="4892040"/>
            <a:ext cx="365760" cy="228600"/>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ight Arrow 26"/>
          <p:cNvSpPr/>
          <p:nvPr/>
        </p:nvSpPr>
        <p:spPr>
          <a:xfrm>
            <a:off x="7772400" y="4892040"/>
            <a:ext cx="365760" cy="228600"/>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5468112"/>
            <a:ext cx="11183112" cy="502920"/>
          </a:xfrm>
          <a:prstGeom prst="rect">
            <a:avLst/>
          </a:prstGeom>
          <a:noFill/>
        </p:spPr>
        <p:txBody>
          <a:bodyPr wrap="square" lIns="0" tIns="0" rIns="0" bIns="0" anchor="t">
            <a:spAutoFit/>
          </a:bodyPr>
          <a:lstStyle/>
          <a:p>
            <a:pPr algn="l">
              <a:lnSpc>
                <a:spcPct val="130000"/>
              </a:lnSpc>
            </a:pPr>
            <a:r>
              <a:rPr sz="1100" b="0" i="0">
                <a:solidFill>
                  <a:srgbClr val="6B655D"/>
                </a:solidFill>
                <a:latin typeface="Yu Gothic"/>
              </a:rPr>
              <a:t>在庫・発注実績の参照はREAD ONLY、正式PO連携は既存の取込バッチにファイルを渡す方式です。G-OPSがG-SYSへ直接書き込むことはありません。</a:t>
            </a:r>
          </a:p>
        </p:txBody>
      </p:sp>
      <p:pic>
        <p:nvPicPr>
          <p:cNvPr id="29" name="図 28">
            <a:extLst>
              <a:ext uri="{FF2B5EF4-FFF2-40B4-BE49-F238E27FC236}">
                <a16:creationId xmlns:a16="http://schemas.microsoft.com/office/drawing/2014/main" id="{3B6B8F89-49BE-A350-DE95-2A6FC440D6B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2" name="コネクタ: カギ線 31">
            <a:extLst>
              <a:ext uri="{FF2B5EF4-FFF2-40B4-BE49-F238E27FC236}">
                <a16:creationId xmlns:a16="http://schemas.microsoft.com/office/drawing/2014/main" id="{5787A7C2-1151-6907-3A5D-991F2399A88F}"/>
              </a:ext>
            </a:extLst>
          </p:cNvPr>
          <p:cNvCxnSpPr>
            <a:stCxn id="9" idx="2"/>
            <a:endCxn id="12" idx="0"/>
          </p:cNvCxnSpPr>
          <p:nvPr/>
        </p:nvCxnSpPr>
        <p:spPr>
          <a:xfrm rot="5400000">
            <a:off x="4434840" y="2537460"/>
            <a:ext cx="411480" cy="822960"/>
          </a:xfrm>
          <a:prstGeom prst="bentConnector3">
            <a:avLst/>
          </a:prstGeom>
        </p:spPr>
        <p:style>
          <a:lnRef idx="2">
            <a:schemeClr val="accent6"/>
          </a:lnRef>
          <a:fillRef idx="0">
            <a:schemeClr val="accent6"/>
          </a:fillRef>
          <a:effectRef idx="1">
            <a:schemeClr val="accent6"/>
          </a:effectRef>
          <a:fontRef idx="minor">
            <a:schemeClr val="tx1"/>
          </a:fontRef>
        </p:style>
      </p:cxnSp>
      <p:cxnSp>
        <p:nvCxnSpPr>
          <p:cNvPr id="34" name="直線コネクタ 33">
            <a:extLst>
              <a:ext uri="{FF2B5EF4-FFF2-40B4-BE49-F238E27FC236}">
                <a16:creationId xmlns:a16="http://schemas.microsoft.com/office/drawing/2014/main" id="{9DDA9C70-FB9D-C07E-CE74-85085EB19A0E}"/>
              </a:ext>
            </a:extLst>
          </p:cNvPr>
          <p:cNvCxnSpPr>
            <a:stCxn id="12" idx="3"/>
            <a:endCxn id="13" idx="1"/>
          </p:cNvCxnSpPr>
          <p:nvPr/>
        </p:nvCxnSpPr>
        <p:spPr>
          <a:xfrm>
            <a:off x="5212080" y="3543300"/>
            <a:ext cx="365760" cy="0"/>
          </a:xfrm>
          <a:prstGeom prst="line">
            <a:avLst/>
          </a:prstGeom>
        </p:spPr>
        <p:style>
          <a:lnRef idx="2">
            <a:schemeClr val="accent6"/>
          </a:lnRef>
          <a:fillRef idx="0">
            <a:schemeClr val="accent6"/>
          </a:fillRef>
          <a:effectRef idx="1">
            <a:schemeClr val="accent6"/>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OUR APPROACH</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04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発注業務を、入荷・未納管理までひとつながりに</a:t>
            </a:r>
          </a:p>
        </p:txBody>
      </p:sp>
      <p:sp>
        <p:nvSpPr>
          <p:cNvPr id="5" name="TextBox 4"/>
          <p:cNvSpPr txBox="1"/>
          <p:nvPr/>
        </p:nvSpPr>
        <p:spPr>
          <a:xfrm>
            <a:off x="502920" y="1115568"/>
            <a:ext cx="11183112" cy="200055"/>
          </a:xfrm>
          <a:prstGeom prst="rect">
            <a:avLst/>
          </a:prstGeom>
          <a:noFill/>
        </p:spPr>
        <p:txBody>
          <a:bodyPr wrap="square" lIns="0" tIns="0" rIns="0" bIns="0" anchor="t">
            <a:spAutoFit/>
          </a:bodyPr>
          <a:lstStyle/>
          <a:p>
            <a:pPr algn="l"/>
            <a:r>
              <a:rPr sz="1300" b="0" i="0" dirty="0" err="1">
                <a:solidFill>
                  <a:srgbClr val="6B655D"/>
                </a:solidFill>
                <a:latin typeface="Yu Gothic"/>
              </a:rPr>
              <a:t>基本機能だけでなく、実際の購買業務を最後まで見据えた構成をご提案します</a:t>
            </a:r>
            <a:r>
              <a:rPr sz="1300" b="0" i="0" dirty="0">
                <a:solidFill>
                  <a:srgbClr val="6B655D"/>
                </a:solidFill>
                <a:latin typeface="Yu Gothic"/>
              </a:rPr>
              <a:t>。</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2920" y="1920240"/>
            <a:ext cx="2514600" cy="2103120"/>
          </a:xfrm>
          <a:prstGeom prst="roundRect">
            <a:avLst>
              <a:gd name="adj" fmla="val 6000"/>
            </a:avLst>
          </a:prstGeom>
          <a:solidFill>
            <a:srgbClr val="FCF8F3"/>
          </a:solidFill>
          <a:ln w="15875">
            <a:solidFill>
              <a:srgbClr val="EAD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057400"/>
            <a:ext cx="2148840" cy="457200"/>
          </a:xfrm>
          <a:prstGeom prst="rect">
            <a:avLst/>
          </a:prstGeom>
          <a:noFill/>
        </p:spPr>
        <p:txBody>
          <a:bodyPr wrap="square" lIns="0" tIns="0" rIns="0" bIns="0" anchor="t">
            <a:spAutoFit/>
          </a:bodyPr>
          <a:lstStyle/>
          <a:p>
            <a:pPr algn="l"/>
            <a:r>
              <a:rPr sz="2400" b="1" i="0">
                <a:solidFill>
                  <a:srgbClr val="C8722F"/>
                </a:solidFill>
                <a:latin typeface="Yu Gothic"/>
              </a:rPr>
              <a:t>1</a:t>
            </a:r>
          </a:p>
        </p:txBody>
      </p:sp>
      <p:sp>
        <p:nvSpPr>
          <p:cNvPr id="9" name="TextBox 8"/>
          <p:cNvSpPr txBox="1"/>
          <p:nvPr/>
        </p:nvSpPr>
        <p:spPr>
          <a:xfrm>
            <a:off x="685800" y="2633472"/>
            <a:ext cx="2148840" cy="594360"/>
          </a:xfrm>
          <a:prstGeom prst="rect">
            <a:avLst/>
          </a:prstGeom>
          <a:noFill/>
        </p:spPr>
        <p:txBody>
          <a:bodyPr wrap="square" lIns="0" tIns="0" rIns="0" bIns="0" anchor="t">
            <a:spAutoFit/>
          </a:bodyPr>
          <a:lstStyle/>
          <a:p>
            <a:pPr algn="l">
              <a:lnSpc>
                <a:spcPct val="110000"/>
              </a:lnSpc>
            </a:pPr>
            <a:r>
              <a:rPr sz="1300" b="1" i="0">
                <a:solidFill>
                  <a:srgbClr val="2A2724"/>
                </a:solidFill>
                <a:latin typeface="Yu Gothic"/>
              </a:rPr>
              <a:t>発注業務のオンライン化</a:t>
            </a:r>
          </a:p>
        </p:txBody>
      </p:sp>
      <p:sp>
        <p:nvSpPr>
          <p:cNvPr id="10" name="TextBox 9"/>
          <p:cNvSpPr txBox="1"/>
          <p:nvPr/>
        </p:nvSpPr>
        <p:spPr>
          <a:xfrm>
            <a:off x="685800" y="3218688"/>
            <a:ext cx="2148840" cy="777240"/>
          </a:xfrm>
          <a:prstGeom prst="rect">
            <a:avLst/>
          </a:prstGeom>
          <a:noFill/>
        </p:spPr>
        <p:txBody>
          <a:bodyPr wrap="square" lIns="0" tIns="0" rIns="0" bIns="0" anchor="t">
            <a:spAutoFit/>
          </a:bodyPr>
          <a:lstStyle/>
          <a:p>
            <a:pPr algn="l">
              <a:lnSpc>
                <a:spcPct val="120000"/>
              </a:lnSpc>
            </a:pPr>
            <a:r>
              <a:rPr sz="1000" b="0" i="0">
                <a:solidFill>
                  <a:srgbClr val="6B655D"/>
                </a:solidFill>
                <a:latin typeface="Yu Gothic"/>
              </a:rPr>
              <a:t>発注候補の確認から、承認、メーカーへの発注まで</a:t>
            </a:r>
          </a:p>
        </p:txBody>
      </p:sp>
      <p:sp>
        <p:nvSpPr>
          <p:cNvPr id="11" name="Right Arrow 10"/>
          <p:cNvSpPr/>
          <p:nvPr/>
        </p:nvSpPr>
        <p:spPr>
          <a:xfrm>
            <a:off x="3035808" y="2862072"/>
            <a:ext cx="237744" cy="219456"/>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291840" y="1920240"/>
            <a:ext cx="2514600" cy="2103120"/>
          </a:xfrm>
          <a:prstGeom prst="roundRect">
            <a:avLst>
              <a:gd name="adj" fmla="val 6000"/>
            </a:avLst>
          </a:prstGeom>
          <a:solidFill>
            <a:srgbClr val="FCF8F3"/>
          </a:solidFill>
          <a:ln w="15875">
            <a:solidFill>
              <a:srgbClr val="EAD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0" y="2057400"/>
            <a:ext cx="2148840" cy="457200"/>
          </a:xfrm>
          <a:prstGeom prst="rect">
            <a:avLst/>
          </a:prstGeom>
          <a:noFill/>
        </p:spPr>
        <p:txBody>
          <a:bodyPr wrap="square" lIns="0" tIns="0" rIns="0" bIns="0" anchor="t">
            <a:spAutoFit/>
          </a:bodyPr>
          <a:lstStyle/>
          <a:p>
            <a:pPr algn="l"/>
            <a:r>
              <a:rPr sz="2400" b="1" i="0">
                <a:solidFill>
                  <a:srgbClr val="C8722F"/>
                </a:solidFill>
                <a:latin typeface="Yu Gothic"/>
              </a:rPr>
              <a:t>2</a:t>
            </a:r>
          </a:p>
        </p:txBody>
      </p:sp>
      <p:sp>
        <p:nvSpPr>
          <p:cNvPr id="14" name="TextBox 13"/>
          <p:cNvSpPr txBox="1"/>
          <p:nvPr/>
        </p:nvSpPr>
        <p:spPr>
          <a:xfrm>
            <a:off x="3474720" y="2633472"/>
            <a:ext cx="2148840" cy="594360"/>
          </a:xfrm>
          <a:prstGeom prst="rect">
            <a:avLst/>
          </a:prstGeom>
          <a:noFill/>
        </p:spPr>
        <p:txBody>
          <a:bodyPr wrap="square" lIns="0" tIns="0" rIns="0" bIns="0" anchor="t">
            <a:spAutoFit/>
          </a:bodyPr>
          <a:lstStyle/>
          <a:p>
            <a:pPr algn="l">
              <a:lnSpc>
                <a:spcPct val="110000"/>
              </a:lnSpc>
            </a:pPr>
            <a:r>
              <a:rPr sz="1300" b="1" i="0">
                <a:solidFill>
                  <a:srgbClr val="2A2724"/>
                </a:solidFill>
                <a:latin typeface="Yu Gothic"/>
              </a:rPr>
              <a:t>発注後の業務まで拡張</a:t>
            </a:r>
          </a:p>
        </p:txBody>
      </p:sp>
      <p:sp>
        <p:nvSpPr>
          <p:cNvPr id="15" name="TextBox 14"/>
          <p:cNvSpPr txBox="1"/>
          <p:nvPr/>
        </p:nvSpPr>
        <p:spPr>
          <a:xfrm>
            <a:off x="3474720" y="3218688"/>
            <a:ext cx="2148840" cy="777240"/>
          </a:xfrm>
          <a:prstGeom prst="rect">
            <a:avLst/>
          </a:prstGeom>
          <a:noFill/>
        </p:spPr>
        <p:txBody>
          <a:bodyPr wrap="square" lIns="0" tIns="0" rIns="0" bIns="0" anchor="t">
            <a:spAutoFit/>
          </a:bodyPr>
          <a:lstStyle/>
          <a:p>
            <a:pPr algn="l">
              <a:lnSpc>
                <a:spcPct val="120000"/>
              </a:lnSpc>
            </a:pPr>
            <a:r>
              <a:rPr sz="1000" b="0" i="0">
                <a:solidFill>
                  <a:srgbClr val="6B655D"/>
                </a:solidFill>
                <a:latin typeface="Yu Gothic"/>
              </a:rPr>
              <a:t>入荷予定・未納確認・Follow-up・Dashboardまでを一連の流れに</a:t>
            </a:r>
          </a:p>
        </p:txBody>
      </p:sp>
      <p:sp>
        <p:nvSpPr>
          <p:cNvPr id="16" name="Right Arrow 15"/>
          <p:cNvSpPr/>
          <p:nvPr/>
        </p:nvSpPr>
        <p:spPr>
          <a:xfrm>
            <a:off x="5824728" y="2862072"/>
            <a:ext cx="237744" cy="219456"/>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080760" y="1920240"/>
            <a:ext cx="2514600" cy="2103120"/>
          </a:xfrm>
          <a:prstGeom prst="roundRect">
            <a:avLst>
              <a:gd name="adj" fmla="val 6000"/>
            </a:avLst>
          </a:prstGeom>
          <a:solidFill>
            <a:srgbClr val="FCF8F3"/>
          </a:solidFill>
          <a:ln w="15875">
            <a:solidFill>
              <a:srgbClr val="EAD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2057400"/>
            <a:ext cx="2148840" cy="457200"/>
          </a:xfrm>
          <a:prstGeom prst="rect">
            <a:avLst/>
          </a:prstGeom>
          <a:noFill/>
        </p:spPr>
        <p:txBody>
          <a:bodyPr wrap="square" lIns="0" tIns="0" rIns="0" bIns="0" anchor="t">
            <a:spAutoFit/>
          </a:bodyPr>
          <a:lstStyle/>
          <a:p>
            <a:pPr algn="l"/>
            <a:r>
              <a:rPr sz="2400" b="1" i="0">
                <a:solidFill>
                  <a:srgbClr val="C8722F"/>
                </a:solidFill>
                <a:latin typeface="Yu Gothic"/>
              </a:rPr>
              <a:t>3</a:t>
            </a:r>
          </a:p>
        </p:txBody>
      </p:sp>
      <p:sp>
        <p:nvSpPr>
          <p:cNvPr id="19" name="TextBox 18"/>
          <p:cNvSpPr txBox="1"/>
          <p:nvPr/>
        </p:nvSpPr>
        <p:spPr>
          <a:xfrm>
            <a:off x="6263640" y="2633472"/>
            <a:ext cx="2148840" cy="207557"/>
          </a:xfrm>
          <a:prstGeom prst="rect">
            <a:avLst/>
          </a:prstGeom>
          <a:noFill/>
        </p:spPr>
        <p:txBody>
          <a:bodyPr wrap="square" lIns="0" tIns="0" rIns="0" bIns="0" anchor="t">
            <a:spAutoFit/>
          </a:bodyPr>
          <a:lstStyle/>
          <a:p>
            <a:pPr algn="l">
              <a:lnSpc>
                <a:spcPct val="110000"/>
              </a:lnSpc>
            </a:pPr>
            <a:r>
              <a:rPr lang="ja-JP" altLang="en-US" sz="1300" b="1" i="0" dirty="0">
                <a:solidFill>
                  <a:srgbClr val="2A2724"/>
                </a:solidFill>
                <a:latin typeface="Yu Gothic"/>
              </a:rPr>
              <a:t>弊社</a:t>
            </a:r>
            <a:r>
              <a:rPr sz="1300" b="1" i="0" dirty="0" err="1">
                <a:solidFill>
                  <a:srgbClr val="2A2724"/>
                </a:solidFill>
                <a:latin typeface="Yu Gothic"/>
              </a:rPr>
              <a:t>推奨構成としてご提案</a:t>
            </a:r>
            <a:endParaRPr sz="1300" b="1" i="0" dirty="0">
              <a:solidFill>
                <a:srgbClr val="2A2724"/>
              </a:solidFill>
              <a:latin typeface="Yu Gothic"/>
            </a:endParaRPr>
          </a:p>
        </p:txBody>
      </p:sp>
      <p:sp>
        <p:nvSpPr>
          <p:cNvPr id="20" name="TextBox 19"/>
          <p:cNvSpPr txBox="1"/>
          <p:nvPr/>
        </p:nvSpPr>
        <p:spPr>
          <a:xfrm>
            <a:off x="6263640" y="3218688"/>
            <a:ext cx="2148840" cy="777240"/>
          </a:xfrm>
          <a:prstGeom prst="rect">
            <a:avLst/>
          </a:prstGeom>
          <a:noFill/>
        </p:spPr>
        <p:txBody>
          <a:bodyPr wrap="square" lIns="0" tIns="0" rIns="0" bIns="0" anchor="t">
            <a:spAutoFit/>
          </a:bodyPr>
          <a:lstStyle/>
          <a:p>
            <a:pPr algn="l">
              <a:lnSpc>
                <a:spcPct val="120000"/>
              </a:lnSpc>
            </a:pPr>
            <a:r>
              <a:rPr sz="1000" b="0" i="0">
                <a:solidFill>
                  <a:srgbClr val="6B655D"/>
                </a:solidFill>
                <a:latin typeface="Yu Gothic"/>
              </a:rPr>
              <a:t>①＋②をあわせて「73人日」でご提案します</a:t>
            </a:r>
          </a:p>
        </p:txBody>
      </p:sp>
      <p:sp>
        <p:nvSpPr>
          <p:cNvPr id="21" name="Right Arrow 20"/>
          <p:cNvSpPr/>
          <p:nvPr/>
        </p:nvSpPr>
        <p:spPr>
          <a:xfrm>
            <a:off x="8613648" y="2862072"/>
            <a:ext cx="237744" cy="219456"/>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869680" y="1920240"/>
            <a:ext cx="2514600" cy="2103120"/>
          </a:xfrm>
          <a:prstGeom prst="roundRect">
            <a:avLst>
              <a:gd name="adj" fmla="val 6000"/>
            </a:avLst>
          </a:prstGeom>
          <a:solidFill>
            <a:srgbClr val="FBF2E8"/>
          </a:solidFill>
          <a:ln w="15875">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0" y="2057400"/>
            <a:ext cx="2148840" cy="457200"/>
          </a:xfrm>
          <a:prstGeom prst="rect">
            <a:avLst/>
          </a:prstGeom>
          <a:noFill/>
        </p:spPr>
        <p:txBody>
          <a:bodyPr wrap="square" lIns="0" tIns="0" rIns="0" bIns="0" anchor="t">
            <a:spAutoFit/>
          </a:bodyPr>
          <a:lstStyle/>
          <a:p>
            <a:pPr algn="l"/>
            <a:r>
              <a:rPr sz="2400" b="1" i="0">
                <a:solidFill>
                  <a:srgbClr val="C8722F"/>
                </a:solidFill>
                <a:latin typeface="Yu Gothic"/>
              </a:rPr>
              <a:t>4</a:t>
            </a:r>
          </a:p>
        </p:txBody>
      </p:sp>
      <p:sp>
        <p:nvSpPr>
          <p:cNvPr id="24" name="TextBox 23"/>
          <p:cNvSpPr txBox="1"/>
          <p:nvPr/>
        </p:nvSpPr>
        <p:spPr>
          <a:xfrm>
            <a:off x="9052560" y="2633472"/>
            <a:ext cx="2148840" cy="594360"/>
          </a:xfrm>
          <a:prstGeom prst="rect">
            <a:avLst/>
          </a:prstGeom>
          <a:noFill/>
        </p:spPr>
        <p:txBody>
          <a:bodyPr wrap="square" lIns="0" tIns="0" rIns="0" bIns="0" anchor="t">
            <a:spAutoFit/>
          </a:bodyPr>
          <a:lstStyle/>
          <a:p>
            <a:pPr algn="l">
              <a:lnSpc>
                <a:spcPct val="110000"/>
              </a:lnSpc>
            </a:pPr>
            <a:r>
              <a:rPr sz="1300" b="1" i="0">
                <a:solidFill>
                  <a:srgbClr val="2A2724"/>
                </a:solidFill>
                <a:latin typeface="Yu Gothic"/>
              </a:rPr>
              <a:t>将来、Optionで拡張</a:t>
            </a:r>
          </a:p>
        </p:txBody>
      </p:sp>
      <p:sp>
        <p:nvSpPr>
          <p:cNvPr id="25" name="TextBox 24"/>
          <p:cNvSpPr txBox="1"/>
          <p:nvPr/>
        </p:nvSpPr>
        <p:spPr>
          <a:xfrm>
            <a:off x="9052560" y="3218688"/>
            <a:ext cx="2148840" cy="777240"/>
          </a:xfrm>
          <a:prstGeom prst="rect">
            <a:avLst/>
          </a:prstGeom>
          <a:noFill/>
        </p:spPr>
        <p:txBody>
          <a:bodyPr wrap="square" lIns="0" tIns="0" rIns="0" bIns="0" anchor="t">
            <a:spAutoFit/>
          </a:bodyPr>
          <a:lstStyle/>
          <a:p>
            <a:pPr algn="l">
              <a:lnSpc>
                <a:spcPct val="120000"/>
              </a:lnSpc>
            </a:pPr>
            <a:r>
              <a:rPr sz="1000" b="0" i="0">
                <a:solidFill>
                  <a:srgbClr val="6B655D"/>
                </a:solidFill>
                <a:latin typeface="Yu Gothic"/>
              </a:rPr>
              <a:t>EDI実連携・価格変更・在庫分析・倉庫連携などへ段階的に</a:t>
            </a:r>
          </a:p>
        </p:txBody>
      </p:sp>
      <p:sp>
        <p:nvSpPr>
          <p:cNvPr id="26" name="Rounded Rectangle 25"/>
          <p:cNvSpPr/>
          <p:nvPr/>
        </p:nvSpPr>
        <p:spPr>
          <a:xfrm>
            <a:off x="502920" y="4251960"/>
            <a:ext cx="11183112" cy="731520"/>
          </a:xfrm>
          <a:prstGeom prst="roundRect">
            <a:avLst>
              <a:gd name="adj" fmla="val 6000"/>
            </a:avLst>
          </a:prstGeom>
          <a:solidFill>
            <a:srgbClr val="FCEAD8"/>
          </a:solidFill>
          <a:ln w="15875">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4499181"/>
            <a:ext cx="10543032" cy="246221"/>
          </a:xfrm>
          <a:prstGeom prst="rect">
            <a:avLst/>
          </a:prstGeom>
          <a:noFill/>
        </p:spPr>
        <p:txBody>
          <a:bodyPr wrap="square" lIns="0" tIns="0" rIns="0" bIns="0" anchor="ctr">
            <a:spAutoFit/>
          </a:bodyPr>
          <a:lstStyle/>
          <a:p>
            <a:pPr algn="l"/>
            <a:r>
              <a:rPr sz="1600" b="1" i="0" dirty="0" err="1">
                <a:solidFill>
                  <a:srgbClr val="A85A1F"/>
                </a:solidFill>
                <a:latin typeface="Yu Gothic"/>
              </a:rPr>
              <a:t>今回ご提案する</a:t>
            </a:r>
            <a:r>
              <a:rPr sz="1600" b="1" i="0" dirty="0">
                <a:solidFill>
                  <a:srgbClr val="A85A1F"/>
                </a:solidFill>
                <a:latin typeface="Yu Gothic"/>
              </a:rPr>
              <a:t> </a:t>
            </a:r>
            <a:r>
              <a:rPr lang="ja-JP" altLang="en-US" sz="1600" b="1" i="0" dirty="0">
                <a:solidFill>
                  <a:srgbClr val="A85A1F"/>
                </a:solidFill>
                <a:latin typeface="Yu Gothic"/>
              </a:rPr>
              <a:t>弊社</a:t>
            </a:r>
            <a:r>
              <a:rPr sz="1600" b="1" i="0" dirty="0" err="1">
                <a:solidFill>
                  <a:srgbClr val="A85A1F"/>
                </a:solidFill>
                <a:latin typeface="Yu Gothic"/>
              </a:rPr>
              <a:t>推奨構成</a:t>
            </a:r>
            <a:r>
              <a:rPr sz="1600" b="1" i="0" dirty="0">
                <a:solidFill>
                  <a:srgbClr val="A85A1F"/>
                </a:solidFill>
                <a:latin typeface="Yu Gothic"/>
              </a:rPr>
              <a:t>　＝　</a:t>
            </a:r>
            <a:r>
              <a:rPr sz="1600" b="1" i="0" dirty="0" err="1">
                <a:solidFill>
                  <a:srgbClr val="A85A1F"/>
                </a:solidFill>
                <a:latin typeface="Yu Gothic"/>
              </a:rPr>
              <a:t>基本機能</a:t>
            </a:r>
            <a:r>
              <a:rPr sz="1600" b="1" i="0" dirty="0">
                <a:solidFill>
                  <a:srgbClr val="A85A1F"/>
                </a:solidFill>
                <a:latin typeface="Yu Gothic"/>
              </a:rPr>
              <a:t> 63人日 ＋ </a:t>
            </a:r>
            <a:r>
              <a:rPr sz="1600" b="1" i="0" dirty="0" err="1">
                <a:solidFill>
                  <a:srgbClr val="A85A1F"/>
                </a:solidFill>
                <a:latin typeface="Yu Gothic"/>
              </a:rPr>
              <a:t>当社推奨追加機能</a:t>
            </a:r>
            <a:r>
              <a:rPr sz="1600" b="1" i="0" dirty="0">
                <a:solidFill>
                  <a:srgbClr val="A85A1F"/>
                </a:solidFill>
                <a:latin typeface="Yu Gothic"/>
              </a:rPr>
              <a:t> 10人日　＝　73人日</a:t>
            </a:r>
          </a:p>
        </p:txBody>
      </p:sp>
      <p:sp>
        <p:nvSpPr>
          <p:cNvPr id="28" name="TextBox 27"/>
          <p:cNvSpPr txBox="1"/>
          <p:nvPr/>
        </p:nvSpPr>
        <p:spPr>
          <a:xfrm>
            <a:off x="502920" y="5120640"/>
            <a:ext cx="11183112" cy="502920"/>
          </a:xfrm>
          <a:prstGeom prst="rect">
            <a:avLst/>
          </a:prstGeom>
          <a:noFill/>
        </p:spPr>
        <p:txBody>
          <a:bodyPr wrap="square" lIns="0" tIns="0" rIns="0" bIns="0" anchor="t">
            <a:spAutoFit/>
          </a:bodyPr>
          <a:lstStyle/>
          <a:p>
            <a:pPr algn="l">
              <a:lnSpc>
                <a:spcPct val="130000"/>
              </a:lnSpc>
            </a:pPr>
            <a:r>
              <a:rPr sz="1150" b="0" i="0">
                <a:solidFill>
                  <a:srgbClr val="6B655D"/>
                </a:solidFill>
                <a:latin typeface="Yu Gothic"/>
              </a:rPr>
              <a:t>この構成により、日本側の時間外業務の削減、Philippines側の生産性向上、発注状況の可視化、判断履歴の記録による属人化の低減を目指します。</a:t>
            </a:r>
          </a:p>
        </p:txBody>
      </p:sp>
      <p:pic>
        <p:nvPicPr>
          <p:cNvPr id="29" name="図 28">
            <a:extLst>
              <a:ext uri="{FF2B5EF4-FFF2-40B4-BE49-F238E27FC236}">
                <a16:creationId xmlns:a16="http://schemas.microsoft.com/office/drawing/2014/main" id="{344F5ACB-6F6F-7185-4572-B0C5C89B3AF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SCENE 1</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05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Dashboard — 今日やるべきことがわかる</a:t>
            </a: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ログイン後、最初に表示される画面です。今すぐ対応すべきことが一目で把握できます。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3112" cy="594360"/>
          </a:xfrm>
          <a:prstGeom prst="rect">
            <a:avLst/>
          </a:prstGeom>
          <a:noFill/>
        </p:spPr>
        <p:txBody>
          <a:bodyPr wrap="square" lIns="0" tIns="0" rIns="0" bIns="0" anchor="t">
            <a:spAutoFit/>
          </a:bodyPr>
          <a:lstStyle/>
          <a:p>
            <a:pPr algn="l">
              <a:lnSpc>
                <a:spcPct val="130000"/>
              </a:lnSpc>
            </a:pPr>
            <a:r>
              <a:rPr sz="1300" b="0" i="0">
                <a:solidFill>
                  <a:srgbClr val="2A2724"/>
                </a:solidFill>
                <a:latin typeface="Yu Gothic"/>
              </a:rPr>
              <a:t>承認待ち・メーカー回答待ち・要確認・問い合わせ中（未納Follow-up）などの件数が並びます。分析用のグラフ画面ではなく、あくまで「今日、何から手をつけるか」を示す起点です。件数をクリックすると、該当する一覧画面へそのまま進みます。</a:t>
            </a:r>
          </a:p>
        </p:txBody>
      </p:sp>
      <p:sp>
        <p:nvSpPr>
          <p:cNvPr id="8" name="Rounded Rectangle 7"/>
          <p:cNvSpPr/>
          <p:nvPr/>
        </p:nvSpPr>
        <p:spPr>
          <a:xfrm>
            <a:off x="1709928" y="2606040"/>
            <a:ext cx="8778240" cy="352044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709928" y="2606040"/>
            <a:ext cx="8778240"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01368" y="269290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929384" y="269290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057400" y="269290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12848" y="2606040"/>
            <a:ext cx="8138160" cy="237744"/>
          </a:xfrm>
          <a:prstGeom prst="rect">
            <a:avLst/>
          </a:prstGeom>
          <a:noFill/>
        </p:spPr>
        <p:txBody>
          <a:bodyPr wrap="square" lIns="0" tIns="0" rIns="0" bIns="0" anchor="ctr">
            <a:spAutoFit/>
          </a:bodyPr>
          <a:lstStyle/>
          <a:p>
            <a:pPr algn="l"/>
            <a:r>
              <a:rPr sz="900" b="0" i="0">
                <a:solidFill>
                  <a:srgbClr val="9A938A"/>
                </a:solidFill>
                <a:latin typeface="Yu Gothic"/>
              </a:rPr>
              <a:t>gops.local / </a:t>
            </a:r>
          </a:p>
        </p:txBody>
      </p:sp>
      <p:pic>
        <p:nvPicPr>
          <p:cNvPr id="14" name="Picture 13" descr="01-dashboard-ja.png__2.9721__top__0.00.png"/>
          <p:cNvPicPr>
            <a:picLocks noChangeAspect="1"/>
          </p:cNvPicPr>
          <p:nvPr/>
        </p:nvPicPr>
        <p:blipFill>
          <a:blip r:embed="rId2"/>
          <a:stretch>
            <a:fillRect/>
          </a:stretch>
        </p:blipFill>
        <p:spPr>
          <a:xfrm>
            <a:off x="1709928" y="2843784"/>
            <a:ext cx="8778240" cy="2953512"/>
          </a:xfrm>
          <a:prstGeom prst="rect">
            <a:avLst/>
          </a:prstGeom>
        </p:spPr>
      </p:pic>
      <p:cxnSp>
        <p:nvCxnSpPr>
          <p:cNvPr id="15" name="Connector 14"/>
          <p:cNvCxnSpPr/>
          <p:nvPr/>
        </p:nvCxnSpPr>
        <p:spPr>
          <a:xfrm>
            <a:off x="1801368" y="5815584"/>
            <a:ext cx="8595360"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819656" y="5852160"/>
            <a:ext cx="8558784" cy="274320"/>
          </a:xfrm>
          <a:prstGeom prst="rect">
            <a:avLst/>
          </a:prstGeom>
          <a:noFill/>
        </p:spPr>
        <p:txBody>
          <a:bodyPr wrap="square" lIns="0" tIns="0" rIns="0" bIns="0" anchor="t">
            <a:spAutoFit/>
          </a:bodyPr>
          <a:lstStyle/>
          <a:p>
            <a:pPr algn="l"/>
            <a:r>
              <a:rPr sz="1050" b="0" i="0">
                <a:solidFill>
                  <a:srgbClr val="6B655D"/>
                </a:solidFill>
                <a:latin typeface="Yu Gothic"/>
              </a:rPr>
              <a:t>Dashboard — 承認待ち・メーカー回答待ち・問い合わせ中（未納Follow-up）などがブランド別にも確認できます</a:t>
            </a:r>
          </a:p>
        </p:txBody>
      </p:sp>
      <p:pic>
        <p:nvPicPr>
          <p:cNvPr id="17" name="図 16">
            <a:extLst>
              <a:ext uri="{FF2B5EF4-FFF2-40B4-BE49-F238E27FC236}">
                <a16:creationId xmlns:a16="http://schemas.microsoft.com/office/drawing/2014/main" id="{FCA0DA91-E4CE-860E-7417-CF48DFB351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SCENE 2</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06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発注候補確認から発注作成まで</a:t>
            </a: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既存G-SYSのデータと計算ロジックを活用し、最終的な数量は担当者が判断します。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3112" cy="548640"/>
          </a:xfrm>
          <a:prstGeom prst="rect">
            <a:avLst/>
          </a:prstGeom>
          <a:noFill/>
        </p:spPr>
        <p:txBody>
          <a:bodyPr wrap="square" lIns="0" tIns="0" rIns="0" bIns="0" anchor="t">
            <a:spAutoFit/>
          </a:bodyPr>
          <a:lstStyle/>
          <a:p>
            <a:pPr algn="l">
              <a:lnSpc>
                <a:spcPct val="130000"/>
              </a:lnSpc>
            </a:pPr>
            <a:r>
              <a:rPr sz="1250" b="0" i="0">
                <a:solidFill>
                  <a:srgbClr val="2A2724"/>
                </a:solidFill>
                <a:latin typeface="Yu Gothic"/>
              </a:rPr>
              <a:t>発注候補一覧では、現在庫・安全在庫・当月の販売実績・リードタイムなどから、G-SYS側に既にある発注判断ロジックで推奨発注数量が算出されます（G-OPS独自の新しい計算式はありません）。担当者は推奨数量を参考にしながら数量を確認・修正し、発注ドラフトとして保存します。</a:t>
            </a:r>
          </a:p>
        </p:txBody>
      </p:sp>
      <p:sp>
        <p:nvSpPr>
          <p:cNvPr id="8" name="Rounded Rectangle 7"/>
          <p:cNvSpPr/>
          <p:nvPr/>
        </p:nvSpPr>
        <p:spPr>
          <a:xfrm>
            <a:off x="502920" y="2331720"/>
            <a:ext cx="5431536" cy="393192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3317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94360"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22376"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0392"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23317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gops.local/candidates</a:t>
            </a:r>
          </a:p>
        </p:txBody>
      </p:sp>
      <p:pic>
        <p:nvPicPr>
          <p:cNvPr id="14" name="Picture 13" descr="02-candidates-ja.png__1.6141__top__0.00.png"/>
          <p:cNvPicPr>
            <a:picLocks noChangeAspect="1"/>
          </p:cNvPicPr>
          <p:nvPr/>
        </p:nvPicPr>
        <p:blipFill>
          <a:blip r:embed="rId2"/>
          <a:stretch>
            <a:fillRect/>
          </a:stretch>
        </p:blipFill>
        <p:spPr>
          <a:xfrm>
            <a:off x="502920" y="2569464"/>
            <a:ext cx="5431536" cy="3364992"/>
          </a:xfrm>
          <a:prstGeom prst="rect">
            <a:avLst/>
          </a:prstGeom>
        </p:spPr>
      </p:pic>
      <p:cxnSp>
        <p:nvCxnSpPr>
          <p:cNvPr id="15" name="Connector 14"/>
          <p:cNvCxnSpPr/>
          <p:nvPr/>
        </p:nvCxnSpPr>
        <p:spPr>
          <a:xfrm>
            <a:off x="594360" y="595274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5989320"/>
            <a:ext cx="5212080" cy="274320"/>
          </a:xfrm>
          <a:prstGeom prst="rect">
            <a:avLst/>
          </a:prstGeom>
          <a:noFill/>
        </p:spPr>
        <p:txBody>
          <a:bodyPr wrap="square" lIns="0" tIns="0" rIns="0" bIns="0" anchor="t">
            <a:spAutoFit/>
          </a:bodyPr>
          <a:lstStyle/>
          <a:p>
            <a:pPr algn="l"/>
            <a:r>
              <a:rPr sz="1050" b="0" i="0">
                <a:solidFill>
                  <a:srgbClr val="6B655D"/>
                </a:solidFill>
                <a:latin typeface="Yu Gothic"/>
              </a:rPr>
              <a:t>発注候補一覧 — 推奨発注数量・在庫状況・商品状態を横断的に確認</a:t>
            </a:r>
          </a:p>
        </p:txBody>
      </p:sp>
      <p:sp>
        <p:nvSpPr>
          <p:cNvPr id="17" name="Rounded Rectangle 16"/>
          <p:cNvSpPr/>
          <p:nvPr/>
        </p:nvSpPr>
        <p:spPr>
          <a:xfrm>
            <a:off x="6254496" y="2331720"/>
            <a:ext cx="5431536" cy="393192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54496" y="23317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45936"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601968"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57416" y="23317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gops.local/orders/drafts/…</a:t>
            </a:r>
          </a:p>
        </p:txBody>
      </p:sp>
      <p:pic>
        <p:nvPicPr>
          <p:cNvPr id="23" name="Picture 22" descr="04-draft-ja.png__1.6141__top__0.00.png"/>
          <p:cNvPicPr>
            <a:picLocks noChangeAspect="1"/>
          </p:cNvPicPr>
          <p:nvPr/>
        </p:nvPicPr>
        <p:blipFill>
          <a:blip r:embed="rId3"/>
          <a:stretch>
            <a:fillRect/>
          </a:stretch>
        </p:blipFill>
        <p:spPr>
          <a:xfrm>
            <a:off x="6254496" y="2569464"/>
            <a:ext cx="5431536" cy="3364992"/>
          </a:xfrm>
          <a:prstGeom prst="rect">
            <a:avLst/>
          </a:prstGeom>
        </p:spPr>
      </p:pic>
      <p:cxnSp>
        <p:nvCxnSpPr>
          <p:cNvPr id="24" name="Connector 23"/>
          <p:cNvCxnSpPr/>
          <p:nvPr/>
        </p:nvCxnSpPr>
        <p:spPr>
          <a:xfrm>
            <a:off x="6345936" y="595274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64224" y="5989320"/>
            <a:ext cx="5212080" cy="274320"/>
          </a:xfrm>
          <a:prstGeom prst="rect">
            <a:avLst/>
          </a:prstGeom>
          <a:noFill/>
        </p:spPr>
        <p:txBody>
          <a:bodyPr wrap="square" lIns="0" tIns="0" rIns="0" bIns="0" anchor="t">
            <a:spAutoFit/>
          </a:bodyPr>
          <a:lstStyle/>
          <a:p>
            <a:pPr algn="l"/>
            <a:r>
              <a:rPr sz="1050" b="0" i="0">
                <a:solidFill>
                  <a:srgbClr val="6B655D"/>
                </a:solidFill>
                <a:latin typeface="Yu Gothic"/>
              </a:rPr>
              <a:t>発注ドラフト — 推奨数量11に対し、担当者の判断で14へ調整して保存</a:t>
            </a:r>
          </a:p>
        </p:txBody>
      </p:sp>
      <p:pic>
        <p:nvPicPr>
          <p:cNvPr id="26" name="図 25">
            <a:extLst>
              <a:ext uri="{FF2B5EF4-FFF2-40B4-BE49-F238E27FC236}">
                <a16:creationId xmlns:a16="http://schemas.microsoft.com/office/drawing/2014/main" id="{62C54253-3908-2895-6B72-5A3E0654AE5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SCENE 3</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07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業務統制 — 起票・承認・判断履歴を残す</a:t>
            </a: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誰が起票し、誰がいつ承認したか。その判断の経緯がすべて記録されます。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3112" cy="566928"/>
          </a:xfrm>
          <a:prstGeom prst="rect">
            <a:avLst/>
          </a:prstGeom>
          <a:noFill/>
        </p:spPr>
        <p:txBody>
          <a:bodyPr wrap="square" lIns="0" tIns="0" rIns="0" bIns="0" anchor="t">
            <a:spAutoFit/>
          </a:bodyPr>
          <a:lstStyle/>
          <a:p>
            <a:pPr algn="l">
              <a:lnSpc>
                <a:spcPct val="130000"/>
              </a:lnSpc>
            </a:pPr>
            <a:r>
              <a:rPr sz="1250" b="0" i="0">
                <a:solidFill>
                  <a:srgbClr val="2A2724"/>
                </a:solidFill>
                <a:latin typeface="Yu Gothic"/>
              </a:rPr>
              <a:t>起票した担当者とは別の管理者が内容を確認し、承認・修正・差し戻しを判断します。承認からメーカーへの送信、回答確定、合意まで、一連の操作がすべて実行者・日時付きで記録され、後から確認できます。属人化の低減、内部統制、監査対応にもつながる仕組みです。</a:t>
            </a:r>
          </a:p>
        </p:txBody>
      </p:sp>
      <p:sp>
        <p:nvSpPr>
          <p:cNvPr id="8" name="Rounded Rectangle 7"/>
          <p:cNvSpPr/>
          <p:nvPr/>
        </p:nvSpPr>
        <p:spPr>
          <a:xfrm>
            <a:off x="502920" y="2331720"/>
            <a:ext cx="5431536" cy="393192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3317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94360"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22376"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0392"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23317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gops.local/orders/…</a:t>
            </a:r>
          </a:p>
        </p:txBody>
      </p:sp>
      <p:pic>
        <p:nvPicPr>
          <p:cNvPr id="14" name="Picture 13" descr="06-pending-approval-ja.png__1.6141__top__0.00.png"/>
          <p:cNvPicPr>
            <a:picLocks noChangeAspect="1"/>
          </p:cNvPicPr>
          <p:nvPr/>
        </p:nvPicPr>
        <p:blipFill>
          <a:blip r:embed="rId2"/>
          <a:stretch>
            <a:fillRect/>
          </a:stretch>
        </p:blipFill>
        <p:spPr>
          <a:xfrm>
            <a:off x="502920" y="2569464"/>
            <a:ext cx="5431536" cy="3364992"/>
          </a:xfrm>
          <a:prstGeom prst="rect">
            <a:avLst/>
          </a:prstGeom>
        </p:spPr>
      </p:pic>
      <p:cxnSp>
        <p:nvCxnSpPr>
          <p:cNvPr id="15" name="Connector 14"/>
          <p:cNvCxnSpPr/>
          <p:nvPr/>
        </p:nvCxnSpPr>
        <p:spPr>
          <a:xfrm>
            <a:off x="594360" y="595274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5989320"/>
            <a:ext cx="5212080" cy="274320"/>
          </a:xfrm>
          <a:prstGeom prst="rect">
            <a:avLst/>
          </a:prstGeom>
          <a:noFill/>
        </p:spPr>
        <p:txBody>
          <a:bodyPr wrap="square" lIns="0" tIns="0" rIns="0" bIns="0" anchor="t">
            <a:spAutoFit/>
          </a:bodyPr>
          <a:lstStyle/>
          <a:p>
            <a:pPr algn="l"/>
            <a:r>
              <a:rPr sz="1050" b="0" i="0">
                <a:solidFill>
                  <a:srgbClr val="6B655D"/>
                </a:solidFill>
                <a:latin typeface="Yu Gothic"/>
              </a:rPr>
              <a:t>承認待ち — 管理者が「修正」「承認」「差し戻し」を判断</a:t>
            </a:r>
          </a:p>
        </p:txBody>
      </p:sp>
      <p:sp>
        <p:nvSpPr>
          <p:cNvPr id="17" name="Rounded Rectangle 16"/>
          <p:cNvSpPr/>
          <p:nvPr/>
        </p:nvSpPr>
        <p:spPr>
          <a:xfrm>
            <a:off x="6254496" y="2331720"/>
            <a:ext cx="5431536" cy="393192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54496" y="23317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45936"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601968"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57416" y="23317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gops.local/orders/…</a:t>
            </a:r>
          </a:p>
        </p:txBody>
      </p:sp>
      <p:pic>
        <p:nvPicPr>
          <p:cNvPr id="23" name="Picture 22" descr="18-audit-trail-ja.png__1.6141__top__0.00.png"/>
          <p:cNvPicPr>
            <a:picLocks noChangeAspect="1"/>
          </p:cNvPicPr>
          <p:nvPr/>
        </p:nvPicPr>
        <p:blipFill>
          <a:blip r:embed="rId3"/>
          <a:stretch>
            <a:fillRect/>
          </a:stretch>
        </p:blipFill>
        <p:spPr>
          <a:xfrm>
            <a:off x="6254496" y="2569464"/>
            <a:ext cx="5431536" cy="3364992"/>
          </a:xfrm>
          <a:prstGeom prst="rect">
            <a:avLst/>
          </a:prstGeom>
        </p:spPr>
      </p:pic>
      <p:cxnSp>
        <p:nvCxnSpPr>
          <p:cNvPr id="24" name="Connector 23"/>
          <p:cNvCxnSpPr/>
          <p:nvPr/>
        </p:nvCxnSpPr>
        <p:spPr>
          <a:xfrm>
            <a:off x="6345936" y="595274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64224" y="5989320"/>
            <a:ext cx="5212080" cy="274320"/>
          </a:xfrm>
          <a:prstGeom prst="rect">
            <a:avLst/>
          </a:prstGeom>
          <a:noFill/>
        </p:spPr>
        <p:txBody>
          <a:bodyPr wrap="square" lIns="0" tIns="0" rIns="0" bIns="0" anchor="t">
            <a:spAutoFit/>
          </a:bodyPr>
          <a:lstStyle/>
          <a:p>
            <a:pPr algn="l"/>
            <a:r>
              <a:rPr sz="1050" b="0" i="0">
                <a:solidFill>
                  <a:srgbClr val="6B655D"/>
                </a:solidFill>
                <a:latin typeface="Yu Gothic"/>
              </a:rPr>
              <a:t>操作履歴 — 誰が・いつ・何を判断したかを実行者・日時付きで記録</a:t>
            </a:r>
          </a:p>
        </p:txBody>
      </p:sp>
      <p:pic>
        <p:nvPicPr>
          <p:cNvPr id="26" name="図 25">
            <a:extLst>
              <a:ext uri="{FF2B5EF4-FFF2-40B4-BE49-F238E27FC236}">
                <a16:creationId xmlns:a16="http://schemas.microsoft.com/office/drawing/2014/main" id="{16011584-592A-A45A-3E2E-C9A6EB0D9BE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SCENE 4</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08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Official PO / G-SYS連携</a:t>
            </a: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承認後、正式PO番号を確定し、既存のG-SYS取込の仕組みにつなぎます。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3112" cy="685800"/>
          </a:xfrm>
          <a:prstGeom prst="rect">
            <a:avLst/>
          </a:prstGeom>
          <a:noFill/>
        </p:spPr>
        <p:txBody>
          <a:bodyPr wrap="square" lIns="0" tIns="0" rIns="0" bIns="0" anchor="t">
            <a:spAutoFit/>
          </a:bodyPr>
          <a:lstStyle/>
          <a:p>
            <a:pPr algn="l">
              <a:lnSpc>
                <a:spcPct val="130000"/>
              </a:lnSpc>
            </a:pPr>
            <a:r>
              <a:rPr sz="1250" b="0" i="0">
                <a:solidFill>
                  <a:srgbClr val="2A2724"/>
                </a:solidFill>
                <a:latin typeface="Yu Gothic"/>
              </a:rPr>
              <a:t>正式PO番号を確定 → Official PO Excelを生成 → G-SYS連携用ファイルを配置 → G-SYS側の取込状況を確認、という流れです。ここで強調したいのは、G-OPSがG-SYSを置き換えるのではなく、既存のG-SYSの仕組みを活かして業務をオンライン化しているという点です。</a:t>
            </a:r>
          </a:p>
        </p:txBody>
      </p:sp>
      <p:sp>
        <p:nvSpPr>
          <p:cNvPr id="8" name="Rounded Rectangle 7"/>
          <p:cNvSpPr/>
          <p:nvPr/>
        </p:nvSpPr>
        <p:spPr>
          <a:xfrm>
            <a:off x="2624328" y="2606040"/>
            <a:ext cx="6949440" cy="3977639"/>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624328" y="2606040"/>
            <a:ext cx="6949440"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715768" y="269290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843784" y="269290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971800" y="269290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27248" y="2606040"/>
            <a:ext cx="6309360" cy="237744"/>
          </a:xfrm>
          <a:prstGeom prst="rect">
            <a:avLst/>
          </a:prstGeom>
          <a:noFill/>
        </p:spPr>
        <p:txBody>
          <a:bodyPr wrap="square" lIns="0" tIns="0" rIns="0" bIns="0" anchor="ctr">
            <a:spAutoFit/>
          </a:bodyPr>
          <a:lstStyle/>
          <a:p>
            <a:pPr algn="l"/>
            <a:r>
              <a:rPr sz="900" b="0" i="0">
                <a:solidFill>
                  <a:srgbClr val="9A938A"/>
                </a:solidFill>
                <a:latin typeface="Yu Gothic"/>
              </a:rPr>
              <a:t>gops.local/orders/…</a:t>
            </a:r>
          </a:p>
        </p:txBody>
      </p:sp>
      <p:pic>
        <p:nvPicPr>
          <p:cNvPr id="14" name="Picture 13" descr="08b-official-po-detail-ja.png__2.0375__top__0.00.png"/>
          <p:cNvPicPr>
            <a:picLocks noChangeAspect="1"/>
          </p:cNvPicPr>
          <p:nvPr/>
        </p:nvPicPr>
        <p:blipFill>
          <a:blip r:embed="rId2"/>
          <a:stretch>
            <a:fillRect/>
          </a:stretch>
        </p:blipFill>
        <p:spPr>
          <a:xfrm>
            <a:off x="2624328" y="2843784"/>
            <a:ext cx="6949440" cy="3410711"/>
          </a:xfrm>
          <a:prstGeom prst="rect">
            <a:avLst/>
          </a:prstGeom>
        </p:spPr>
      </p:pic>
      <p:cxnSp>
        <p:nvCxnSpPr>
          <p:cNvPr id="15" name="Connector 14"/>
          <p:cNvCxnSpPr/>
          <p:nvPr/>
        </p:nvCxnSpPr>
        <p:spPr>
          <a:xfrm>
            <a:off x="2715768" y="6272783"/>
            <a:ext cx="6766560"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34056" y="6309359"/>
            <a:ext cx="6729984" cy="274320"/>
          </a:xfrm>
          <a:prstGeom prst="rect">
            <a:avLst/>
          </a:prstGeom>
          <a:noFill/>
        </p:spPr>
        <p:txBody>
          <a:bodyPr wrap="square" lIns="0" tIns="0" rIns="0" bIns="0" anchor="t">
            <a:spAutoFit/>
          </a:bodyPr>
          <a:lstStyle/>
          <a:p>
            <a:pPr algn="l"/>
            <a:r>
              <a:rPr sz="1050" b="0" i="0">
                <a:solidFill>
                  <a:srgbClr val="6B655D"/>
                </a:solidFill>
                <a:latin typeface="Yu Gothic"/>
              </a:rPr>
              <a:t>正式PO番号・納品週・配送方法などを入力し、Excel生成〜G-SYS連携用ファイル配置まで</a:t>
            </a:r>
          </a:p>
        </p:txBody>
      </p:sp>
      <p:pic>
        <p:nvPicPr>
          <p:cNvPr id="17" name="図 16">
            <a:extLst>
              <a:ext uri="{FF2B5EF4-FFF2-40B4-BE49-F238E27FC236}">
                <a16:creationId xmlns:a16="http://schemas.microsoft.com/office/drawing/2014/main" id="{358FEBBD-1CA6-BD72-CEF8-C50AB3814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SCENE 5</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09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メーカーへの発注 — Email / EDI</a:t>
            </a: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メーカーごとの発注方法（Email／EDI）に応じて、画面の案内が切り替わります。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3112" cy="502920"/>
          </a:xfrm>
          <a:prstGeom prst="rect">
            <a:avLst/>
          </a:prstGeom>
          <a:noFill/>
        </p:spPr>
        <p:txBody>
          <a:bodyPr wrap="square" lIns="0" tIns="0" rIns="0" bIns="0" anchor="t">
            <a:spAutoFit/>
          </a:bodyPr>
          <a:lstStyle/>
          <a:p>
            <a:pPr algn="l">
              <a:lnSpc>
                <a:spcPct val="130000"/>
              </a:lnSpc>
            </a:pPr>
            <a:r>
              <a:rPr sz="1250" b="0" i="0">
                <a:solidFill>
                  <a:srgbClr val="2A2724"/>
                </a:solidFill>
                <a:latin typeface="Yu Gothic"/>
              </a:rPr>
              <a:t>Emailメーカーには送付内容（宛先・件名・本文）を確認したうえで送信します。EDIメーカーはEDI対象として管理し、入力・完了記録まで行います。</a:t>
            </a:r>
          </a:p>
        </p:txBody>
      </p:sp>
      <p:sp>
        <p:nvSpPr>
          <p:cNvPr id="8" name="Rounded Rectangle 7"/>
          <p:cNvSpPr/>
          <p:nvPr/>
        </p:nvSpPr>
        <p:spPr>
          <a:xfrm>
            <a:off x="502920" y="2331720"/>
            <a:ext cx="5431536" cy="393192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3317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94360"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22376"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0392"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23317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gops.local/orders/…</a:t>
            </a:r>
          </a:p>
        </p:txBody>
      </p:sp>
      <p:pic>
        <p:nvPicPr>
          <p:cNvPr id="14" name="Picture 13" descr="09-mail-preview-ja.png__1.6141__top__0.00.png"/>
          <p:cNvPicPr>
            <a:picLocks noChangeAspect="1"/>
          </p:cNvPicPr>
          <p:nvPr/>
        </p:nvPicPr>
        <p:blipFill>
          <a:blip r:embed="rId2"/>
          <a:stretch>
            <a:fillRect/>
          </a:stretch>
        </p:blipFill>
        <p:spPr>
          <a:xfrm>
            <a:off x="502920" y="2569464"/>
            <a:ext cx="5431536" cy="3364992"/>
          </a:xfrm>
          <a:prstGeom prst="rect">
            <a:avLst/>
          </a:prstGeom>
        </p:spPr>
      </p:pic>
      <p:cxnSp>
        <p:nvCxnSpPr>
          <p:cNvPr id="15" name="Connector 14"/>
          <p:cNvCxnSpPr/>
          <p:nvPr/>
        </p:nvCxnSpPr>
        <p:spPr>
          <a:xfrm>
            <a:off x="594360" y="595274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5989320"/>
            <a:ext cx="5212080" cy="274320"/>
          </a:xfrm>
          <a:prstGeom prst="rect">
            <a:avLst/>
          </a:prstGeom>
          <a:noFill/>
        </p:spPr>
        <p:txBody>
          <a:bodyPr wrap="square" lIns="0" tIns="0" rIns="0" bIns="0" anchor="t">
            <a:spAutoFit/>
          </a:bodyPr>
          <a:lstStyle/>
          <a:p>
            <a:pPr algn="l"/>
            <a:r>
              <a:rPr sz="1050" b="0" i="0">
                <a:solidFill>
                  <a:srgbClr val="6B655D"/>
                </a:solidFill>
                <a:latin typeface="Yu Gothic"/>
              </a:rPr>
              <a:t>Emailメーカー — 登録済みの担当者・テンプレートから送付内容を自動生成</a:t>
            </a:r>
          </a:p>
        </p:txBody>
      </p:sp>
      <p:sp>
        <p:nvSpPr>
          <p:cNvPr id="17" name="Rounded Rectangle 16"/>
          <p:cNvSpPr/>
          <p:nvPr/>
        </p:nvSpPr>
        <p:spPr>
          <a:xfrm>
            <a:off x="6254496" y="2331720"/>
            <a:ext cx="5431536" cy="393192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54496" y="23317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45936"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601968"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57416" y="23317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gops.local/orders/…</a:t>
            </a:r>
          </a:p>
        </p:txBody>
      </p:sp>
      <p:pic>
        <p:nvPicPr>
          <p:cNvPr id="23" name="Picture 22" descr="12-edi-recorded-ja.png__1.6141__top__0.00.png"/>
          <p:cNvPicPr>
            <a:picLocks noChangeAspect="1"/>
          </p:cNvPicPr>
          <p:nvPr/>
        </p:nvPicPr>
        <p:blipFill>
          <a:blip r:embed="rId3"/>
          <a:stretch>
            <a:fillRect/>
          </a:stretch>
        </p:blipFill>
        <p:spPr>
          <a:xfrm>
            <a:off x="6254496" y="2569464"/>
            <a:ext cx="5431536" cy="3364992"/>
          </a:xfrm>
          <a:prstGeom prst="rect">
            <a:avLst/>
          </a:prstGeom>
        </p:spPr>
      </p:pic>
      <p:cxnSp>
        <p:nvCxnSpPr>
          <p:cNvPr id="24" name="Connector 23"/>
          <p:cNvCxnSpPr/>
          <p:nvPr/>
        </p:nvCxnSpPr>
        <p:spPr>
          <a:xfrm>
            <a:off x="6345936" y="595274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64224" y="5989320"/>
            <a:ext cx="5212080" cy="274320"/>
          </a:xfrm>
          <a:prstGeom prst="rect">
            <a:avLst/>
          </a:prstGeom>
          <a:noFill/>
        </p:spPr>
        <p:txBody>
          <a:bodyPr wrap="square" lIns="0" tIns="0" rIns="0" bIns="0" anchor="t">
            <a:spAutoFit/>
          </a:bodyPr>
          <a:lstStyle/>
          <a:p>
            <a:pPr algn="l"/>
            <a:r>
              <a:rPr sz="1050" b="0" i="0">
                <a:solidFill>
                  <a:srgbClr val="6B655D"/>
                </a:solidFill>
                <a:latin typeface="Yu Gothic"/>
              </a:rPr>
              <a:t>EDIメーカー — EDI対象として記録し、入力状況をPortal上で管理</a:t>
            </a:r>
          </a:p>
        </p:txBody>
      </p:sp>
      <p:sp>
        <p:nvSpPr>
          <p:cNvPr id="26" name="Rounded Rectangle 25"/>
          <p:cNvSpPr/>
          <p:nvPr/>
        </p:nvSpPr>
        <p:spPr>
          <a:xfrm>
            <a:off x="502920" y="6355080"/>
            <a:ext cx="10488541" cy="384048"/>
          </a:xfrm>
          <a:prstGeom prst="roundRect">
            <a:avLst>
              <a:gd name="adj" fmla="val 6000"/>
            </a:avLst>
          </a:prstGeom>
          <a:solidFill>
            <a:srgbClr val="FCEAD8"/>
          </a:solidFill>
          <a:ln w="1270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6462465"/>
            <a:ext cx="10106608" cy="169277"/>
          </a:xfrm>
          <a:prstGeom prst="rect">
            <a:avLst/>
          </a:prstGeom>
          <a:noFill/>
        </p:spPr>
        <p:txBody>
          <a:bodyPr wrap="square" lIns="0" tIns="0" rIns="0" bIns="0" anchor="ctr">
            <a:spAutoFit/>
          </a:bodyPr>
          <a:lstStyle/>
          <a:p>
            <a:pPr algn="l"/>
            <a:r>
              <a:rPr sz="1100" b="1" i="0">
                <a:solidFill>
                  <a:srgbClr val="A85A1F"/>
                </a:solidFill>
                <a:latin typeface="Yu Gothic"/>
              </a:rPr>
              <a:t>外部EDIシステムとの実際の自動連携（送受信）は、今回の推奨構成には含まれません（Option A）。</a:t>
            </a:r>
          </a:p>
        </p:txBody>
      </p:sp>
      <p:pic>
        <p:nvPicPr>
          <p:cNvPr id="28" name="図 27">
            <a:extLst>
              <a:ext uri="{FF2B5EF4-FFF2-40B4-BE49-F238E27FC236}">
                <a16:creationId xmlns:a16="http://schemas.microsoft.com/office/drawing/2014/main" id="{52D1D433-D914-69C1-E645-95837C91CE7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SCENE 6</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10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メーカー回答 — 差異の可視化と判断</a:t>
            </a: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発注して終わりではなく、回答との差異を記録し、扱いを判断します。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3112" cy="548640"/>
          </a:xfrm>
          <a:prstGeom prst="rect">
            <a:avLst/>
          </a:prstGeom>
          <a:noFill/>
        </p:spPr>
        <p:txBody>
          <a:bodyPr wrap="square" lIns="0" tIns="0" rIns="0" bIns="0" anchor="t">
            <a:spAutoFit/>
          </a:bodyPr>
          <a:lstStyle/>
          <a:p>
            <a:pPr algn="l">
              <a:lnSpc>
                <a:spcPct val="130000"/>
              </a:lnSpc>
            </a:pPr>
            <a:r>
              <a:rPr sz="1250" b="0" i="0">
                <a:solidFill>
                  <a:srgbClr val="2A2724"/>
                </a:solidFill>
                <a:latin typeface="Yu Gothic"/>
              </a:rPr>
              <a:t>メーカーからの回答数量を記録すると、発注内容との差異が自動的に検出されます。差異がある場合、管理者は「差異のまま合意する」か「修正版を作り直す」かを選べます。下の例では、発注数量11に対して回答数量8という差異が発生しています。</a:t>
            </a:r>
          </a:p>
        </p:txBody>
      </p:sp>
      <p:sp>
        <p:nvSpPr>
          <p:cNvPr id="8" name="Rounded Rectangle 7"/>
          <p:cNvSpPr/>
          <p:nvPr/>
        </p:nvSpPr>
        <p:spPr>
          <a:xfrm>
            <a:off x="502920" y="2331720"/>
            <a:ext cx="5431536" cy="393192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3317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94360"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22376"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0392"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23317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gops.local/orders/…/supplier-response</a:t>
            </a:r>
          </a:p>
        </p:txBody>
      </p:sp>
      <p:pic>
        <p:nvPicPr>
          <p:cNvPr id="14" name="Picture 13" descr="14-difference-before-agree-ja.png__1.6141__top__0.00.png"/>
          <p:cNvPicPr>
            <a:picLocks noChangeAspect="1"/>
          </p:cNvPicPr>
          <p:nvPr/>
        </p:nvPicPr>
        <p:blipFill>
          <a:blip r:embed="rId2"/>
          <a:stretch>
            <a:fillRect/>
          </a:stretch>
        </p:blipFill>
        <p:spPr>
          <a:xfrm>
            <a:off x="502920" y="2569464"/>
            <a:ext cx="5431536" cy="3364992"/>
          </a:xfrm>
          <a:prstGeom prst="rect">
            <a:avLst/>
          </a:prstGeom>
        </p:spPr>
      </p:pic>
      <p:cxnSp>
        <p:nvCxnSpPr>
          <p:cNvPr id="15" name="Connector 14"/>
          <p:cNvCxnSpPr/>
          <p:nvPr/>
        </p:nvCxnSpPr>
        <p:spPr>
          <a:xfrm>
            <a:off x="594360" y="595274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5989320"/>
            <a:ext cx="5212080" cy="274320"/>
          </a:xfrm>
          <a:prstGeom prst="rect">
            <a:avLst/>
          </a:prstGeom>
          <a:noFill/>
        </p:spPr>
        <p:txBody>
          <a:bodyPr wrap="square" lIns="0" tIns="0" rIns="0" bIns="0" anchor="t">
            <a:spAutoFit/>
          </a:bodyPr>
          <a:lstStyle/>
          <a:p>
            <a:pPr algn="l"/>
            <a:r>
              <a:rPr sz="1050" b="0" i="0">
                <a:solidFill>
                  <a:srgbClr val="6B655D"/>
                </a:solidFill>
                <a:latin typeface="Yu Gothic"/>
              </a:rPr>
              <a:t>差異の検出 — 発注数量11 → 回答数量8。合意はまだ行われていない状態</a:t>
            </a:r>
          </a:p>
        </p:txBody>
      </p:sp>
      <p:sp>
        <p:nvSpPr>
          <p:cNvPr id="17" name="Rounded Rectangle 16"/>
          <p:cNvSpPr/>
          <p:nvPr/>
        </p:nvSpPr>
        <p:spPr>
          <a:xfrm>
            <a:off x="6254496" y="2331720"/>
            <a:ext cx="5431536" cy="393192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54496" y="23317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45936"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601968"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57416" y="23317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gops.local/orders/…/supplier-response</a:t>
            </a:r>
          </a:p>
        </p:txBody>
      </p:sp>
      <p:pic>
        <p:nvPicPr>
          <p:cNvPr id="23" name="Picture 22" descr="16-after-agree-ja.png__1.6141__top__0.00.png"/>
          <p:cNvPicPr>
            <a:picLocks noChangeAspect="1"/>
          </p:cNvPicPr>
          <p:nvPr/>
        </p:nvPicPr>
        <p:blipFill>
          <a:blip r:embed="rId3"/>
          <a:stretch>
            <a:fillRect/>
          </a:stretch>
        </p:blipFill>
        <p:spPr>
          <a:xfrm>
            <a:off x="6254496" y="2569464"/>
            <a:ext cx="5431536" cy="3364992"/>
          </a:xfrm>
          <a:prstGeom prst="rect">
            <a:avLst/>
          </a:prstGeom>
        </p:spPr>
      </p:pic>
      <p:cxnSp>
        <p:nvCxnSpPr>
          <p:cNvPr id="24" name="Connector 23"/>
          <p:cNvCxnSpPr/>
          <p:nvPr/>
        </p:nvCxnSpPr>
        <p:spPr>
          <a:xfrm>
            <a:off x="6345936" y="595274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64224" y="5989320"/>
            <a:ext cx="5212080" cy="274320"/>
          </a:xfrm>
          <a:prstGeom prst="rect">
            <a:avLst/>
          </a:prstGeom>
          <a:noFill/>
        </p:spPr>
        <p:txBody>
          <a:bodyPr wrap="square" lIns="0" tIns="0" rIns="0" bIns="0" anchor="t">
            <a:spAutoFit/>
          </a:bodyPr>
          <a:lstStyle/>
          <a:p>
            <a:pPr algn="l"/>
            <a:r>
              <a:rPr sz="1050" b="0" i="0">
                <a:solidFill>
                  <a:srgbClr val="6B655D"/>
                </a:solidFill>
                <a:latin typeface="Yu Gothic"/>
              </a:rPr>
              <a:t>合意 — 管理者が差異を確認したうえで合意。実行者・日時が記録される</a:t>
            </a:r>
          </a:p>
        </p:txBody>
      </p:sp>
      <p:pic>
        <p:nvPicPr>
          <p:cNvPr id="26" name="図 25">
            <a:extLst>
              <a:ext uri="{FF2B5EF4-FFF2-40B4-BE49-F238E27FC236}">
                <a16:creationId xmlns:a16="http://schemas.microsoft.com/office/drawing/2014/main" id="{447F32CD-0397-E582-EE33-D581CEBEBB6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SCENE 7</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11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発注後の追跡 — 入荷・未納・Follow-up</a:t>
            </a:r>
          </a:p>
        </p:txBody>
      </p:sp>
      <p:sp>
        <p:nvSpPr>
          <p:cNvPr id="5" name="TextBox 4"/>
          <p:cNvSpPr txBox="1"/>
          <p:nvPr/>
        </p:nvSpPr>
        <p:spPr>
          <a:xfrm>
            <a:off x="502920" y="1115568"/>
            <a:ext cx="11183112" cy="200055"/>
          </a:xfrm>
          <a:prstGeom prst="rect">
            <a:avLst/>
          </a:prstGeom>
          <a:noFill/>
        </p:spPr>
        <p:txBody>
          <a:bodyPr wrap="square" lIns="0" tIns="0" rIns="0" bIns="0" anchor="t">
            <a:spAutoFit/>
          </a:bodyPr>
          <a:lstStyle/>
          <a:p>
            <a:pPr algn="l"/>
            <a:r>
              <a:rPr sz="1300" b="0" i="0" dirty="0" err="1">
                <a:solidFill>
                  <a:srgbClr val="6B655D"/>
                </a:solidFill>
                <a:latin typeface="游ゴシック" panose="020B0400000000000000" pitchFamily="50" charset="-128"/>
                <a:ea typeface="游ゴシック" panose="020B0400000000000000" pitchFamily="50" charset="-128"/>
              </a:rPr>
              <a:t>発注して終わりにしない。ここが</a:t>
            </a:r>
            <a:r>
              <a:rPr lang="ja-JP" altLang="en-US" sz="1300" b="0" i="0" dirty="0">
                <a:solidFill>
                  <a:srgbClr val="6B655D"/>
                </a:solidFill>
                <a:latin typeface="游ゴシック" panose="020B0400000000000000" pitchFamily="50" charset="-128"/>
                <a:ea typeface="游ゴシック" panose="020B0400000000000000" pitchFamily="50" charset="-128"/>
              </a:rPr>
              <a:t>弊社</a:t>
            </a:r>
            <a:r>
              <a:rPr sz="1300" b="0" i="0" dirty="0" err="1">
                <a:solidFill>
                  <a:srgbClr val="6B655D"/>
                </a:solidFill>
                <a:latin typeface="游ゴシック" panose="020B0400000000000000" pitchFamily="50" charset="-128"/>
                <a:ea typeface="游ゴシック" panose="020B0400000000000000" pitchFamily="50" charset="-128"/>
              </a:rPr>
              <a:t>推奨構成の重要な意味です</a:t>
            </a:r>
            <a:r>
              <a:rPr sz="1300" b="0" i="0" dirty="0">
                <a:solidFill>
                  <a:srgbClr val="6B655D"/>
                </a:solidFill>
                <a:latin typeface="游ゴシック" panose="020B0400000000000000" pitchFamily="50" charset="-128"/>
                <a:ea typeface="游ゴシック" panose="020B0400000000000000" pitchFamily="50" charset="-128"/>
              </a:rPr>
              <a:t>。</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3112" cy="548640"/>
          </a:xfrm>
          <a:prstGeom prst="rect">
            <a:avLst/>
          </a:prstGeom>
          <a:noFill/>
        </p:spPr>
        <p:txBody>
          <a:bodyPr wrap="square" lIns="0" tIns="0" rIns="0" bIns="0" anchor="t">
            <a:spAutoFit/>
          </a:bodyPr>
          <a:lstStyle/>
          <a:p>
            <a:pPr algn="l">
              <a:lnSpc>
                <a:spcPct val="130000"/>
              </a:lnSpc>
            </a:pPr>
            <a:r>
              <a:rPr sz="1250" b="0" i="0">
                <a:solidFill>
                  <a:srgbClr val="2A2724"/>
                </a:solidFill>
                <a:latin typeface="Yu Gothic"/>
              </a:rPr>
              <a:t>合意した発注が実際にいつ・何個入荷したか、まだ届いていない場合はメーカーへ状況を問い合わせ、Follow-up案件として管理できます。入荷実績はG-SYSのデータをそのまま参照する仕組みです。</a:t>
            </a:r>
          </a:p>
        </p:txBody>
      </p:sp>
      <p:sp>
        <p:nvSpPr>
          <p:cNvPr id="8" name="Rounded Rectangle 7"/>
          <p:cNvSpPr/>
          <p:nvPr/>
        </p:nvSpPr>
        <p:spPr>
          <a:xfrm>
            <a:off x="502920" y="2331720"/>
            <a:ext cx="5431536" cy="393192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3317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94360"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22376"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0392"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23317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gops.local/orders/…</a:t>
            </a:r>
          </a:p>
        </p:txBody>
      </p:sp>
      <p:pic>
        <p:nvPicPr>
          <p:cNvPr id="14" name="Picture 13" descr="20-followup-ja.png__1.6141__top__0.00.png"/>
          <p:cNvPicPr>
            <a:picLocks noChangeAspect="1"/>
          </p:cNvPicPr>
          <p:nvPr/>
        </p:nvPicPr>
        <p:blipFill>
          <a:blip r:embed="rId2"/>
          <a:stretch>
            <a:fillRect/>
          </a:stretch>
        </p:blipFill>
        <p:spPr>
          <a:xfrm>
            <a:off x="502920" y="2569464"/>
            <a:ext cx="5431536" cy="3364992"/>
          </a:xfrm>
          <a:prstGeom prst="rect">
            <a:avLst/>
          </a:prstGeom>
        </p:spPr>
      </p:pic>
      <p:cxnSp>
        <p:nvCxnSpPr>
          <p:cNvPr id="15" name="Connector 14"/>
          <p:cNvCxnSpPr/>
          <p:nvPr/>
        </p:nvCxnSpPr>
        <p:spPr>
          <a:xfrm>
            <a:off x="594360" y="595274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5989320"/>
            <a:ext cx="5212080" cy="274320"/>
          </a:xfrm>
          <a:prstGeom prst="rect">
            <a:avLst/>
          </a:prstGeom>
          <a:noFill/>
        </p:spPr>
        <p:txBody>
          <a:bodyPr wrap="square" lIns="0" tIns="0" rIns="0" bIns="0" anchor="t">
            <a:spAutoFit/>
          </a:bodyPr>
          <a:lstStyle/>
          <a:p>
            <a:pPr algn="l"/>
            <a:r>
              <a:rPr sz="1050" b="0" i="0">
                <a:solidFill>
                  <a:srgbClr val="6B655D"/>
                </a:solidFill>
                <a:latin typeface="Yu Gothic"/>
              </a:rPr>
              <a:t>未納Follow-up — 問い合わせ内容を記録し、対応状況を追跡</a:t>
            </a:r>
          </a:p>
        </p:txBody>
      </p:sp>
      <p:sp>
        <p:nvSpPr>
          <p:cNvPr id="17" name="Rounded Rectangle 16"/>
          <p:cNvSpPr/>
          <p:nvPr/>
        </p:nvSpPr>
        <p:spPr>
          <a:xfrm>
            <a:off x="6254496" y="2331720"/>
            <a:ext cx="5431536" cy="393192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54496" y="23317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45936"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601968" y="24185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57416" y="23317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gops.local/arrivals</a:t>
            </a:r>
          </a:p>
        </p:txBody>
      </p:sp>
      <p:pic>
        <p:nvPicPr>
          <p:cNvPr id="23" name="Picture 22" descr="21-arrivals-list-ja.png__1.6141__top__0.00.png"/>
          <p:cNvPicPr>
            <a:picLocks noChangeAspect="1"/>
          </p:cNvPicPr>
          <p:nvPr/>
        </p:nvPicPr>
        <p:blipFill>
          <a:blip r:embed="rId3"/>
          <a:stretch>
            <a:fillRect/>
          </a:stretch>
        </p:blipFill>
        <p:spPr>
          <a:xfrm>
            <a:off x="6254496" y="2569464"/>
            <a:ext cx="5431536" cy="3364992"/>
          </a:xfrm>
          <a:prstGeom prst="rect">
            <a:avLst/>
          </a:prstGeom>
        </p:spPr>
      </p:pic>
      <p:cxnSp>
        <p:nvCxnSpPr>
          <p:cNvPr id="24" name="Connector 23"/>
          <p:cNvCxnSpPr/>
          <p:nvPr/>
        </p:nvCxnSpPr>
        <p:spPr>
          <a:xfrm>
            <a:off x="6345936" y="595274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64224" y="5989320"/>
            <a:ext cx="5212080" cy="274320"/>
          </a:xfrm>
          <a:prstGeom prst="rect">
            <a:avLst/>
          </a:prstGeom>
          <a:noFill/>
        </p:spPr>
        <p:txBody>
          <a:bodyPr wrap="square" lIns="0" tIns="0" rIns="0" bIns="0" anchor="t">
            <a:spAutoFit/>
          </a:bodyPr>
          <a:lstStyle/>
          <a:p>
            <a:pPr algn="l"/>
            <a:r>
              <a:rPr sz="1050" b="0" i="0">
                <a:solidFill>
                  <a:srgbClr val="6B655D"/>
                </a:solidFill>
                <a:latin typeface="Yu Gothic"/>
              </a:rPr>
              <a:t>入荷確認 — メーカー・PO番号ごとの入荷実績を一覧で確認</a:t>
            </a:r>
          </a:p>
        </p:txBody>
      </p:sp>
      <p:pic>
        <p:nvPicPr>
          <p:cNvPr id="26" name="図 25">
            <a:extLst>
              <a:ext uri="{FF2B5EF4-FFF2-40B4-BE49-F238E27FC236}">
                <a16:creationId xmlns:a16="http://schemas.microsoft.com/office/drawing/2014/main" id="{D1E40EC2-6784-94D2-3DBE-9732221E4FC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WHY 73人日</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12 / 24</a:t>
            </a:r>
          </a:p>
        </p:txBody>
      </p:sp>
      <p:sp>
        <p:nvSpPr>
          <p:cNvPr id="4" name="TextBox 3"/>
          <p:cNvSpPr txBox="1"/>
          <p:nvPr/>
        </p:nvSpPr>
        <p:spPr>
          <a:xfrm>
            <a:off x="502920" y="658368"/>
            <a:ext cx="11183112" cy="415498"/>
          </a:xfrm>
          <a:prstGeom prst="rect">
            <a:avLst/>
          </a:prstGeom>
          <a:noFill/>
        </p:spPr>
        <p:txBody>
          <a:bodyPr wrap="square" lIns="0" tIns="0" rIns="0" bIns="0" anchor="t">
            <a:spAutoFit/>
          </a:bodyPr>
          <a:lstStyle/>
          <a:p>
            <a:pPr algn="l"/>
            <a:r>
              <a:rPr lang="ja-JP" altLang="en-US" sz="2700" b="1" i="0" dirty="0">
                <a:solidFill>
                  <a:srgbClr val="2A2724"/>
                </a:solidFill>
                <a:latin typeface="Yu Gothic"/>
              </a:rPr>
              <a:t>弊社</a:t>
            </a:r>
            <a:r>
              <a:rPr sz="2700" b="1" i="0" dirty="0" err="1">
                <a:solidFill>
                  <a:srgbClr val="2A2724"/>
                </a:solidFill>
                <a:latin typeface="Yu Gothic"/>
              </a:rPr>
              <a:t>は、発注して終わりにしないことを推奨します</a:t>
            </a:r>
            <a:endParaRPr sz="2700" b="1" i="0" dirty="0">
              <a:solidFill>
                <a:srgbClr val="2A2724"/>
              </a:solidFill>
              <a:latin typeface="Yu Gothic"/>
            </a:endParaRP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基本機能だけでも発注は成立しますが、実際の購買業務はその先まで続きます。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2920" y="1874519"/>
            <a:ext cx="5074920" cy="2148840"/>
          </a:xfrm>
          <a:prstGeom prst="roundRect">
            <a:avLst>
              <a:gd name="adj" fmla="val 6000"/>
            </a:avLst>
          </a:prstGeom>
          <a:solidFill>
            <a:srgbClr val="FFFFFF"/>
          </a:solidFill>
          <a:ln w="15875">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039111"/>
            <a:ext cx="4526280" cy="365760"/>
          </a:xfrm>
          <a:prstGeom prst="rect">
            <a:avLst/>
          </a:prstGeom>
          <a:noFill/>
        </p:spPr>
        <p:txBody>
          <a:bodyPr wrap="square" lIns="0" tIns="0" rIns="0" bIns="0" anchor="t">
            <a:spAutoFit/>
          </a:bodyPr>
          <a:lstStyle/>
          <a:p>
            <a:pPr algn="l"/>
            <a:r>
              <a:rPr sz="1600" b="1" i="0">
                <a:solidFill>
                  <a:srgbClr val="2A2724"/>
                </a:solidFill>
                <a:latin typeface="Yu Gothic"/>
              </a:rPr>
              <a:t>基本機能　63人日</a:t>
            </a:r>
          </a:p>
        </p:txBody>
      </p:sp>
      <p:sp>
        <p:nvSpPr>
          <p:cNvPr id="9" name="TextBox 8"/>
          <p:cNvSpPr txBox="1"/>
          <p:nvPr/>
        </p:nvSpPr>
        <p:spPr>
          <a:xfrm>
            <a:off x="777240" y="2532887"/>
            <a:ext cx="4526280" cy="1371600"/>
          </a:xfrm>
          <a:prstGeom prst="rect">
            <a:avLst/>
          </a:prstGeom>
          <a:noFill/>
        </p:spPr>
        <p:txBody>
          <a:bodyPr wrap="square" lIns="0" tIns="0" rIns="0" bIns="0" anchor="t">
            <a:spAutoFit/>
          </a:bodyPr>
          <a:lstStyle/>
          <a:p>
            <a:pPr algn="l">
              <a:lnSpc>
                <a:spcPct val="130000"/>
              </a:lnSpc>
            </a:pPr>
            <a:r>
              <a:rPr sz="1150" b="0" i="0">
                <a:solidFill>
                  <a:srgbClr val="6B655D"/>
                </a:solidFill>
                <a:latin typeface="Yu Gothic"/>
              </a:rPr>
              <a:t>発注候補の確認</a:t>
            </a:r>
          </a:p>
          <a:p>
            <a:pPr algn="l">
              <a:lnSpc>
                <a:spcPct val="130000"/>
              </a:lnSpc>
            </a:pPr>
            <a:r>
              <a:rPr sz="1150" b="0" i="0">
                <a:solidFill>
                  <a:srgbClr val="6B655D"/>
                </a:solidFill>
                <a:latin typeface="Yu Gothic"/>
              </a:rPr>
              <a:t>→ 発注（承認・Official PO・メーカーへの発注）</a:t>
            </a:r>
          </a:p>
          <a:p>
            <a:pPr algn="l">
              <a:lnSpc>
                <a:spcPct val="130000"/>
              </a:lnSpc>
            </a:pPr>
            <a:r>
              <a:rPr sz="1150" b="0" i="0">
                <a:solidFill>
                  <a:srgbClr val="6B655D"/>
                </a:solidFill>
                <a:latin typeface="Yu Gothic"/>
              </a:rPr>
              <a:t>→ メーカー回答・合意</a:t>
            </a:r>
          </a:p>
          <a:p>
            <a:pPr algn="l">
              <a:lnSpc>
                <a:spcPct val="130000"/>
              </a:lnSpc>
            </a:pPr>
            <a:endParaRPr sz="1150" b="0" i="0">
              <a:solidFill>
                <a:srgbClr val="6B655D"/>
              </a:solidFill>
              <a:latin typeface="Yu Gothic"/>
            </a:endParaRPr>
          </a:p>
          <a:p>
            <a:pPr algn="l">
              <a:lnSpc>
                <a:spcPct val="130000"/>
              </a:lnSpc>
            </a:pPr>
            <a:r>
              <a:rPr sz="1150" b="0" i="0">
                <a:solidFill>
                  <a:srgbClr val="6B655D"/>
                </a:solidFill>
                <a:latin typeface="Yu Gothic"/>
              </a:rPr>
              <a:t>ここまでで、発注業務は成立します。</a:t>
            </a:r>
          </a:p>
        </p:txBody>
      </p:sp>
      <p:sp>
        <p:nvSpPr>
          <p:cNvPr id="10" name="Right Arrow 9"/>
          <p:cNvSpPr/>
          <p:nvPr/>
        </p:nvSpPr>
        <p:spPr>
          <a:xfrm>
            <a:off x="5679540" y="2811779"/>
            <a:ext cx="502920" cy="274320"/>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63640" y="1874519"/>
            <a:ext cx="5074920" cy="2148840"/>
          </a:xfrm>
          <a:prstGeom prst="roundRect">
            <a:avLst>
              <a:gd name="adj" fmla="val 6000"/>
            </a:avLst>
          </a:prstGeom>
          <a:solidFill>
            <a:srgbClr val="FCF8F3"/>
          </a:solidFill>
          <a:ln w="1905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2039111"/>
            <a:ext cx="4526280" cy="365760"/>
          </a:xfrm>
          <a:prstGeom prst="rect">
            <a:avLst/>
          </a:prstGeom>
          <a:noFill/>
        </p:spPr>
        <p:txBody>
          <a:bodyPr wrap="square" lIns="0" tIns="0" rIns="0" bIns="0" anchor="t">
            <a:spAutoFit/>
          </a:bodyPr>
          <a:lstStyle/>
          <a:p>
            <a:pPr algn="l"/>
            <a:r>
              <a:rPr sz="1600" b="1" i="0">
                <a:solidFill>
                  <a:srgbClr val="A85A1F"/>
                </a:solidFill>
                <a:latin typeface="Yu Gothic"/>
              </a:rPr>
              <a:t>＋ 当社推奨追加機能　10人日</a:t>
            </a:r>
          </a:p>
        </p:txBody>
      </p:sp>
      <p:sp>
        <p:nvSpPr>
          <p:cNvPr id="13" name="TextBox 12"/>
          <p:cNvSpPr txBox="1"/>
          <p:nvPr/>
        </p:nvSpPr>
        <p:spPr>
          <a:xfrm>
            <a:off x="6537960" y="2532887"/>
            <a:ext cx="4526280" cy="1371600"/>
          </a:xfrm>
          <a:prstGeom prst="rect">
            <a:avLst/>
          </a:prstGeom>
          <a:noFill/>
        </p:spPr>
        <p:txBody>
          <a:bodyPr wrap="square" lIns="0" tIns="0" rIns="0" bIns="0" anchor="t">
            <a:spAutoFit/>
          </a:bodyPr>
          <a:lstStyle/>
          <a:p>
            <a:pPr algn="l">
              <a:lnSpc>
                <a:spcPct val="130000"/>
              </a:lnSpc>
            </a:pPr>
            <a:r>
              <a:rPr sz="1150" b="0" i="0">
                <a:solidFill>
                  <a:srgbClr val="2A2724"/>
                </a:solidFill>
                <a:latin typeface="Yu Gothic"/>
              </a:rPr>
              <a:t>入荷予定の確認 → 未納確認 → Follow-up（メーカーへの問い合わせ管理） → 入荷完了</a:t>
            </a:r>
          </a:p>
          <a:p>
            <a:pPr algn="l">
              <a:lnSpc>
                <a:spcPct val="130000"/>
              </a:lnSpc>
            </a:pPr>
            <a:endParaRPr sz="1150" b="0" i="0">
              <a:solidFill>
                <a:srgbClr val="2A2724"/>
              </a:solidFill>
              <a:latin typeface="Yu Gothic"/>
            </a:endParaRPr>
          </a:p>
          <a:p>
            <a:pPr algn="l">
              <a:lnSpc>
                <a:spcPct val="130000"/>
              </a:lnSpc>
            </a:pPr>
            <a:r>
              <a:rPr sz="1150" b="0" i="0">
                <a:solidFill>
                  <a:srgbClr val="2A2724"/>
                </a:solidFill>
                <a:latin typeface="Yu Gothic"/>
              </a:rPr>
              <a:t>実際の購買業務では、ここまで追う必要があります。</a:t>
            </a:r>
          </a:p>
        </p:txBody>
      </p:sp>
      <p:sp>
        <p:nvSpPr>
          <p:cNvPr id="14" name="TextBox 13"/>
          <p:cNvSpPr txBox="1"/>
          <p:nvPr/>
        </p:nvSpPr>
        <p:spPr>
          <a:xfrm>
            <a:off x="502920" y="4206239"/>
            <a:ext cx="11183112" cy="320040"/>
          </a:xfrm>
          <a:prstGeom prst="rect">
            <a:avLst/>
          </a:prstGeom>
          <a:noFill/>
        </p:spPr>
        <p:txBody>
          <a:bodyPr wrap="square" lIns="0" tIns="0" rIns="0" bIns="0" anchor="t">
            <a:spAutoFit/>
          </a:bodyPr>
          <a:lstStyle/>
          <a:p>
            <a:pPr algn="l">
              <a:lnSpc>
                <a:spcPct val="130000"/>
              </a:lnSpc>
            </a:pPr>
            <a:r>
              <a:rPr sz="1250" b="0" i="0">
                <a:solidFill>
                  <a:srgbClr val="2A2724"/>
                </a:solidFill>
                <a:latin typeface="Yu Gothic"/>
              </a:rPr>
              <a:t>さらに、Dashboardで「今日対応すべき案件（承認待ち・メーカー回答待ち・問い合わせ中など）」を常に確認できます。</a:t>
            </a:r>
          </a:p>
        </p:txBody>
      </p:sp>
      <p:sp>
        <p:nvSpPr>
          <p:cNvPr id="15" name="Rounded Rectangle 14"/>
          <p:cNvSpPr/>
          <p:nvPr/>
        </p:nvSpPr>
        <p:spPr>
          <a:xfrm>
            <a:off x="502920" y="4617719"/>
            <a:ext cx="11183112" cy="731520"/>
          </a:xfrm>
          <a:prstGeom prst="roundRect">
            <a:avLst>
              <a:gd name="adj" fmla="val 6000"/>
            </a:avLst>
          </a:prstGeom>
          <a:solidFill>
            <a:srgbClr val="FCEAD8"/>
          </a:solidFill>
          <a:ln w="15875">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4849551"/>
            <a:ext cx="10543032" cy="276999"/>
          </a:xfrm>
          <a:prstGeom prst="rect">
            <a:avLst/>
          </a:prstGeom>
          <a:noFill/>
        </p:spPr>
        <p:txBody>
          <a:bodyPr wrap="square" lIns="0" tIns="0" rIns="0" bIns="0" anchor="ctr">
            <a:spAutoFit/>
          </a:bodyPr>
          <a:lstStyle/>
          <a:p>
            <a:pPr algn="l"/>
            <a:r>
              <a:rPr lang="ja-JP" altLang="en-US" sz="1800" b="1" i="0" dirty="0">
                <a:solidFill>
                  <a:srgbClr val="A85A1F"/>
                </a:solidFill>
                <a:latin typeface="Yu Gothic"/>
              </a:rPr>
              <a:t>よって</a:t>
            </a:r>
            <a:r>
              <a:rPr sz="1800" b="1" i="0" dirty="0">
                <a:solidFill>
                  <a:srgbClr val="A85A1F"/>
                </a:solidFill>
                <a:latin typeface="Yu Gothic"/>
              </a:rPr>
              <a:t>、</a:t>
            </a:r>
            <a:r>
              <a:rPr lang="ja-JP" altLang="en-US" sz="1800" b="1" i="0" dirty="0">
                <a:solidFill>
                  <a:srgbClr val="A85A1F"/>
                </a:solidFill>
                <a:latin typeface="Yu Gothic"/>
              </a:rPr>
              <a:t>弊社</a:t>
            </a:r>
            <a:r>
              <a:rPr sz="1800" b="1" i="0" dirty="0">
                <a:solidFill>
                  <a:srgbClr val="A85A1F"/>
                </a:solidFill>
                <a:latin typeface="Yu Gothic"/>
              </a:rPr>
              <a:t>推奨構成として「73人日」をご提案します。</a:t>
            </a:r>
          </a:p>
        </p:txBody>
      </p:sp>
      <p:sp>
        <p:nvSpPr>
          <p:cNvPr id="17" name="TextBox 16"/>
          <p:cNvSpPr txBox="1"/>
          <p:nvPr/>
        </p:nvSpPr>
        <p:spPr>
          <a:xfrm>
            <a:off x="502920" y="5486399"/>
            <a:ext cx="11183112" cy="365760"/>
          </a:xfrm>
          <a:prstGeom prst="rect">
            <a:avLst/>
          </a:prstGeom>
          <a:noFill/>
        </p:spPr>
        <p:txBody>
          <a:bodyPr wrap="square" lIns="0" tIns="0" rIns="0" bIns="0" anchor="t">
            <a:spAutoFit/>
          </a:bodyPr>
          <a:lstStyle/>
          <a:p>
            <a:pPr algn="l"/>
            <a:r>
              <a:rPr sz="1150" b="0" i="0">
                <a:solidFill>
                  <a:srgbClr val="6B655D"/>
                </a:solidFill>
                <a:latin typeface="Yu Gothic"/>
              </a:rPr>
              <a:t>属人化の低減、判断履歴の可視化、未納の見落とし防止にもつながります。</a:t>
            </a:r>
          </a:p>
        </p:txBody>
      </p:sp>
      <p:pic>
        <p:nvPicPr>
          <p:cNvPr id="18" name="図 17">
            <a:extLst>
              <a:ext uri="{FF2B5EF4-FFF2-40B4-BE49-F238E27FC236}">
                <a16:creationId xmlns:a16="http://schemas.microsoft.com/office/drawing/2014/main" id="{E203B039-684F-D97B-1C0C-71D9B3A75D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参考ROI</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13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G-OPS導入による業務効率化の考え方</a:t>
            </a:r>
          </a:p>
        </p:txBody>
      </p:sp>
      <p:sp>
        <p:nvSpPr>
          <p:cNvPr id="5" name="TextBox 4"/>
          <p:cNvSpPr txBox="1"/>
          <p:nvPr/>
        </p:nvSpPr>
        <p:spPr>
          <a:xfrm>
            <a:off x="502920" y="1115568"/>
            <a:ext cx="11183112" cy="200055"/>
          </a:xfrm>
          <a:prstGeom prst="rect">
            <a:avLst/>
          </a:prstGeom>
          <a:noFill/>
        </p:spPr>
        <p:txBody>
          <a:bodyPr wrap="square" lIns="0" tIns="0" rIns="0" bIns="0" anchor="t">
            <a:spAutoFit/>
          </a:bodyPr>
          <a:lstStyle/>
          <a:p>
            <a:pPr algn="l"/>
            <a:r>
              <a:rPr sz="1300" b="0" i="0" dirty="0" err="1">
                <a:solidFill>
                  <a:srgbClr val="6B655D"/>
                </a:solidFill>
                <a:latin typeface="游ゴシック" panose="020B0400000000000000" pitchFamily="50" charset="-128"/>
                <a:ea typeface="游ゴシック" panose="020B0400000000000000" pitchFamily="50" charset="-128"/>
              </a:rPr>
              <a:t>現時点の業務想定に基づく参考的な整理です</a:t>
            </a:r>
            <a:r>
              <a:rPr sz="1300" b="0" i="0" dirty="0">
                <a:solidFill>
                  <a:srgbClr val="6B655D"/>
                </a:solidFill>
                <a:latin typeface="游ゴシック" panose="020B0400000000000000" pitchFamily="50" charset="-128"/>
                <a:ea typeface="游ゴシック" panose="020B0400000000000000" pitchFamily="50" charset="-128"/>
              </a:rPr>
              <a:t>（</a:t>
            </a:r>
            <a:r>
              <a:rPr lang="ja-JP" altLang="en-US" sz="1300" b="0" i="0" dirty="0">
                <a:solidFill>
                  <a:srgbClr val="6B655D"/>
                </a:solidFill>
                <a:latin typeface="游ゴシック" panose="020B0400000000000000" pitchFamily="50" charset="-128"/>
                <a:ea typeface="游ゴシック" panose="020B0400000000000000" pitchFamily="50" charset="-128"/>
              </a:rPr>
              <a:t>御社</a:t>
            </a:r>
            <a:r>
              <a:rPr sz="1300" b="0" i="0" dirty="0" err="1">
                <a:solidFill>
                  <a:srgbClr val="6B655D"/>
                </a:solidFill>
                <a:latin typeface="游ゴシック" panose="020B0400000000000000" pitchFamily="50" charset="-128"/>
                <a:ea typeface="游ゴシック" panose="020B0400000000000000" pitchFamily="50" charset="-128"/>
              </a:rPr>
              <a:t>の実績値ではありません</a:t>
            </a:r>
            <a:r>
              <a:rPr sz="1300" b="0" i="0" dirty="0">
                <a:solidFill>
                  <a:srgbClr val="6B655D"/>
                </a:solidFill>
                <a:latin typeface="游ゴシック" panose="020B0400000000000000" pitchFamily="50" charset="-128"/>
                <a:ea typeface="游ゴシック" panose="020B0400000000000000" pitchFamily="50" charset="-128"/>
              </a:rPr>
              <a:t>）。</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2920" y="1828800"/>
            <a:ext cx="5440680" cy="3520440"/>
          </a:xfrm>
          <a:prstGeom prst="roundRect">
            <a:avLst>
              <a:gd name="adj" fmla="val 6000"/>
            </a:avLst>
          </a:prstGeom>
          <a:solidFill>
            <a:srgbClr val="F2F3EF"/>
          </a:solidFill>
          <a:ln w="15875">
            <a:solidFill>
              <a:srgbClr val="C9CE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993392"/>
            <a:ext cx="4983480" cy="292608"/>
          </a:xfrm>
          <a:prstGeom prst="rect">
            <a:avLst/>
          </a:prstGeom>
          <a:noFill/>
        </p:spPr>
        <p:txBody>
          <a:bodyPr wrap="square" lIns="0" tIns="0" rIns="0" bIns="0" anchor="t">
            <a:spAutoFit/>
          </a:bodyPr>
          <a:lstStyle/>
          <a:p>
            <a:pPr algn="l"/>
            <a:r>
              <a:rPr sz="1500" b="1" i="0">
                <a:solidFill>
                  <a:srgbClr val="2A2724"/>
                </a:solidFill>
                <a:latin typeface="Yu Gothic"/>
              </a:rPr>
              <a:t>日本スタッフ</a:t>
            </a:r>
          </a:p>
        </p:txBody>
      </p:sp>
      <p:sp>
        <p:nvSpPr>
          <p:cNvPr id="9" name="TextBox 8"/>
          <p:cNvSpPr txBox="1"/>
          <p:nvPr/>
        </p:nvSpPr>
        <p:spPr>
          <a:xfrm>
            <a:off x="731520" y="2377440"/>
            <a:ext cx="4983480" cy="219456"/>
          </a:xfrm>
          <a:prstGeom prst="rect">
            <a:avLst/>
          </a:prstGeom>
          <a:noFill/>
        </p:spPr>
        <p:txBody>
          <a:bodyPr wrap="square" lIns="0" tIns="0" rIns="0" bIns="0" anchor="t">
            <a:spAutoFit/>
          </a:bodyPr>
          <a:lstStyle/>
          <a:p>
            <a:pPr algn="l"/>
            <a:r>
              <a:rPr sz="1100" b="1" i="0">
                <a:solidFill>
                  <a:srgbClr val="6B655D"/>
                </a:solidFill>
                <a:latin typeface="Yu Gothic"/>
              </a:rPr>
              <a:t>現状イメージ</a:t>
            </a:r>
          </a:p>
        </p:txBody>
      </p:sp>
      <p:sp>
        <p:nvSpPr>
          <p:cNvPr id="10" name="TextBox 9"/>
          <p:cNvSpPr txBox="1"/>
          <p:nvPr/>
        </p:nvSpPr>
        <p:spPr>
          <a:xfrm>
            <a:off x="731520" y="2615184"/>
            <a:ext cx="4983480" cy="960120"/>
          </a:xfrm>
          <a:prstGeom prst="rect">
            <a:avLst/>
          </a:prstGeom>
          <a:noFill/>
        </p:spPr>
        <p:txBody>
          <a:bodyPr wrap="square" lIns="0" tIns="0" rIns="0" bIns="0" anchor="t">
            <a:spAutoFit/>
          </a:bodyPr>
          <a:lstStyle/>
          <a:p>
            <a:pPr algn="l">
              <a:lnSpc>
                <a:spcPct val="130000"/>
              </a:lnSpc>
            </a:pPr>
            <a:r>
              <a:rPr sz="1050" b="0" i="0">
                <a:solidFill>
                  <a:srgbClr val="2A2724"/>
                </a:solidFill>
                <a:latin typeface="Yu Gothic"/>
              </a:rPr>
              <a:t>短納期の国内メーカー対応＋発注確認＋PO＋メール＋メーカー回答＋差異確認＋未納Follow-upが個別に発生し、時間外対応につながりやすい状態。</a:t>
            </a:r>
          </a:p>
        </p:txBody>
      </p:sp>
      <p:sp>
        <p:nvSpPr>
          <p:cNvPr id="11" name="Down Arrow 10"/>
          <p:cNvSpPr/>
          <p:nvPr/>
        </p:nvSpPr>
        <p:spPr>
          <a:xfrm>
            <a:off x="3113532" y="3611880"/>
            <a:ext cx="228600" cy="219456"/>
          </a:xfrm>
          <a:prstGeom prst="down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886200"/>
            <a:ext cx="4983480" cy="219456"/>
          </a:xfrm>
          <a:prstGeom prst="rect">
            <a:avLst/>
          </a:prstGeom>
          <a:noFill/>
        </p:spPr>
        <p:txBody>
          <a:bodyPr wrap="square" lIns="0" tIns="0" rIns="0" bIns="0" anchor="t">
            <a:spAutoFit/>
          </a:bodyPr>
          <a:lstStyle/>
          <a:p>
            <a:pPr algn="l"/>
            <a:r>
              <a:rPr sz="1100" b="1" i="0">
                <a:solidFill>
                  <a:srgbClr val="A85A1F"/>
                </a:solidFill>
                <a:latin typeface="Yu Gothic"/>
              </a:rPr>
              <a:t>G-OPS導入後</a:t>
            </a:r>
          </a:p>
        </p:txBody>
      </p:sp>
      <p:sp>
        <p:nvSpPr>
          <p:cNvPr id="13" name="TextBox 12"/>
          <p:cNvSpPr txBox="1"/>
          <p:nvPr/>
        </p:nvSpPr>
        <p:spPr>
          <a:xfrm>
            <a:off x="731520" y="4123944"/>
            <a:ext cx="4983480" cy="914400"/>
          </a:xfrm>
          <a:prstGeom prst="rect">
            <a:avLst/>
          </a:prstGeom>
          <a:noFill/>
        </p:spPr>
        <p:txBody>
          <a:bodyPr wrap="square" lIns="0" tIns="0" rIns="0" bIns="0" anchor="t">
            <a:spAutoFit/>
          </a:bodyPr>
          <a:lstStyle/>
          <a:p>
            <a:pPr algn="l">
              <a:lnSpc>
                <a:spcPct val="130000"/>
              </a:lnSpc>
            </a:pPr>
            <a:r>
              <a:rPr sz="1050" b="0" i="0">
                <a:solidFill>
                  <a:srgbClr val="2A2724"/>
                </a:solidFill>
                <a:latin typeface="Yu Gothic"/>
              </a:rPr>
              <a:t>発注候補→Draft→承認→Official PO→Email→メーカー回答→差異確認→未納Follow-upを、一つのPortalで管理。</a:t>
            </a:r>
          </a:p>
        </p:txBody>
      </p:sp>
      <p:sp>
        <p:nvSpPr>
          <p:cNvPr id="14" name="TextBox 13"/>
          <p:cNvSpPr txBox="1"/>
          <p:nvPr/>
        </p:nvSpPr>
        <p:spPr>
          <a:xfrm>
            <a:off x="731520" y="4983480"/>
            <a:ext cx="4983480" cy="274320"/>
          </a:xfrm>
          <a:prstGeom prst="rect">
            <a:avLst/>
          </a:prstGeom>
          <a:noFill/>
        </p:spPr>
        <p:txBody>
          <a:bodyPr wrap="square" lIns="0" tIns="0" rIns="0" bIns="0" anchor="t">
            <a:spAutoFit/>
          </a:bodyPr>
          <a:lstStyle/>
          <a:p>
            <a:pPr algn="l"/>
            <a:r>
              <a:rPr sz="1200" b="1" i="0">
                <a:solidFill>
                  <a:srgbClr val="A85A1F"/>
                </a:solidFill>
                <a:latin typeface="Yu Gothic"/>
              </a:rPr>
              <a:t>→ 時間外業務の削減</a:t>
            </a:r>
          </a:p>
        </p:txBody>
      </p:sp>
      <p:sp>
        <p:nvSpPr>
          <p:cNvPr id="15" name="Rounded Rectangle 14"/>
          <p:cNvSpPr/>
          <p:nvPr/>
        </p:nvSpPr>
        <p:spPr>
          <a:xfrm>
            <a:off x="6245352" y="1828800"/>
            <a:ext cx="5440680" cy="3520440"/>
          </a:xfrm>
          <a:prstGeom prst="roundRect">
            <a:avLst>
              <a:gd name="adj" fmla="val 6000"/>
            </a:avLst>
          </a:prstGeom>
          <a:solidFill>
            <a:srgbClr val="EFF1F4"/>
          </a:solidFill>
          <a:ln w="15875">
            <a:solidFill>
              <a:srgbClr val="C4C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73952" y="1993392"/>
            <a:ext cx="4983480" cy="292608"/>
          </a:xfrm>
          <a:prstGeom prst="rect">
            <a:avLst/>
          </a:prstGeom>
          <a:noFill/>
        </p:spPr>
        <p:txBody>
          <a:bodyPr wrap="square" lIns="0" tIns="0" rIns="0" bIns="0" anchor="t">
            <a:spAutoFit/>
          </a:bodyPr>
          <a:lstStyle/>
          <a:p>
            <a:pPr algn="l"/>
            <a:r>
              <a:rPr sz="1500" b="1" i="0">
                <a:solidFill>
                  <a:srgbClr val="2A2724"/>
                </a:solidFill>
                <a:latin typeface="Yu Gothic"/>
              </a:rPr>
              <a:t>Philippinesスタッフ</a:t>
            </a:r>
          </a:p>
        </p:txBody>
      </p:sp>
      <p:sp>
        <p:nvSpPr>
          <p:cNvPr id="17" name="TextBox 16"/>
          <p:cNvSpPr txBox="1"/>
          <p:nvPr/>
        </p:nvSpPr>
        <p:spPr>
          <a:xfrm>
            <a:off x="6473952" y="2377440"/>
            <a:ext cx="4983480" cy="219456"/>
          </a:xfrm>
          <a:prstGeom prst="rect">
            <a:avLst/>
          </a:prstGeom>
          <a:noFill/>
        </p:spPr>
        <p:txBody>
          <a:bodyPr wrap="square" lIns="0" tIns="0" rIns="0" bIns="0" anchor="t">
            <a:spAutoFit/>
          </a:bodyPr>
          <a:lstStyle/>
          <a:p>
            <a:pPr algn="l"/>
            <a:r>
              <a:rPr sz="1100" b="1" i="0">
                <a:solidFill>
                  <a:srgbClr val="6B655D"/>
                </a:solidFill>
                <a:latin typeface="Yu Gothic"/>
              </a:rPr>
              <a:t>現状イメージ</a:t>
            </a:r>
          </a:p>
        </p:txBody>
      </p:sp>
      <p:sp>
        <p:nvSpPr>
          <p:cNvPr id="18" name="TextBox 17"/>
          <p:cNvSpPr txBox="1"/>
          <p:nvPr/>
        </p:nvSpPr>
        <p:spPr>
          <a:xfrm>
            <a:off x="6473952" y="2615184"/>
            <a:ext cx="4983480" cy="960120"/>
          </a:xfrm>
          <a:prstGeom prst="rect">
            <a:avLst/>
          </a:prstGeom>
          <a:noFill/>
        </p:spPr>
        <p:txBody>
          <a:bodyPr wrap="square" lIns="0" tIns="0" rIns="0" bIns="0" anchor="t">
            <a:spAutoFit/>
          </a:bodyPr>
          <a:lstStyle/>
          <a:p>
            <a:pPr algn="l">
              <a:lnSpc>
                <a:spcPct val="130000"/>
              </a:lnSpc>
            </a:pPr>
            <a:r>
              <a:rPr sz="1050" b="0" i="0">
                <a:solidFill>
                  <a:srgbClr val="2A2724"/>
                </a:solidFill>
                <a:latin typeface="Yu Gothic"/>
              </a:rPr>
              <a:t>Excel＋Email＋転記＋検索＋状況確認＋再確認＋メーカーとの余計な往復＋抜け漏れによる手戻りが重なり、業務効率が低下しやすい状態。</a:t>
            </a:r>
          </a:p>
        </p:txBody>
      </p:sp>
      <p:sp>
        <p:nvSpPr>
          <p:cNvPr id="19" name="Down Arrow 18"/>
          <p:cNvSpPr/>
          <p:nvPr/>
        </p:nvSpPr>
        <p:spPr>
          <a:xfrm>
            <a:off x="8855964" y="3611880"/>
            <a:ext cx="228600" cy="219456"/>
          </a:xfrm>
          <a:prstGeom prst="down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3952" y="3886200"/>
            <a:ext cx="4983480" cy="219456"/>
          </a:xfrm>
          <a:prstGeom prst="rect">
            <a:avLst/>
          </a:prstGeom>
          <a:noFill/>
        </p:spPr>
        <p:txBody>
          <a:bodyPr wrap="square" lIns="0" tIns="0" rIns="0" bIns="0" anchor="t">
            <a:spAutoFit/>
          </a:bodyPr>
          <a:lstStyle/>
          <a:p>
            <a:pPr algn="l"/>
            <a:r>
              <a:rPr sz="1100" b="1" i="0">
                <a:solidFill>
                  <a:srgbClr val="A85A1F"/>
                </a:solidFill>
                <a:latin typeface="Yu Gothic"/>
              </a:rPr>
              <a:t>G-OPS導入後</a:t>
            </a:r>
          </a:p>
        </p:txBody>
      </p:sp>
      <p:sp>
        <p:nvSpPr>
          <p:cNvPr id="21" name="TextBox 20"/>
          <p:cNvSpPr txBox="1"/>
          <p:nvPr/>
        </p:nvSpPr>
        <p:spPr>
          <a:xfrm>
            <a:off x="6473952" y="4123944"/>
            <a:ext cx="4983480" cy="914400"/>
          </a:xfrm>
          <a:prstGeom prst="rect">
            <a:avLst/>
          </a:prstGeom>
          <a:noFill/>
        </p:spPr>
        <p:txBody>
          <a:bodyPr wrap="square" lIns="0" tIns="0" rIns="0" bIns="0" anchor="t">
            <a:spAutoFit/>
          </a:bodyPr>
          <a:lstStyle/>
          <a:p>
            <a:pPr algn="l">
              <a:lnSpc>
                <a:spcPct val="130000"/>
              </a:lnSpc>
            </a:pPr>
            <a:r>
              <a:rPr sz="1050" b="0" i="0">
                <a:solidFill>
                  <a:srgbClr val="2A2724"/>
                </a:solidFill>
                <a:latin typeface="Yu Gothic"/>
              </a:rPr>
              <a:t>情報・Status・回答差異・Follow-upを、Order単位で一元管理。</a:t>
            </a:r>
          </a:p>
        </p:txBody>
      </p:sp>
      <p:sp>
        <p:nvSpPr>
          <p:cNvPr id="22" name="TextBox 21"/>
          <p:cNvSpPr txBox="1"/>
          <p:nvPr/>
        </p:nvSpPr>
        <p:spPr>
          <a:xfrm>
            <a:off x="6473952" y="4754880"/>
            <a:ext cx="4983480" cy="548640"/>
          </a:xfrm>
          <a:prstGeom prst="rect">
            <a:avLst/>
          </a:prstGeom>
          <a:noFill/>
        </p:spPr>
        <p:txBody>
          <a:bodyPr wrap="square" lIns="0" tIns="0" rIns="0" bIns="0" anchor="t">
            <a:spAutoFit/>
          </a:bodyPr>
          <a:lstStyle/>
          <a:p>
            <a:pPr algn="l">
              <a:lnSpc>
                <a:spcPct val="120000"/>
              </a:lnSpc>
            </a:pPr>
            <a:r>
              <a:rPr sz="1200" b="1" i="0">
                <a:solidFill>
                  <a:srgbClr val="A85A1F"/>
                </a:solidFill>
                <a:latin typeface="Yu Gothic"/>
              </a:rPr>
              <a:t>→ 同じ人数で処理できる業務量を増やす／手戻り・確認作業を削減</a:t>
            </a:r>
          </a:p>
        </p:txBody>
      </p:sp>
      <p:sp>
        <p:nvSpPr>
          <p:cNvPr id="23" name="Rounded Rectangle 22"/>
          <p:cNvSpPr/>
          <p:nvPr/>
        </p:nvSpPr>
        <p:spPr>
          <a:xfrm>
            <a:off x="502920" y="5577840"/>
            <a:ext cx="3566160" cy="868680"/>
          </a:xfrm>
          <a:prstGeom prst="roundRect">
            <a:avLst>
              <a:gd name="adj" fmla="val 6000"/>
            </a:avLst>
          </a:prstGeom>
          <a:solidFill>
            <a:srgbClr val="FCF8F3"/>
          </a:solidFill>
          <a:ln w="12700">
            <a:solidFill>
              <a:srgbClr val="EAD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7512" y="5669280"/>
            <a:ext cx="3236976" cy="219456"/>
          </a:xfrm>
          <a:prstGeom prst="rect">
            <a:avLst/>
          </a:prstGeom>
          <a:noFill/>
        </p:spPr>
        <p:txBody>
          <a:bodyPr wrap="square" lIns="0" tIns="0" rIns="0" bIns="0" anchor="t">
            <a:spAutoFit/>
          </a:bodyPr>
          <a:lstStyle/>
          <a:p>
            <a:pPr algn="l"/>
            <a:r>
              <a:rPr sz="1050" b="1" i="0">
                <a:solidFill>
                  <a:srgbClr val="6B655D"/>
                </a:solidFill>
                <a:latin typeface="Yu Gothic"/>
              </a:rPr>
              <a:t>日本</a:t>
            </a:r>
          </a:p>
        </p:txBody>
      </p:sp>
      <p:sp>
        <p:nvSpPr>
          <p:cNvPr id="25" name="TextBox 24"/>
          <p:cNvSpPr txBox="1"/>
          <p:nvPr/>
        </p:nvSpPr>
        <p:spPr>
          <a:xfrm>
            <a:off x="667512" y="5888736"/>
            <a:ext cx="3236976" cy="274320"/>
          </a:xfrm>
          <a:prstGeom prst="rect">
            <a:avLst/>
          </a:prstGeom>
          <a:noFill/>
        </p:spPr>
        <p:txBody>
          <a:bodyPr wrap="square" lIns="0" tIns="0" rIns="0" bIns="0" anchor="t">
            <a:spAutoFit/>
          </a:bodyPr>
          <a:lstStyle/>
          <a:p>
            <a:pPr algn="l"/>
            <a:r>
              <a:rPr sz="1300" b="1" i="0">
                <a:solidFill>
                  <a:srgbClr val="A85A1F"/>
                </a:solidFill>
                <a:latin typeface="Yu Gothic"/>
              </a:rPr>
              <a:t>Cost Saving</a:t>
            </a:r>
          </a:p>
        </p:txBody>
      </p:sp>
      <p:sp>
        <p:nvSpPr>
          <p:cNvPr id="26" name="TextBox 25"/>
          <p:cNvSpPr txBox="1"/>
          <p:nvPr/>
        </p:nvSpPr>
        <p:spPr>
          <a:xfrm>
            <a:off x="667512" y="6172200"/>
            <a:ext cx="3236976" cy="256032"/>
          </a:xfrm>
          <a:prstGeom prst="rect">
            <a:avLst/>
          </a:prstGeom>
          <a:noFill/>
        </p:spPr>
        <p:txBody>
          <a:bodyPr wrap="square" lIns="0" tIns="0" rIns="0" bIns="0" anchor="t">
            <a:spAutoFit/>
          </a:bodyPr>
          <a:lstStyle/>
          <a:p>
            <a:pPr algn="l">
              <a:lnSpc>
                <a:spcPct val="115000"/>
              </a:lnSpc>
            </a:pPr>
            <a:r>
              <a:rPr sz="950" b="0" i="0">
                <a:solidFill>
                  <a:srgbClr val="2A2724"/>
                </a:solidFill>
                <a:latin typeface="Yu Gothic"/>
              </a:rPr>
              <a:t>時間外業務の削減</a:t>
            </a:r>
          </a:p>
        </p:txBody>
      </p:sp>
      <p:sp>
        <p:nvSpPr>
          <p:cNvPr id="27" name="Rounded Rectangle 26"/>
          <p:cNvSpPr/>
          <p:nvPr/>
        </p:nvSpPr>
        <p:spPr>
          <a:xfrm>
            <a:off x="4251960" y="5577840"/>
            <a:ext cx="3566160" cy="868680"/>
          </a:xfrm>
          <a:prstGeom prst="roundRect">
            <a:avLst>
              <a:gd name="adj" fmla="val 6000"/>
            </a:avLst>
          </a:prstGeom>
          <a:solidFill>
            <a:srgbClr val="FCF8F3"/>
          </a:solidFill>
          <a:ln w="12700">
            <a:solidFill>
              <a:srgbClr val="EAD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16552" y="5669280"/>
            <a:ext cx="3236976" cy="219456"/>
          </a:xfrm>
          <a:prstGeom prst="rect">
            <a:avLst/>
          </a:prstGeom>
          <a:noFill/>
        </p:spPr>
        <p:txBody>
          <a:bodyPr wrap="square" lIns="0" tIns="0" rIns="0" bIns="0" anchor="t">
            <a:spAutoFit/>
          </a:bodyPr>
          <a:lstStyle/>
          <a:p>
            <a:pPr algn="l"/>
            <a:r>
              <a:rPr sz="1050" b="1" i="0">
                <a:solidFill>
                  <a:srgbClr val="6B655D"/>
                </a:solidFill>
                <a:latin typeface="Yu Gothic"/>
              </a:rPr>
              <a:t>Philippines</a:t>
            </a:r>
          </a:p>
        </p:txBody>
      </p:sp>
      <p:sp>
        <p:nvSpPr>
          <p:cNvPr id="29" name="TextBox 28"/>
          <p:cNvSpPr txBox="1"/>
          <p:nvPr/>
        </p:nvSpPr>
        <p:spPr>
          <a:xfrm>
            <a:off x="4416552" y="5888736"/>
            <a:ext cx="3236976" cy="274320"/>
          </a:xfrm>
          <a:prstGeom prst="rect">
            <a:avLst/>
          </a:prstGeom>
          <a:noFill/>
        </p:spPr>
        <p:txBody>
          <a:bodyPr wrap="square" lIns="0" tIns="0" rIns="0" bIns="0" anchor="t">
            <a:spAutoFit/>
          </a:bodyPr>
          <a:lstStyle/>
          <a:p>
            <a:pPr algn="l"/>
            <a:r>
              <a:rPr sz="1300" b="1" i="0">
                <a:solidFill>
                  <a:srgbClr val="A85A1F"/>
                </a:solidFill>
                <a:latin typeface="Yu Gothic"/>
              </a:rPr>
              <a:t>Productivity / Capacity Gain</a:t>
            </a:r>
          </a:p>
        </p:txBody>
      </p:sp>
      <p:sp>
        <p:nvSpPr>
          <p:cNvPr id="30" name="TextBox 29"/>
          <p:cNvSpPr txBox="1"/>
          <p:nvPr/>
        </p:nvSpPr>
        <p:spPr>
          <a:xfrm>
            <a:off x="4416552" y="6172200"/>
            <a:ext cx="3236976" cy="256032"/>
          </a:xfrm>
          <a:prstGeom prst="rect">
            <a:avLst/>
          </a:prstGeom>
          <a:noFill/>
        </p:spPr>
        <p:txBody>
          <a:bodyPr wrap="square" lIns="0" tIns="0" rIns="0" bIns="0" anchor="t">
            <a:spAutoFit/>
          </a:bodyPr>
          <a:lstStyle/>
          <a:p>
            <a:pPr algn="l">
              <a:lnSpc>
                <a:spcPct val="115000"/>
              </a:lnSpc>
            </a:pPr>
            <a:r>
              <a:rPr sz="950" b="0" i="0">
                <a:solidFill>
                  <a:srgbClr val="2A2724"/>
                </a:solidFill>
                <a:latin typeface="Yu Gothic"/>
              </a:rPr>
              <a:t>同じ人数で処理できる業務量の増加</a:t>
            </a:r>
          </a:p>
        </p:txBody>
      </p:sp>
      <p:sp>
        <p:nvSpPr>
          <p:cNvPr id="31" name="Rounded Rectangle 30"/>
          <p:cNvSpPr/>
          <p:nvPr/>
        </p:nvSpPr>
        <p:spPr>
          <a:xfrm>
            <a:off x="8001000" y="5577840"/>
            <a:ext cx="3566160" cy="868680"/>
          </a:xfrm>
          <a:prstGeom prst="roundRect">
            <a:avLst>
              <a:gd name="adj" fmla="val 6000"/>
            </a:avLst>
          </a:prstGeom>
          <a:solidFill>
            <a:srgbClr val="FCF8F3"/>
          </a:solidFill>
          <a:ln w="12700">
            <a:solidFill>
              <a:srgbClr val="EAD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65592" y="5669280"/>
            <a:ext cx="3236976" cy="219456"/>
          </a:xfrm>
          <a:prstGeom prst="rect">
            <a:avLst/>
          </a:prstGeom>
          <a:noFill/>
        </p:spPr>
        <p:txBody>
          <a:bodyPr wrap="square" lIns="0" tIns="0" rIns="0" bIns="0" anchor="t">
            <a:spAutoFit/>
          </a:bodyPr>
          <a:lstStyle/>
          <a:p>
            <a:pPr algn="l"/>
            <a:r>
              <a:rPr sz="1050" b="1" i="0">
                <a:solidFill>
                  <a:srgbClr val="6B655D"/>
                </a:solidFill>
                <a:latin typeface="Yu Gothic"/>
              </a:rPr>
              <a:t>日本＋Philippines</a:t>
            </a:r>
          </a:p>
        </p:txBody>
      </p:sp>
      <p:sp>
        <p:nvSpPr>
          <p:cNvPr id="33" name="TextBox 32"/>
          <p:cNvSpPr txBox="1"/>
          <p:nvPr/>
        </p:nvSpPr>
        <p:spPr>
          <a:xfrm>
            <a:off x="8165592" y="5888736"/>
            <a:ext cx="3236976" cy="274320"/>
          </a:xfrm>
          <a:prstGeom prst="rect">
            <a:avLst/>
          </a:prstGeom>
          <a:noFill/>
        </p:spPr>
        <p:txBody>
          <a:bodyPr wrap="square" lIns="0" tIns="0" rIns="0" bIns="0" anchor="t">
            <a:spAutoFit/>
          </a:bodyPr>
          <a:lstStyle/>
          <a:p>
            <a:pPr algn="l"/>
            <a:r>
              <a:rPr sz="1300" b="1" i="0">
                <a:solidFill>
                  <a:srgbClr val="A85A1F"/>
                </a:solidFill>
                <a:latin typeface="Yu Gothic"/>
              </a:rPr>
              <a:t>Operational Quality / Risk Reduction</a:t>
            </a:r>
          </a:p>
        </p:txBody>
      </p:sp>
      <p:sp>
        <p:nvSpPr>
          <p:cNvPr id="34" name="TextBox 33"/>
          <p:cNvSpPr txBox="1"/>
          <p:nvPr/>
        </p:nvSpPr>
        <p:spPr>
          <a:xfrm>
            <a:off x="8165592" y="6172200"/>
            <a:ext cx="3236976" cy="256032"/>
          </a:xfrm>
          <a:prstGeom prst="rect">
            <a:avLst/>
          </a:prstGeom>
          <a:noFill/>
        </p:spPr>
        <p:txBody>
          <a:bodyPr wrap="square" lIns="0" tIns="0" rIns="0" bIns="0" anchor="t">
            <a:spAutoFit/>
          </a:bodyPr>
          <a:lstStyle/>
          <a:p>
            <a:pPr algn="l">
              <a:lnSpc>
                <a:spcPct val="115000"/>
              </a:lnSpc>
            </a:pPr>
            <a:r>
              <a:rPr sz="950" b="0" i="0">
                <a:solidFill>
                  <a:srgbClr val="2A2724"/>
                </a:solidFill>
                <a:latin typeface="Yu Gothic"/>
              </a:rPr>
              <a:t>抜け漏れ・手戻り・属人化の低減</a:t>
            </a:r>
          </a:p>
        </p:txBody>
      </p:sp>
      <p:pic>
        <p:nvPicPr>
          <p:cNvPr id="35" name="図 34">
            <a:extLst>
              <a:ext uri="{FF2B5EF4-FFF2-40B4-BE49-F238E27FC236}">
                <a16:creationId xmlns:a16="http://schemas.microsoft.com/office/drawing/2014/main" id="{723AF41A-EC72-A631-AAA3-0A59AD3637A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参考ROI</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14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参考ROIシミュレーション</a:t>
            </a: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現時点の業務想定に基づく参考的な試算です。実績値ではありません。</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536192"/>
            <a:ext cx="5440680" cy="237744"/>
          </a:xfrm>
          <a:prstGeom prst="rect">
            <a:avLst/>
          </a:prstGeom>
          <a:noFill/>
        </p:spPr>
        <p:txBody>
          <a:bodyPr wrap="square" lIns="0" tIns="0" rIns="0" bIns="0" anchor="t">
            <a:spAutoFit/>
          </a:bodyPr>
          <a:lstStyle/>
          <a:p>
            <a:pPr algn="l"/>
            <a:r>
              <a:rPr sz="1250" b="1" i="0">
                <a:solidFill>
                  <a:srgbClr val="2A2724"/>
                </a:solidFill>
                <a:latin typeface="Yu Gothic"/>
              </a:rPr>
              <a:t>日本 — 参考シミュレーション</a:t>
            </a:r>
          </a:p>
        </p:txBody>
      </p:sp>
      <p:sp>
        <p:nvSpPr>
          <p:cNvPr id="8" name="Rounded Rectangle 7"/>
          <p:cNvSpPr/>
          <p:nvPr/>
        </p:nvSpPr>
        <p:spPr>
          <a:xfrm>
            <a:off x="502920" y="1810512"/>
            <a:ext cx="5440680" cy="23317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 y="1810512"/>
            <a:ext cx="4206240" cy="233172"/>
          </a:xfrm>
          <a:prstGeom prst="rect">
            <a:avLst/>
          </a:prstGeom>
          <a:noFill/>
        </p:spPr>
        <p:txBody>
          <a:bodyPr wrap="square" lIns="0" tIns="0" rIns="0" bIns="0" anchor="ctr">
            <a:spAutoFit/>
          </a:bodyPr>
          <a:lstStyle/>
          <a:p>
            <a:pPr algn="l"/>
            <a:r>
              <a:rPr sz="1050" b="0" i="0">
                <a:solidFill>
                  <a:srgbClr val="2A2724"/>
                </a:solidFill>
                <a:latin typeface="Yu Gothic"/>
              </a:rPr>
              <a:t>対象スタッフ</a:t>
            </a:r>
          </a:p>
        </p:txBody>
      </p:sp>
      <p:sp>
        <p:nvSpPr>
          <p:cNvPr id="10" name="TextBox 9"/>
          <p:cNvSpPr txBox="1"/>
          <p:nvPr/>
        </p:nvSpPr>
        <p:spPr>
          <a:xfrm>
            <a:off x="4754880" y="1810512"/>
            <a:ext cx="1060704" cy="233172"/>
          </a:xfrm>
          <a:prstGeom prst="rect">
            <a:avLst/>
          </a:prstGeom>
          <a:noFill/>
        </p:spPr>
        <p:txBody>
          <a:bodyPr wrap="square" lIns="0" tIns="0" rIns="0" bIns="0" anchor="ctr">
            <a:spAutoFit/>
          </a:bodyPr>
          <a:lstStyle/>
          <a:p>
            <a:pPr algn="r"/>
            <a:r>
              <a:rPr sz="1050" b="1" i="0">
                <a:solidFill>
                  <a:srgbClr val="2A2724"/>
                </a:solidFill>
                <a:latin typeface="Yu Gothic"/>
              </a:rPr>
              <a:t>5名</a:t>
            </a:r>
          </a:p>
        </p:txBody>
      </p:sp>
      <p:sp>
        <p:nvSpPr>
          <p:cNvPr id="11" name="Rounded Rectangle 10"/>
          <p:cNvSpPr/>
          <p:nvPr/>
        </p:nvSpPr>
        <p:spPr>
          <a:xfrm>
            <a:off x="502920" y="2043684"/>
            <a:ext cx="5440680" cy="23317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2043684"/>
            <a:ext cx="4206240" cy="233172"/>
          </a:xfrm>
          <a:prstGeom prst="rect">
            <a:avLst/>
          </a:prstGeom>
          <a:noFill/>
        </p:spPr>
        <p:txBody>
          <a:bodyPr wrap="square" lIns="0" tIns="0" rIns="0" bIns="0" anchor="ctr">
            <a:spAutoFit/>
          </a:bodyPr>
          <a:lstStyle/>
          <a:p>
            <a:pPr algn="l"/>
            <a:r>
              <a:rPr sz="1050" b="0" i="0">
                <a:solidFill>
                  <a:srgbClr val="2A2724"/>
                </a:solidFill>
                <a:latin typeface="Yu Gothic"/>
              </a:rPr>
              <a:t>時間外対応（想定）</a:t>
            </a:r>
          </a:p>
        </p:txBody>
      </p:sp>
      <p:sp>
        <p:nvSpPr>
          <p:cNvPr id="13" name="TextBox 12"/>
          <p:cNvSpPr txBox="1"/>
          <p:nvPr/>
        </p:nvSpPr>
        <p:spPr>
          <a:xfrm>
            <a:off x="4754880" y="2043684"/>
            <a:ext cx="1060704" cy="233172"/>
          </a:xfrm>
          <a:prstGeom prst="rect">
            <a:avLst/>
          </a:prstGeom>
          <a:noFill/>
        </p:spPr>
        <p:txBody>
          <a:bodyPr wrap="square" lIns="0" tIns="0" rIns="0" bIns="0" anchor="ctr">
            <a:spAutoFit/>
          </a:bodyPr>
          <a:lstStyle/>
          <a:p>
            <a:pPr algn="r"/>
            <a:r>
              <a:rPr sz="1050" b="1" i="0">
                <a:solidFill>
                  <a:srgbClr val="2A2724"/>
                </a:solidFill>
                <a:latin typeface="Yu Gothic"/>
              </a:rPr>
              <a:t>15時間/月/人</a:t>
            </a:r>
          </a:p>
        </p:txBody>
      </p:sp>
      <p:sp>
        <p:nvSpPr>
          <p:cNvPr id="14" name="Rounded Rectangle 13"/>
          <p:cNvSpPr/>
          <p:nvPr/>
        </p:nvSpPr>
        <p:spPr>
          <a:xfrm>
            <a:off x="502920" y="2276856"/>
            <a:ext cx="5440680" cy="23317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2276856"/>
            <a:ext cx="4206240" cy="233172"/>
          </a:xfrm>
          <a:prstGeom prst="rect">
            <a:avLst/>
          </a:prstGeom>
          <a:noFill/>
        </p:spPr>
        <p:txBody>
          <a:bodyPr wrap="square" lIns="0" tIns="0" rIns="0" bIns="0" anchor="ctr">
            <a:spAutoFit/>
          </a:bodyPr>
          <a:lstStyle/>
          <a:p>
            <a:pPr algn="l"/>
            <a:r>
              <a:rPr sz="1050" b="0" i="0">
                <a:solidFill>
                  <a:srgbClr val="2A2724"/>
                </a:solidFill>
                <a:latin typeface="Yu Gothic"/>
              </a:rPr>
              <a:t>合計</a:t>
            </a:r>
          </a:p>
        </p:txBody>
      </p:sp>
      <p:sp>
        <p:nvSpPr>
          <p:cNvPr id="16" name="TextBox 15"/>
          <p:cNvSpPr txBox="1"/>
          <p:nvPr/>
        </p:nvSpPr>
        <p:spPr>
          <a:xfrm>
            <a:off x="4754880" y="2276856"/>
            <a:ext cx="1060704" cy="233172"/>
          </a:xfrm>
          <a:prstGeom prst="rect">
            <a:avLst/>
          </a:prstGeom>
          <a:noFill/>
        </p:spPr>
        <p:txBody>
          <a:bodyPr wrap="square" lIns="0" tIns="0" rIns="0" bIns="0" anchor="ctr">
            <a:spAutoFit/>
          </a:bodyPr>
          <a:lstStyle/>
          <a:p>
            <a:pPr algn="r"/>
            <a:r>
              <a:rPr sz="1050" b="1" i="0">
                <a:solidFill>
                  <a:srgbClr val="2A2724"/>
                </a:solidFill>
                <a:latin typeface="Yu Gothic"/>
              </a:rPr>
              <a:t>75時間/月</a:t>
            </a:r>
          </a:p>
        </p:txBody>
      </p:sp>
      <p:sp>
        <p:nvSpPr>
          <p:cNvPr id="17" name="Rounded Rectangle 16"/>
          <p:cNvSpPr/>
          <p:nvPr/>
        </p:nvSpPr>
        <p:spPr>
          <a:xfrm>
            <a:off x="502920" y="2510028"/>
            <a:ext cx="5440680" cy="23317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2510028"/>
            <a:ext cx="4206240" cy="233172"/>
          </a:xfrm>
          <a:prstGeom prst="rect">
            <a:avLst/>
          </a:prstGeom>
          <a:noFill/>
        </p:spPr>
        <p:txBody>
          <a:bodyPr wrap="square" lIns="0" tIns="0" rIns="0" bIns="0" anchor="ctr">
            <a:spAutoFit/>
          </a:bodyPr>
          <a:lstStyle/>
          <a:p>
            <a:pPr algn="l"/>
            <a:r>
              <a:rPr sz="1050" b="0" i="0">
                <a:solidFill>
                  <a:srgbClr val="2A2724"/>
                </a:solidFill>
                <a:latin typeface="Yu Gothic"/>
              </a:rPr>
              <a:t>G-OPSによる削減想定</a:t>
            </a:r>
          </a:p>
        </p:txBody>
      </p:sp>
      <p:sp>
        <p:nvSpPr>
          <p:cNvPr id="19" name="TextBox 18"/>
          <p:cNvSpPr txBox="1"/>
          <p:nvPr/>
        </p:nvSpPr>
        <p:spPr>
          <a:xfrm>
            <a:off x="4754880" y="2510028"/>
            <a:ext cx="1060704" cy="233172"/>
          </a:xfrm>
          <a:prstGeom prst="rect">
            <a:avLst/>
          </a:prstGeom>
          <a:noFill/>
        </p:spPr>
        <p:txBody>
          <a:bodyPr wrap="square" lIns="0" tIns="0" rIns="0" bIns="0" anchor="ctr">
            <a:spAutoFit/>
          </a:bodyPr>
          <a:lstStyle/>
          <a:p>
            <a:pPr algn="r"/>
            <a:r>
              <a:rPr sz="1050" b="1" i="0">
                <a:solidFill>
                  <a:srgbClr val="2A2724"/>
                </a:solidFill>
                <a:latin typeface="Yu Gothic"/>
              </a:rPr>
              <a:t>60%</a:t>
            </a:r>
          </a:p>
        </p:txBody>
      </p:sp>
      <p:sp>
        <p:nvSpPr>
          <p:cNvPr id="20" name="Rounded Rectangle 19"/>
          <p:cNvSpPr/>
          <p:nvPr/>
        </p:nvSpPr>
        <p:spPr>
          <a:xfrm>
            <a:off x="502920" y="2743200"/>
            <a:ext cx="5440680" cy="23317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 y="2743200"/>
            <a:ext cx="4206240" cy="233172"/>
          </a:xfrm>
          <a:prstGeom prst="rect">
            <a:avLst/>
          </a:prstGeom>
          <a:noFill/>
        </p:spPr>
        <p:txBody>
          <a:bodyPr wrap="square" lIns="0" tIns="0" rIns="0" bIns="0" anchor="ctr">
            <a:spAutoFit/>
          </a:bodyPr>
          <a:lstStyle/>
          <a:p>
            <a:pPr algn="l"/>
            <a:r>
              <a:rPr sz="1050" b="0" i="0">
                <a:solidFill>
                  <a:srgbClr val="2A2724"/>
                </a:solidFill>
                <a:latin typeface="Yu Gothic"/>
              </a:rPr>
              <a:t>削減時間</a:t>
            </a:r>
          </a:p>
        </p:txBody>
      </p:sp>
      <p:sp>
        <p:nvSpPr>
          <p:cNvPr id="22" name="TextBox 21"/>
          <p:cNvSpPr txBox="1"/>
          <p:nvPr/>
        </p:nvSpPr>
        <p:spPr>
          <a:xfrm>
            <a:off x="4754880" y="2743200"/>
            <a:ext cx="1060704" cy="233172"/>
          </a:xfrm>
          <a:prstGeom prst="rect">
            <a:avLst/>
          </a:prstGeom>
          <a:noFill/>
        </p:spPr>
        <p:txBody>
          <a:bodyPr wrap="square" lIns="0" tIns="0" rIns="0" bIns="0" anchor="ctr">
            <a:spAutoFit/>
          </a:bodyPr>
          <a:lstStyle/>
          <a:p>
            <a:pPr algn="r"/>
            <a:r>
              <a:rPr sz="1050" b="1" i="0">
                <a:solidFill>
                  <a:srgbClr val="2A2724"/>
                </a:solidFill>
                <a:latin typeface="Yu Gothic"/>
              </a:rPr>
              <a:t>45時間/月</a:t>
            </a:r>
          </a:p>
        </p:txBody>
      </p:sp>
      <p:sp>
        <p:nvSpPr>
          <p:cNvPr id="23" name="Rounded Rectangle 22"/>
          <p:cNvSpPr/>
          <p:nvPr/>
        </p:nvSpPr>
        <p:spPr>
          <a:xfrm>
            <a:off x="502920" y="2976372"/>
            <a:ext cx="5440680" cy="23317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0936" y="2976372"/>
            <a:ext cx="4206240" cy="233172"/>
          </a:xfrm>
          <a:prstGeom prst="rect">
            <a:avLst/>
          </a:prstGeom>
          <a:noFill/>
        </p:spPr>
        <p:txBody>
          <a:bodyPr wrap="square" lIns="0" tIns="0" rIns="0" bIns="0" anchor="ctr">
            <a:spAutoFit/>
          </a:bodyPr>
          <a:lstStyle/>
          <a:p>
            <a:pPr algn="l"/>
            <a:r>
              <a:rPr sz="1050" b="0" i="0">
                <a:solidFill>
                  <a:srgbClr val="2A2724"/>
                </a:solidFill>
                <a:latin typeface="Yu Gothic"/>
              </a:rPr>
              <a:t>年間</a:t>
            </a:r>
          </a:p>
        </p:txBody>
      </p:sp>
      <p:sp>
        <p:nvSpPr>
          <p:cNvPr id="25" name="TextBox 24"/>
          <p:cNvSpPr txBox="1"/>
          <p:nvPr/>
        </p:nvSpPr>
        <p:spPr>
          <a:xfrm>
            <a:off x="4754880" y="2976372"/>
            <a:ext cx="1060704" cy="233172"/>
          </a:xfrm>
          <a:prstGeom prst="rect">
            <a:avLst/>
          </a:prstGeom>
          <a:noFill/>
        </p:spPr>
        <p:txBody>
          <a:bodyPr wrap="square" lIns="0" tIns="0" rIns="0" bIns="0" anchor="ctr">
            <a:spAutoFit/>
          </a:bodyPr>
          <a:lstStyle/>
          <a:p>
            <a:pPr algn="r"/>
            <a:r>
              <a:rPr sz="1050" b="1" i="0">
                <a:solidFill>
                  <a:srgbClr val="2A2724"/>
                </a:solidFill>
                <a:latin typeface="Yu Gothic"/>
              </a:rPr>
              <a:t>540時間/年</a:t>
            </a:r>
          </a:p>
        </p:txBody>
      </p:sp>
      <p:sp>
        <p:nvSpPr>
          <p:cNvPr id="26" name="Rounded Rectangle 25"/>
          <p:cNvSpPr/>
          <p:nvPr/>
        </p:nvSpPr>
        <p:spPr>
          <a:xfrm>
            <a:off x="502920" y="3209544"/>
            <a:ext cx="5440680" cy="23317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0936" y="3209544"/>
            <a:ext cx="4206240" cy="233172"/>
          </a:xfrm>
          <a:prstGeom prst="rect">
            <a:avLst/>
          </a:prstGeom>
          <a:noFill/>
        </p:spPr>
        <p:txBody>
          <a:bodyPr wrap="square" lIns="0" tIns="0" rIns="0" bIns="0" anchor="ctr">
            <a:spAutoFit/>
          </a:bodyPr>
          <a:lstStyle/>
          <a:p>
            <a:pPr algn="l"/>
            <a:r>
              <a:rPr sz="1050" b="0" i="0">
                <a:solidFill>
                  <a:srgbClr val="2A2724"/>
                </a:solidFill>
                <a:latin typeface="Yu Gothic"/>
              </a:rPr>
              <a:t>参考時間外人件費（仮定値）</a:t>
            </a:r>
          </a:p>
        </p:txBody>
      </p:sp>
      <p:sp>
        <p:nvSpPr>
          <p:cNvPr id="28" name="TextBox 27"/>
          <p:cNvSpPr txBox="1"/>
          <p:nvPr/>
        </p:nvSpPr>
        <p:spPr>
          <a:xfrm>
            <a:off x="4754880" y="3209544"/>
            <a:ext cx="1060704" cy="233172"/>
          </a:xfrm>
          <a:prstGeom prst="rect">
            <a:avLst/>
          </a:prstGeom>
          <a:noFill/>
        </p:spPr>
        <p:txBody>
          <a:bodyPr wrap="square" lIns="0" tIns="0" rIns="0" bIns="0" anchor="ctr">
            <a:spAutoFit/>
          </a:bodyPr>
          <a:lstStyle/>
          <a:p>
            <a:pPr algn="r"/>
            <a:r>
              <a:rPr sz="1050" b="1" i="0">
                <a:solidFill>
                  <a:srgbClr val="2A2724"/>
                </a:solidFill>
                <a:latin typeface="Yu Gothic"/>
              </a:rPr>
              <a:t>4,000円/時間</a:t>
            </a:r>
          </a:p>
        </p:txBody>
      </p:sp>
      <p:sp>
        <p:nvSpPr>
          <p:cNvPr id="29" name="Rounded Rectangle 28"/>
          <p:cNvSpPr/>
          <p:nvPr/>
        </p:nvSpPr>
        <p:spPr>
          <a:xfrm>
            <a:off x="502920" y="3479292"/>
            <a:ext cx="5440680" cy="233172"/>
          </a:xfrm>
          <a:prstGeom prst="roundRect">
            <a:avLst>
              <a:gd name="adj" fmla="val 0"/>
            </a:avLst>
          </a:prstGeom>
          <a:solidFill>
            <a:srgbClr val="FC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0936" y="3479292"/>
            <a:ext cx="4206240" cy="233172"/>
          </a:xfrm>
          <a:prstGeom prst="rect">
            <a:avLst/>
          </a:prstGeom>
          <a:noFill/>
        </p:spPr>
        <p:txBody>
          <a:bodyPr wrap="square" lIns="0" tIns="0" rIns="0" bIns="0" anchor="ctr">
            <a:spAutoFit/>
          </a:bodyPr>
          <a:lstStyle/>
          <a:p>
            <a:pPr algn="l"/>
            <a:r>
              <a:rPr sz="1050" b="1" i="0">
                <a:solidFill>
                  <a:srgbClr val="2A2724"/>
                </a:solidFill>
                <a:latin typeface="Yu Gothic"/>
              </a:rPr>
              <a:t>参考効果（Cost Saving参考値）</a:t>
            </a:r>
          </a:p>
        </p:txBody>
      </p:sp>
      <p:sp>
        <p:nvSpPr>
          <p:cNvPr id="31" name="TextBox 30"/>
          <p:cNvSpPr txBox="1"/>
          <p:nvPr/>
        </p:nvSpPr>
        <p:spPr>
          <a:xfrm>
            <a:off x="4754880" y="3479292"/>
            <a:ext cx="1060704" cy="233172"/>
          </a:xfrm>
          <a:prstGeom prst="rect">
            <a:avLst/>
          </a:prstGeom>
          <a:noFill/>
        </p:spPr>
        <p:txBody>
          <a:bodyPr wrap="square" lIns="0" tIns="0" rIns="0" bIns="0" anchor="ctr">
            <a:spAutoFit/>
          </a:bodyPr>
          <a:lstStyle/>
          <a:p>
            <a:pPr algn="r"/>
            <a:r>
              <a:rPr sz="1050" b="1" i="0">
                <a:solidFill>
                  <a:srgbClr val="2A2724"/>
                </a:solidFill>
                <a:latin typeface="Yu Gothic"/>
              </a:rPr>
              <a:t>約216万円/年</a:t>
            </a:r>
          </a:p>
        </p:txBody>
      </p:sp>
      <p:sp>
        <p:nvSpPr>
          <p:cNvPr id="32" name="TextBox 31"/>
          <p:cNvSpPr txBox="1"/>
          <p:nvPr/>
        </p:nvSpPr>
        <p:spPr>
          <a:xfrm>
            <a:off x="6245352" y="1536192"/>
            <a:ext cx="5440680" cy="237744"/>
          </a:xfrm>
          <a:prstGeom prst="rect">
            <a:avLst/>
          </a:prstGeom>
          <a:noFill/>
        </p:spPr>
        <p:txBody>
          <a:bodyPr wrap="square" lIns="0" tIns="0" rIns="0" bIns="0" anchor="t">
            <a:spAutoFit/>
          </a:bodyPr>
          <a:lstStyle/>
          <a:p>
            <a:pPr algn="l"/>
            <a:r>
              <a:rPr sz="1250" b="1" i="0">
                <a:solidFill>
                  <a:srgbClr val="2A2724"/>
                </a:solidFill>
                <a:latin typeface="Yu Gothic"/>
              </a:rPr>
              <a:t>Philippines — 参考シミュレーション</a:t>
            </a:r>
          </a:p>
        </p:txBody>
      </p:sp>
      <p:sp>
        <p:nvSpPr>
          <p:cNvPr id="33" name="Rounded Rectangle 32"/>
          <p:cNvSpPr/>
          <p:nvPr/>
        </p:nvSpPr>
        <p:spPr>
          <a:xfrm>
            <a:off x="6245352" y="1810512"/>
            <a:ext cx="5440680" cy="23317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73368" y="1810512"/>
            <a:ext cx="4206240" cy="233172"/>
          </a:xfrm>
          <a:prstGeom prst="rect">
            <a:avLst/>
          </a:prstGeom>
          <a:noFill/>
        </p:spPr>
        <p:txBody>
          <a:bodyPr wrap="square" lIns="0" tIns="0" rIns="0" bIns="0" anchor="ctr">
            <a:spAutoFit/>
          </a:bodyPr>
          <a:lstStyle/>
          <a:p>
            <a:pPr algn="l"/>
            <a:r>
              <a:rPr sz="1050" b="0" i="0">
                <a:solidFill>
                  <a:srgbClr val="2A2724"/>
                </a:solidFill>
                <a:latin typeface="Yu Gothic"/>
              </a:rPr>
              <a:t>対象スタッフ</a:t>
            </a:r>
          </a:p>
        </p:txBody>
      </p:sp>
      <p:sp>
        <p:nvSpPr>
          <p:cNvPr id="35" name="TextBox 34"/>
          <p:cNvSpPr txBox="1"/>
          <p:nvPr/>
        </p:nvSpPr>
        <p:spPr>
          <a:xfrm>
            <a:off x="10497312" y="1810512"/>
            <a:ext cx="1060704" cy="233172"/>
          </a:xfrm>
          <a:prstGeom prst="rect">
            <a:avLst/>
          </a:prstGeom>
          <a:noFill/>
        </p:spPr>
        <p:txBody>
          <a:bodyPr wrap="square" lIns="0" tIns="0" rIns="0" bIns="0" anchor="ctr">
            <a:spAutoFit/>
          </a:bodyPr>
          <a:lstStyle/>
          <a:p>
            <a:pPr algn="r"/>
            <a:r>
              <a:rPr sz="1050" b="1" i="0">
                <a:solidFill>
                  <a:srgbClr val="2A2724"/>
                </a:solidFill>
                <a:latin typeface="Yu Gothic"/>
              </a:rPr>
              <a:t>10名</a:t>
            </a:r>
          </a:p>
        </p:txBody>
      </p:sp>
      <p:sp>
        <p:nvSpPr>
          <p:cNvPr id="36" name="Rounded Rectangle 35"/>
          <p:cNvSpPr/>
          <p:nvPr/>
        </p:nvSpPr>
        <p:spPr>
          <a:xfrm>
            <a:off x="6245352" y="2043684"/>
            <a:ext cx="5440680" cy="23317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73368" y="2043684"/>
            <a:ext cx="4206240" cy="233172"/>
          </a:xfrm>
          <a:prstGeom prst="rect">
            <a:avLst/>
          </a:prstGeom>
          <a:noFill/>
        </p:spPr>
        <p:txBody>
          <a:bodyPr wrap="square" lIns="0" tIns="0" rIns="0" bIns="0" anchor="ctr">
            <a:spAutoFit/>
          </a:bodyPr>
          <a:lstStyle/>
          <a:p>
            <a:pPr algn="l"/>
            <a:r>
              <a:rPr sz="1050" b="0" i="0">
                <a:solidFill>
                  <a:srgbClr val="2A2724"/>
                </a:solidFill>
                <a:latin typeface="Yu Gothic"/>
              </a:rPr>
              <a:t>1人あたり稼働</a:t>
            </a:r>
          </a:p>
        </p:txBody>
      </p:sp>
      <p:sp>
        <p:nvSpPr>
          <p:cNvPr id="38" name="TextBox 37"/>
          <p:cNvSpPr txBox="1"/>
          <p:nvPr/>
        </p:nvSpPr>
        <p:spPr>
          <a:xfrm>
            <a:off x="10497312" y="2043684"/>
            <a:ext cx="1060704" cy="233172"/>
          </a:xfrm>
          <a:prstGeom prst="rect">
            <a:avLst/>
          </a:prstGeom>
          <a:noFill/>
        </p:spPr>
        <p:txBody>
          <a:bodyPr wrap="square" lIns="0" tIns="0" rIns="0" bIns="0" anchor="ctr">
            <a:spAutoFit/>
          </a:bodyPr>
          <a:lstStyle/>
          <a:p>
            <a:pPr algn="r"/>
            <a:r>
              <a:rPr sz="1050" b="1" i="0">
                <a:solidFill>
                  <a:srgbClr val="2A2724"/>
                </a:solidFill>
                <a:latin typeface="Yu Gothic"/>
              </a:rPr>
              <a:t>160時間/月</a:t>
            </a:r>
          </a:p>
        </p:txBody>
      </p:sp>
      <p:sp>
        <p:nvSpPr>
          <p:cNvPr id="39" name="Rounded Rectangle 38"/>
          <p:cNvSpPr/>
          <p:nvPr/>
        </p:nvSpPr>
        <p:spPr>
          <a:xfrm>
            <a:off x="6245352" y="2276856"/>
            <a:ext cx="5440680" cy="23317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73368" y="2276856"/>
            <a:ext cx="4206240" cy="233172"/>
          </a:xfrm>
          <a:prstGeom prst="rect">
            <a:avLst/>
          </a:prstGeom>
          <a:noFill/>
        </p:spPr>
        <p:txBody>
          <a:bodyPr wrap="square" lIns="0" tIns="0" rIns="0" bIns="0" anchor="ctr">
            <a:spAutoFit/>
          </a:bodyPr>
          <a:lstStyle/>
          <a:p>
            <a:pPr algn="l"/>
            <a:r>
              <a:rPr sz="1050" b="0" i="0">
                <a:solidFill>
                  <a:srgbClr val="2A2724"/>
                </a:solidFill>
                <a:latin typeface="Yu Gothic"/>
              </a:rPr>
              <a:t>総稼働</a:t>
            </a:r>
          </a:p>
        </p:txBody>
      </p:sp>
      <p:sp>
        <p:nvSpPr>
          <p:cNvPr id="41" name="TextBox 40"/>
          <p:cNvSpPr txBox="1"/>
          <p:nvPr/>
        </p:nvSpPr>
        <p:spPr>
          <a:xfrm>
            <a:off x="10497312" y="2276856"/>
            <a:ext cx="1060704" cy="233172"/>
          </a:xfrm>
          <a:prstGeom prst="rect">
            <a:avLst/>
          </a:prstGeom>
          <a:noFill/>
        </p:spPr>
        <p:txBody>
          <a:bodyPr wrap="square" lIns="0" tIns="0" rIns="0" bIns="0" anchor="ctr">
            <a:spAutoFit/>
          </a:bodyPr>
          <a:lstStyle/>
          <a:p>
            <a:pPr algn="r"/>
            <a:r>
              <a:rPr sz="1050" b="1" i="0">
                <a:solidFill>
                  <a:srgbClr val="2A2724"/>
                </a:solidFill>
                <a:latin typeface="Yu Gothic"/>
              </a:rPr>
              <a:t>1,600時間/月</a:t>
            </a:r>
          </a:p>
        </p:txBody>
      </p:sp>
      <p:sp>
        <p:nvSpPr>
          <p:cNvPr id="42" name="Rounded Rectangle 41"/>
          <p:cNvSpPr/>
          <p:nvPr/>
        </p:nvSpPr>
        <p:spPr>
          <a:xfrm>
            <a:off x="6245352" y="2510028"/>
            <a:ext cx="5440680" cy="23317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73368" y="2510028"/>
            <a:ext cx="4206240" cy="233172"/>
          </a:xfrm>
          <a:prstGeom prst="rect">
            <a:avLst/>
          </a:prstGeom>
          <a:noFill/>
        </p:spPr>
        <p:txBody>
          <a:bodyPr wrap="square" lIns="0" tIns="0" rIns="0" bIns="0" anchor="ctr">
            <a:spAutoFit/>
          </a:bodyPr>
          <a:lstStyle/>
          <a:p>
            <a:pPr algn="l"/>
            <a:r>
              <a:rPr sz="1050" b="0" i="0">
                <a:solidFill>
                  <a:srgbClr val="2A2724"/>
                </a:solidFill>
                <a:latin typeface="Yu Gothic"/>
              </a:rPr>
              <a:t>発注関連業務（想定50%）</a:t>
            </a:r>
          </a:p>
        </p:txBody>
      </p:sp>
      <p:sp>
        <p:nvSpPr>
          <p:cNvPr id="44" name="TextBox 43"/>
          <p:cNvSpPr txBox="1"/>
          <p:nvPr/>
        </p:nvSpPr>
        <p:spPr>
          <a:xfrm>
            <a:off x="10497312" y="2510028"/>
            <a:ext cx="1060704" cy="233172"/>
          </a:xfrm>
          <a:prstGeom prst="rect">
            <a:avLst/>
          </a:prstGeom>
          <a:noFill/>
        </p:spPr>
        <p:txBody>
          <a:bodyPr wrap="square" lIns="0" tIns="0" rIns="0" bIns="0" anchor="ctr">
            <a:spAutoFit/>
          </a:bodyPr>
          <a:lstStyle/>
          <a:p>
            <a:pPr algn="r"/>
            <a:r>
              <a:rPr sz="1050" b="1" i="0">
                <a:solidFill>
                  <a:srgbClr val="2A2724"/>
                </a:solidFill>
                <a:latin typeface="Yu Gothic"/>
              </a:rPr>
              <a:t>800時間/月</a:t>
            </a:r>
          </a:p>
        </p:txBody>
      </p:sp>
      <p:sp>
        <p:nvSpPr>
          <p:cNvPr id="45" name="Rounded Rectangle 44"/>
          <p:cNvSpPr/>
          <p:nvPr/>
        </p:nvSpPr>
        <p:spPr>
          <a:xfrm>
            <a:off x="6245352" y="2743200"/>
            <a:ext cx="5440680" cy="23317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73368" y="2743200"/>
            <a:ext cx="4206240" cy="233172"/>
          </a:xfrm>
          <a:prstGeom prst="rect">
            <a:avLst/>
          </a:prstGeom>
          <a:noFill/>
        </p:spPr>
        <p:txBody>
          <a:bodyPr wrap="square" lIns="0" tIns="0" rIns="0" bIns="0" anchor="ctr">
            <a:spAutoFit/>
          </a:bodyPr>
          <a:lstStyle/>
          <a:p>
            <a:pPr algn="l"/>
            <a:r>
              <a:rPr sz="1050" b="0" i="0">
                <a:solidFill>
                  <a:srgbClr val="2A2724"/>
                </a:solidFill>
                <a:latin typeface="Yu Gothic"/>
              </a:rPr>
              <a:t>うち非効率業務（想定25%）</a:t>
            </a:r>
          </a:p>
        </p:txBody>
      </p:sp>
      <p:sp>
        <p:nvSpPr>
          <p:cNvPr id="47" name="TextBox 46"/>
          <p:cNvSpPr txBox="1"/>
          <p:nvPr/>
        </p:nvSpPr>
        <p:spPr>
          <a:xfrm>
            <a:off x="10497312" y="2743200"/>
            <a:ext cx="1060704" cy="233172"/>
          </a:xfrm>
          <a:prstGeom prst="rect">
            <a:avLst/>
          </a:prstGeom>
          <a:noFill/>
        </p:spPr>
        <p:txBody>
          <a:bodyPr wrap="square" lIns="0" tIns="0" rIns="0" bIns="0" anchor="ctr">
            <a:spAutoFit/>
          </a:bodyPr>
          <a:lstStyle/>
          <a:p>
            <a:pPr algn="r"/>
            <a:r>
              <a:rPr sz="1050" b="1" i="0">
                <a:solidFill>
                  <a:srgbClr val="2A2724"/>
                </a:solidFill>
                <a:latin typeface="Yu Gothic"/>
              </a:rPr>
              <a:t>200時間/月</a:t>
            </a:r>
          </a:p>
        </p:txBody>
      </p:sp>
      <p:sp>
        <p:nvSpPr>
          <p:cNvPr id="48" name="Rounded Rectangle 47"/>
          <p:cNvSpPr/>
          <p:nvPr/>
        </p:nvSpPr>
        <p:spPr>
          <a:xfrm>
            <a:off x="6245352" y="2976372"/>
            <a:ext cx="5440680" cy="23317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73368" y="2976372"/>
            <a:ext cx="4206240" cy="233172"/>
          </a:xfrm>
          <a:prstGeom prst="rect">
            <a:avLst/>
          </a:prstGeom>
          <a:noFill/>
        </p:spPr>
        <p:txBody>
          <a:bodyPr wrap="square" lIns="0" tIns="0" rIns="0" bIns="0" anchor="ctr">
            <a:spAutoFit/>
          </a:bodyPr>
          <a:lstStyle/>
          <a:p>
            <a:pPr algn="l"/>
            <a:r>
              <a:rPr sz="1050" b="0" i="0">
                <a:solidFill>
                  <a:srgbClr val="2A2724"/>
                </a:solidFill>
                <a:latin typeface="Yu Gothic"/>
              </a:rPr>
              <a:t>G-OPSによる効率化想定</a:t>
            </a:r>
          </a:p>
        </p:txBody>
      </p:sp>
      <p:sp>
        <p:nvSpPr>
          <p:cNvPr id="50" name="TextBox 49"/>
          <p:cNvSpPr txBox="1"/>
          <p:nvPr/>
        </p:nvSpPr>
        <p:spPr>
          <a:xfrm>
            <a:off x="10497312" y="2976372"/>
            <a:ext cx="1060704" cy="233172"/>
          </a:xfrm>
          <a:prstGeom prst="rect">
            <a:avLst/>
          </a:prstGeom>
          <a:noFill/>
        </p:spPr>
        <p:txBody>
          <a:bodyPr wrap="square" lIns="0" tIns="0" rIns="0" bIns="0" anchor="ctr">
            <a:spAutoFit/>
          </a:bodyPr>
          <a:lstStyle/>
          <a:p>
            <a:pPr algn="r"/>
            <a:r>
              <a:rPr sz="1050" b="1" i="0">
                <a:solidFill>
                  <a:srgbClr val="2A2724"/>
                </a:solidFill>
                <a:latin typeface="Yu Gothic"/>
              </a:rPr>
              <a:t>60%</a:t>
            </a:r>
          </a:p>
        </p:txBody>
      </p:sp>
      <p:sp>
        <p:nvSpPr>
          <p:cNvPr id="51" name="Rounded Rectangle 50"/>
          <p:cNvSpPr/>
          <p:nvPr/>
        </p:nvSpPr>
        <p:spPr>
          <a:xfrm>
            <a:off x="6245352" y="3209544"/>
            <a:ext cx="5440680" cy="23317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373368" y="3209544"/>
            <a:ext cx="4206240" cy="233172"/>
          </a:xfrm>
          <a:prstGeom prst="rect">
            <a:avLst/>
          </a:prstGeom>
          <a:noFill/>
        </p:spPr>
        <p:txBody>
          <a:bodyPr wrap="square" lIns="0" tIns="0" rIns="0" bIns="0" anchor="ctr">
            <a:spAutoFit/>
          </a:bodyPr>
          <a:lstStyle/>
          <a:p>
            <a:pPr algn="l"/>
            <a:r>
              <a:rPr sz="1050" b="0" i="0">
                <a:solidFill>
                  <a:srgbClr val="2A2724"/>
                </a:solidFill>
                <a:latin typeface="Yu Gothic"/>
              </a:rPr>
              <a:t>効率化時間</a:t>
            </a:r>
          </a:p>
        </p:txBody>
      </p:sp>
      <p:sp>
        <p:nvSpPr>
          <p:cNvPr id="53" name="TextBox 52"/>
          <p:cNvSpPr txBox="1"/>
          <p:nvPr/>
        </p:nvSpPr>
        <p:spPr>
          <a:xfrm>
            <a:off x="10497312" y="3209544"/>
            <a:ext cx="1060704" cy="233172"/>
          </a:xfrm>
          <a:prstGeom prst="rect">
            <a:avLst/>
          </a:prstGeom>
          <a:noFill/>
        </p:spPr>
        <p:txBody>
          <a:bodyPr wrap="square" lIns="0" tIns="0" rIns="0" bIns="0" anchor="ctr">
            <a:spAutoFit/>
          </a:bodyPr>
          <a:lstStyle/>
          <a:p>
            <a:pPr algn="r"/>
            <a:r>
              <a:rPr sz="1050" b="1" i="0">
                <a:solidFill>
                  <a:srgbClr val="2A2724"/>
                </a:solidFill>
                <a:latin typeface="Yu Gothic"/>
              </a:rPr>
              <a:t>120時間/月</a:t>
            </a:r>
          </a:p>
        </p:txBody>
      </p:sp>
      <p:sp>
        <p:nvSpPr>
          <p:cNvPr id="54" name="Rounded Rectangle 53"/>
          <p:cNvSpPr/>
          <p:nvPr/>
        </p:nvSpPr>
        <p:spPr>
          <a:xfrm>
            <a:off x="6245352" y="3479292"/>
            <a:ext cx="5440680" cy="233172"/>
          </a:xfrm>
          <a:prstGeom prst="roundRect">
            <a:avLst>
              <a:gd name="adj" fmla="val 0"/>
            </a:avLst>
          </a:prstGeom>
          <a:solidFill>
            <a:srgbClr val="FB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73368" y="3479292"/>
            <a:ext cx="4206240" cy="233172"/>
          </a:xfrm>
          <a:prstGeom prst="rect">
            <a:avLst/>
          </a:prstGeom>
          <a:noFill/>
        </p:spPr>
        <p:txBody>
          <a:bodyPr wrap="square" lIns="0" tIns="0" rIns="0" bIns="0" anchor="ctr">
            <a:spAutoFit/>
          </a:bodyPr>
          <a:lstStyle/>
          <a:p>
            <a:pPr algn="l"/>
            <a:r>
              <a:rPr sz="1050" b="1" i="0">
                <a:solidFill>
                  <a:srgbClr val="2A2724"/>
                </a:solidFill>
                <a:latin typeface="Yu Gothic"/>
              </a:rPr>
              <a:t>年間 ＝ 約9人月/年相当</a:t>
            </a:r>
          </a:p>
        </p:txBody>
      </p:sp>
      <p:sp>
        <p:nvSpPr>
          <p:cNvPr id="56" name="TextBox 55"/>
          <p:cNvSpPr txBox="1"/>
          <p:nvPr/>
        </p:nvSpPr>
        <p:spPr>
          <a:xfrm>
            <a:off x="10497312" y="3479292"/>
            <a:ext cx="1060704" cy="233172"/>
          </a:xfrm>
          <a:prstGeom prst="rect">
            <a:avLst/>
          </a:prstGeom>
          <a:noFill/>
        </p:spPr>
        <p:txBody>
          <a:bodyPr wrap="square" lIns="0" tIns="0" rIns="0" bIns="0" anchor="ctr">
            <a:spAutoFit/>
          </a:bodyPr>
          <a:lstStyle/>
          <a:p>
            <a:pPr algn="r"/>
            <a:r>
              <a:rPr sz="1050" b="1" i="0">
                <a:solidFill>
                  <a:srgbClr val="2A2724"/>
                </a:solidFill>
                <a:latin typeface="Yu Gothic"/>
              </a:rPr>
              <a:t>1,440時間/年</a:t>
            </a:r>
          </a:p>
        </p:txBody>
      </p:sp>
      <p:sp>
        <p:nvSpPr>
          <p:cNvPr id="57" name="TextBox 56"/>
          <p:cNvSpPr txBox="1"/>
          <p:nvPr/>
        </p:nvSpPr>
        <p:spPr>
          <a:xfrm>
            <a:off x="6245352" y="3767328"/>
            <a:ext cx="5440680" cy="365760"/>
          </a:xfrm>
          <a:prstGeom prst="rect">
            <a:avLst/>
          </a:prstGeom>
          <a:noFill/>
        </p:spPr>
        <p:txBody>
          <a:bodyPr wrap="square" lIns="0" tIns="0" rIns="0" bIns="0" anchor="t">
            <a:spAutoFit/>
          </a:bodyPr>
          <a:lstStyle/>
          <a:p>
            <a:pPr algn="l">
              <a:lnSpc>
                <a:spcPct val="120000"/>
              </a:lnSpc>
            </a:pPr>
            <a:r>
              <a:rPr sz="950" b="0" i="0">
                <a:solidFill>
                  <a:srgbClr val="6B655D"/>
                </a:solidFill>
                <a:latin typeface="Yu Gothic"/>
              </a:rPr>
              <a:t>※ 人員削減ではなく、同じ人数でより多くの業務を処理できるCapacity創出です。</a:t>
            </a:r>
          </a:p>
        </p:txBody>
      </p:sp>
      <p:sp>
        <p:nvSpPr>
          <p:cNvPr id="58" name="Rounded Rectangle 57"/>
          <p:cNvSpPr/>
          <p:nvPr/>
        </p:nvSpPr>
        <p:spPr>
          <a:xfrm>
            <a:off x="502920" y="4709160"/>
            <a:ext cx="11183112" cy="777240"/>
          </a:xfrm>
          <a:prstGeom prst="roundRect">
            <a:avLst>
              <a:gd name="adj" fmla="val 6000"/>
            </a:avLst>
          </a:prstGeom>
          <a:solidFill>
            <a:srgbClr val="FCEAD8"/>
          </a:solidFill>
          <a:ln w="1905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77240" y="4782312"/>
            <a:ext cx="10634472" cy="320040"/>
          </a:xfrm>
          <a:prstGeom prst="rect">
            <a:avLst/>
          </a:prstGeom>
          <a:noFill/>
        </p:spPr>
        <p:txBody>
          <a:bodyPr wrap="square" lIns="0" tIns="0" rIns="0" bIns="0" anchor="t">
            <a:spAutoFit/>
          </a:bodyPr>
          <a:lstStyle/>
          <a:p>
            <a:pPr algn="l"/>
            <a:r>
              <a:rPr sz="1200" b="1" i="0">
                <a:solidFill>
                  <a:srgbClr val="2A2724"/>
                </a:solidFill>
                <a:latin typeface="Yu Gothic"/>
              </a:rPr>
              <a:t>日本 約540時間/年 ＋ Philippines 約1,440時間/年（Capacity創出） ＝</a:t>
            </a:r>
          </a:p>
        </p:txBody>
      </p:sp>
      <p:sp>
        <p:nvSpPr>
          <p:cNvPr id="60" name="TextBox 59"/>
          <p:cNvSpPr txBox="1"/>
          <p:nvPr/>
        </p:nvSpPr>
        <p:spPr>
          <a:xfrm>
            <a:off x="777240" y="5074920"/>
            <a:ext cx="10634472" cy="384048"/>
          </a:xfrm>
          <a:prstGeom prst="rect">
            <a:avLst/>
          </a:prstGeom>
          <a:noFill/>
        </p:spPr>
        <p:txBody>
          <a:bodyPr wrap="square" lIns="0" tIns="0" rIns="0" bIns="0" anchor="t">
            <a:spAutoFit/>
          </a:bodyPr>
          <a:lstStyle/>
          <a:p>
            <a:pPr algn="l"/>
            <a:r>
              <a:rPr sz="2000" b="1" i="0">
                <a:solidFill>
                  <a:srgbClr val="A85A1F"/>
                </a:solidFill>
                <a:latin typeface="Yu Gothic"/>
              </a:rPr>
              <a:t>約1,980時間/年　の業務時間削減・Capacity創出（参考値）</a:t>
            </a:r>
          </a:p>
        </p:txBody>
      </p:sp>
      <p:sp>
        <p:nvSpPr>
          <p:cNvPr id="61" name="TextBox 60"/>
          <p:cNvSpPr txBox="1"/>
          <p:nvPr/>
        </p:nvSpPr>
        <p:spPr>
          <a:xfrm>
            <a:off x="502920" y="5605272"/>
            <a:ext cx="11183112" cy="189475"/>
          </a:xfrm>
          <a:prstGeom prst="rect">
            <a:avLst/>
          </a:prstGeom>
          <a:noFill/>
        </p:spPr>
        <p:txBody>
          <a:bodyPr wrap="square" lIns="0" tIns="0" rIns="0" bIns="0" anchor="t">
            <a:spAutoFit/>
          </a:bodyPr>
          <a:lstStyle/>
          <a:p>
            <a:pPr algn="l">
              <a:lnSpc>
                <a:spcPct val="125000"/>
              </a:lnSpc>
            </a:pPr>
            <a:r>
              <a:rPr lang="ja-JP" altLang="en-US" sz="1050" dirty="0">
                <a:solidFill>
                  <a:srgbClr val="6B655D"/>
                </a:solidFill>
                <a:latin typeface="游ゴシック" panose="020B0400000000000000" pitchFamily="50" charset="-128"/>
                <a:ea typeface="游ゴシック" panose="020B0400000000000000" pitchFamily="50" charset="-128"/>
              </a:rPr>
              <a:t>弊社</a:t>
            </a:r>
            <a:r>
              <a:rPr sz="1050" b="0" i="0" dirty="0" err="1">
                <a:solidFill>
                  <a:srgbClr val="6B655D"/>
                </a:solidFill>
                <a:latin typeface="游ゴシック" panose="020B0400000000000000" pitchFamily="50" charset="-128"/>
                <a:ea typeface="游ゴシック" panose="020B0400000000000000" pitchFamily="50" charset="-128"/>
              </a:rPr>
              <a:t>推奨構成</a:t>
            </a:r>
            <a:r>
              <a:rPr sz="1050" b="0" i="0" dirty="0">
                <a:solidFill>
                  <a:srgbClr val="6B655D"/>
                </a:solidFill>
                <a:latin typeface="游ゴシック" panose="020B0400000000000000" pitchFamily="50" charset="-128"/>
                <a:ea typeface="游ゴシック" panose="020B0400000000000000" pitchFamily="50" charset="-128"/>
              </a:rPr>
              <a:t> </a:t>
            </a:r>
            <a:r>
              <a:rPr sz="1050" b="0" i="0" dirty="0" err="1">
                <a:solidFill>
                  <a:srgbClr val="6B655D"/>
                </a:solidFill>
                <a:latin typeface="游ゴシック" panose="020B0400000000000000" pitchFamily="50" charset="-128"/>
                <a:ea typeface="游ゴシック" panose="020B0400000000000000" pitchFamily="50" charset="-128"/>
              </a:rPr>
              <a:t>参考価格</a:t>
            </a:r>
            <a:r>
              <a:rPr sz="1050" b="0" i="0" dirty="0">
                <a:solidFill>
                  <a:srgbClr val="6B655D"/>
                </a:solidFill>
                <a:latin typeface="游ゴシック" panose="020B0400000000000000" pitchFamily="50" charset="-128"/>
                <a:ea typeface="游ゴシック" panose="020B0400000000000000" pitchFamily="50" charset="-128"/>
              </a:rPr>
              <a:t> 4,000,000円（税別）に対する効果として、日本側の直接的な時間外コスト削減に加え、Philippines側のCapacity創出および業務品質向上が期待されます。</a:t>
            </a:r>
          </a:p>
        </p:txBody>
      </p:sp>
      <p:sp>
        <p:nvSpPr>
          <p:cNvPr id="62" name="Rounded Rectangle 61"/>
          <p:cNvSpPr/>
          <p:nvPr/>
        </p:nvSpPr>
        <p:spPr>
          <a:xfrm>
            <a:off x="502920" y="5943600"/>
            <a:ext cx="10787121" cy="822960"/>
          </a:xfrm>
          <a:prstGeom prst="roundRect">
            <a:avLst>
              <a:gd name="adj" fmla="val 6000"/>
            </a:avLst>
          </a:prstGeom>
          <a:solidFill>
            <a:srgbClr val="F5F3F0"/>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31520" y="6016752"/>
            <a:ext cx="10232578" cy="405560"/>
          </a:xfrm>
          <a:prstGeom prst="rect">
            <a:avLst/>
          </a:prstGeom>
          <a:noFill/>
        </p:spPr>
        <p:txBody>
          <a:bodyPr wrap="square" lIns="0" tIns="0" rIns="0" bIns="0" anchor="t">
            <a:spAutoFit/>
          </a:bodyPr>
          <a:lstStyle/>
          <a:p>
            <a:pPr algn="l">
              <a:lnSpc>
                <a:spcPct val="130000"/>
              </a:lnSpc>
            </a:pPr>
            <a:r>
              <a:rPr sz="1050" b="0" i="0" dirty="0">
                <a:solidFill>
                  <a:srgbClr val="6B655D"/>
                </a:solidFill>
                <a:latin typeface="游ゴシック" panose="020B0400000000000000" pitchFamily="50" charset="-128"/>
                <a:ea typeface="游ゴシック" panose="020B0400000000000000" pitchFamily="50" charset="-128"/>
              </a:rPr>
              <a:t>人数・業務時間・業務比率・効率化率・時間外人件費単価（4,000円/</a:t>
            </a:r>
            <a:r>
              <a:rPr sz="1050" b="0" i="0" dirty="0" err="1">
                <a:solidFill>
                  <a:srgbClr val="6B655D"/>
                </a:solidFill>
                <a:latin typeface="游ゴシック" panose="020B0400000000000000" pitchFamily="50" charset="-128"/>
                <a:ea typeface="游ゴシック" panose="020B0400000000000000" pitchFamily="50" charset="-128"/>
              </a:rPr>
              <a:t>時間等）は、いずれも現時点で想定する業務モデルに基づく参考仮定値であり</a:t>
            </a:r>
            <a:r>
              <a:rPr sz="1050" b="0" i="0" dirty="0">
                <a:solidFill>
                  <a:srgbClr val="6B655D"/>
                </a:solidFill>
                <a:latin typeface="游ゴシック" panose="020B0400000000000000" pitchFamily="50" charset="-128"/>
                <a:ea typeface="游ゴシック" panose="020B0400000000000000" pitchFamily="50" charset="-128"/>
              </a:rPr>
              <a:t>、</a:t>
            </a:r>
            <a:r>
              <a:rPr lang="ja-JP" altLang="en-US" sz="1050" b="0" i="0" dirty="0">
                <a:solidFill>
                  <a:srgbClr val="6B655D"/>
                </a:solidFill>
                <a:latin typeface="游ゴシック" panose="020B0400000000000000" pitchFamily="50" charset="-128"/>
                <a:ea typeface="游ゴシック" panose="020B0400000000000000" pitchFamily="50" charset="-128"/>
              </a:rPr>
              <a:t>御社</a:t>
            </a:r>
            <a:r>
              <a:rPr sz="1050" b="0" i="0" dirty="0" err="1">
                <a:solidFill>
                  <a:srgbClr val="6B655D"/>
                </a:solidFill>
                <a:latin typeface="游ゴシック" panose="020B0400000000000000" pitchFamily="50" charset="-128"/>
                <a:ea typeface="游ゴシック" panose="020B0400000000000000" pitchFamily="50" charset="-128"/>
              </a:rPr>
              <a:t>の実績値ではありません。実際の効果はこれらの前提により変動するため、本試算は削減効果を保証するものではありません</a:t>
            </a:r>
            <a:r>
              <a:rPr sz="1050" b="0" i="0" dirty="0">
                <a:solidFill>
                  <a:srgbClr val="6B655D"/>
                </a:solidFill>
                <a:latin typeface="游ゴシック" panose="020B0400000000000000" pitchFamily="50" charset="-128"/>
                <a:ea typeface="游ゴシック" panose="020B0400000000000000" pitchFamily="50" charset="-128"/>
              </a:rPr>
              <a:t>。</a:t>
            </a:r>
          </a:p>
        </p:txBody>
      </p:sp>
      <p:pic>
        <p:nvPicPr>
          <p:cNvPr id="64" name="図 63">
            <a:extLst>
              <a:ext uri="{FF2B5EF4-FFF2-40B4-BE49-F238E27FC236}">
                <a16:creationId xmlns:a16="http://schemas.microsoft.com/office/drawing/2014/main" id="{1B11242F-CA05-6F8D-CB6F-4E32917C8D7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ESTIMATE</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15 / 24</a:t>
            </a:r>
          </a:p>
        </p:txBody>
      </p:sp>
      <p:sp>
        <p:nvSpPr>
          <p:cNvPr id="4" name="TextBox 3"/>
          <p:cNvSpPr txBox="1"/>
          <p:nvPr/>
        </p:nvSpPr>
        <p:spPr>
          <a:xfrm>
            <a:off x="502920" y="658368"/>
            <a:ext cx="11183112" cy="415498"/>
          </a:xfrm>
          <a:prstGeom prst="rect">
            <a:avLst/>
          </a:prstGeom>
          <a:noFill/>
        </p:spPr>
        <p:txBody>
          <a:bodyPr wrap="square" lIns="0" tIns="0" rIns="0" bIns="0" anchor="t">
            <a:spAutoFit/>
          </a:bodyPr>
          <a:lstStyle/>
          <a:p>
            <a:pPr algn="l"/>
            <a:r>
              <a:rPr lang="ja-JP" altLang="en-US" sz="2700" b="1" i="0" dirty="0">
                <a:solidFill>
                  <a:srgbClr val="2A2724"/>
                </a:solidFill>
                <a:latin typeface="Yu Gothic"/>
              </a:rPr>
              <a:t>弊社</a:t>
            </a:r>
            <a:r>
              <a:rPr sz="2700" b="1" i="0" dirty="0" err="1">
                <a:solidFill>
                  <a:srgbClr val="2A2724"/>
                </a:solidFill>
                <a:latin typeface="Yu Gothic"/>
              </a:rPr>
              <a:t>推奨構成</a:t>
            </a:r>
            <a:r>
              <a:rPr sz="2700" b="1" i="0" dirty="0">
                <a:solidFill>
                  <a:srgbClr val="2A2724"/>
                </a:solidFill>
                <a:latin typeface="Yu Gothic"/>
              </a:rPr>
              <a:t> — </a:t>
            </a:r>
            <a:r>
              <a:rPr sz="2700" b="1" i="0" dirty="0" err="1">
                <a:solidFill>
                  <a:srgbClr val="2A2724"/>
                </a:solidFill>
                <a:latin typeface="Yu Gothic"/>
              </a:rPr>
              <a:t>内訳と参考価格</a:t>
            </a:r>
            <a:endParaRPr sz="2700" b="1" i="0" dirty="0">
              <a:solidFill>
                <a:srgbClr val="2A2724"/>
              </a:solidFill>
              <a:latin typeface="Yu Gothic"/>
            </a:endParaRPr>
          </a:p>
        </p:txBody>
      </p:sp>
      <p:sp>
        <p:nvSpPr>
          <p:cNvPr id="5" name="TextBox 4"/>
          <p:cNvSpPr txBox="1"/>
          <p:nvPr/>
        </p:nvSpPr>
        <p:spPr>
          <a:xfrm>
            <a:off x="502920" y="1115568"/>
            <a:ext cx="11183112" cy="200055"/>
          </a:xfrm>
          <a:prstGeom prst="rect">
            <a:avLst/>
          </a:prstGeom>
          <a:noFill/>
        </p:spPr>
        <p:txBody>
          <a:bodyPr wrap="square" lIns="0" tIns="0" rIns="0" bIns="0" anchor="t">
            <a:spAutoFit/>
          </a:bodyPr>
          <a:lstStyle/>
          <a:p>
            <a:pPr algn="l"/>
            <a:r>
              <a:rPr sz="1300" b="0" i="0" dirty="0" err="1">
                <a:solidFill>
                  <a:srgbClr val="6B655D"/>
                </a:solidFill>
                <a:latin typeface="Yu Gothic"/>
              </a:rPr>
              <a:t>詳細な工数内訳はこの下に記載しています</a:t>
            </a:r>
            <a:r>
              <a:rPr sz="1300" b="0" i="0" dirty="0">
                <a:solidFill>
                  <a:srgbClr val="6B655D"/>
                </a:solidFill>
                <a:latin typeface="Yu Gothic"/>
              </a:rPr>
              <a:t>。</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2920" y="1755648"/>
            <a:ext cx="11183112" cy="621792"/>
          </a:xfrm>
          <a:prstGeom prst="roundRect">
            <a:avLst>
              <a:gd name="adj" fmla="val 6000"/>
            </a:avLst>
          </a:prstGeom>
          <a:solidFill>
            <a:srgbClr val="FCEAD8"/>
          </a:solidFill>
          <a:ln w="1905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6595"/>
            <a:ext cx="5943600" cy="261610"/>
          </a:xfrm>
          <a:prstGeom prst="rect">
            <a:avLst/>
          </a:prstGeom>
          <a:noFill/>
        </p:spPr>
        <p:txBody>
          <a:bodyPr wrap="square" lIns="0" tIns="0" rIns="0" bIns="0" anchor="ctr">
            <a:spAutoFit/>
          </a:bodyPr>
          <a:lstStyle/>
          <a:p>
            <a:pPr algn="l"/>
            <a:r>
              <a:rPr sz="1700" b="1" i="0" dirty="0">
                <a:solidFill>
                  <a:srgbClr val="A85A1F"/>
                </a:solidFill>
                <a:latin typeface="Yu Gothic"/>
              </a:rPr>
              <a:t>★</a:t>
            </a:r>
            <a:r>
              <a:rPr lang="ja-JP" altLang="en-US" sz="1700" b="1" i="0" dirty="0">
                <a:solidFill>
                  <a:srgbClr val="A85A1F"/>
                </a:solidFill>
                <a:latin typeface="Yu Gothic"/>
              </a:rPr>
              <a:t> 弊社</a:t>
            </a:r>
            <a:r>
              <a:rPr sz="1700" b="1" i="0" dirty="0" err="1">
                <a:solidFill>
                  <a:srgbClr val="A85A1F"/>
                </a:solidFill>
                <a:latin typeface="Yu Gothic"/>
              </a:rPr>
              <a:t>推奨構成</a:t>
            </a:r>
            <a:r>
              <a:rPr sz="1700" b="1" i="0" dirty="0">
                <a:solidFill>
                  <a:srgbClr val="A85A1F"/>
                </a:solidFill>
                <a:latin typeface="Yu Gothic"/>
              </a:rPr>
              <a:t> ★　73人日（約3.65人月）</a:t>
            </a:r>
          </a:p>
        </p:txBody>
      </p:sp>
      <p:sp>
        <p:nvSpPr>
          <p:cNvPr id="9" name="TextBox 8"/>
          <p:cNvSpPr txBox="1"/>
          <p:nvPr/>
        </p:nvSpPr>
        <p:spPr>
          <a:xfrm>
            <a:off x="7086600" y="1828800"/>
            <a:ext cx="4297680" cy="457200"/>
          </a:xfrm>
          <a:prstGeom prst="rect">
            <a:avLst/>
          </a:prstGeom>
          <a:noFill/>
        </p:spPr>
        <p:txBody>
          <a:bodyPr wrap="square" lIns="0" tIns="0" rIns="0" bIns="0" anchor="ctr">
            <a:spAutoFit/>
          </a:bodyPr>
          <a:lstStyle/>
          <a:p>
            <a:pPr algn="r"/>
            <a:r>
              <a:rPr sz="1700" b="1" i="0">
                <a:solidFill>
                  <a:srgbClr val="A85A1F"/>
                </a:solidFill>
                <a:latin typeface="Yu Gothic"/>
              </a:rPr>
              <a:t>参考価格　4,000,000円（税別）</a:t>
            </a:r>
          </a:p>
        </p:txBody>
      </p:sp>
      <p:sp>
        <p:nvSpPr>
          <p:cNvPr id="10" name="TextBox 9"/>
          <p:cNvSpPr txBox="1"/>
          <p:nvPr/>
        </p:nvSpPr>
        <p:spPr>
          <a:xfrm>
            <a:off x="502920" y="2414016"/>
            <a:ext cx="11183112" cy="256032"/>
          </a:xfrm>
          <a:prstGeom prst="rect">
            <a:avLst/>
          </a:prstGeom>
          <a:noFill/>
        </p:spPr>
        <p:txBody>
          <a:bodyPr wrap="square" lIns="0" tIns="0" rIns="0" bIns="0" anchor="t">
            <a:spAutoFit/>
          </a:bodyPr>
          <a:lstStyle/>
          <a:p>
            <a:pPr algn="l"/>
            <a:r>
              <a:rPr sz="950" b="0" i="0">
                <a:solidFill>
                  <a:srgbClr val="9A938A"/>
                </a:solidFill>
                <a:latin typeface="Yu Gothic"/>
              </a:rPr>
              <a:t>※ 本価格は現時点で確認できている仕様・運用を前提とした概算（参考価格）です。確定見積ではありません。</a:t>
            </a:r>
          </a:p>
        </p:txBody>
      </p:sp>
      <p:sp>
        <p:nvSpPr>
          <p:cNvPr id="11" name="TextBox 10"/>
          <p:cNvSpPr txBox="1"/>
          <p:nvPr/>
        </p:nvSpPr>
        <p:spPr>
          <a:xfrm>
            <a:off x="502920" y="2578608"/>
            <a:ext cx="5440680" cy="219456"/>
          </a:xfrm>
          <a:prstGeom prst="rect">
            <a:avLst/>
          </a:prstGeom>
          <a:noFill/>
        </p:spPr>
        <p:txBody>
          <a:bodyPr wrap="square" lIns="0" tIns="0" rIns="0" bIns="0" anchor="t">
            <a:spAutoFit/>
          </a:bodyPr>
          <a:lstStyle/>
          <a:p>
            <a:pPr algn="l"/>
            <a:r>
              <a:rPr sz="1200" b="1" i="0">
                <a:solidFill>
                  <a:srgbClr val="2A2724"/>
                </a:solidFill>
                <a:latin typeface="Yu Gothic"/>
              </a:rPr>
              <a:t>基本機能（63人日）— 積算根拠</a:t>
            </a:r>
          </a:p>
        </p:txBody>
      </p:sp>
      <p:sp>
        <p:nvSpPr>
          <p:cNvPr id="12" name="Rounded Rectangle 11"/>
          <p:cNvSpPr/>
          <p:nvPr/>
        </p:nvSpPr>
        <p:spPr>
          <a:xfrm>
            <a:off x="502920" y="2834640"/>
            <a:ext cx="5440680" cy="18745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2648" y="2834640"/>
            <a:ext cx="457200" cy="187452"/>
          </a:xfrm>
          <a:prstGeom prst="rect">
            <a:avLst/>
          </a:prstGeom>
          <a:noFill/>
        </p:spPr>
        <p:txBody>
          <a:bodyPr wrap="square" lIns="0" tIns="0" rIns="0" bIns="0" anchor="ctr">
            <a:spAutoFit/>
          </a:bodyPr>
          <a:lstStyle/>
          <a:p>
            <a:pPr algn="l"/>
            <a:r>
              <a:rPr sz="1000" b="0" i="0">
                <a:solidFill>
                  <a:srgbClr val="9A938A"/>
                </a:solidFill>
                <a:latin typeface="Yu Gothic"/>
              </a:rPr>
              <a:t>01</a:t>
            </a:r>
          </a:p>
        </p:txBody>
      </p:sp>
      <p:sp>
        <p:nvSpPr>
          <p:cNvPr id="14" name="TextBox 13"/>
          <p:cNvSpPr txBox="1"/>
          <p:nvPr/>
        </p:nvSpPr>
        <p:spPr>
          <a:xfrm>
            <a:off x="1069848" y="2834640"/>
            <a:ext cx="3977640" cy="187452"/>
          </a:xfrm>
          <a:prstGeom prst="rect">
            <a:avLst/>
          </a:prstGeom>
          <a:noFill/>
        </p:spPr>
        <p:txBody>
          <a:bodyPr wrap="square" lIns="0" tIns="0" rIns="0" bIns="0" anchor="ctr">
            <a:spAutoFit/>
          </a:bodyPr>
          <a:lstStyle/>
          <a:p>
            <a:pPr algn="l"/>
            <a:r>
              <a:rPr sz="1050" b="0" i="0">
                <a:solidFill>
                  <a:srgbClr val="2A2724"/>
                </a:solidFill>
                <a:latin typeface="Yu Gothic"/>
              </a:rPr>
              <a:t>発注候補・商品検索</a:t>
            </a:r>
          </a:p>
        </p:txBody>
      </p:sp>
      <p:sp>
        <p:nvSpPr>
          <p:cNvPr id="15" name="TextBox 14"/>
          <p:cNvSpPr txBox="1"/>
          <p:nvPr/>
        </p:nvSpPr>
        <p:spPr>
          <a:xfrm>
            <a:off x="5074920" y="2834640"/>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16" name="Rounded Rectangle 15"/>
          <p:cNvSpPr/>
          <p:nvPr/>
        </p:nvSpPr>
        <p:spPr>
          <a:xfrm>
            <a:off x="502920" y="3022092"/>
            <a:ext cx="5440680" cy="18745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 y="3022092"/>
            <a:ext cx="457200" cy="187452"/>
          </a:xfrm>
          <a:prstGeom prst="rect">
            <a:avLst/>
          </a:prstGeom>
          <a:noFill/>
        </p:spPr>
        <p:txBody>
          <a:bodyPr wrap="square" lIns="0" tIns="0" rIns="0" bIns="0" anchor="ctr">
            <a:spAutoFit/>
          </a:bodyPr>
          <a:lstStyle/>
          <a:p>
            <a:pPr algn="l"/>
            <a:r>
              <a:rPr sz="1000" b="0" i="0">
                <a:solidFill>
                  <a:srgbClr val="9A938A"/>
                </a:solidFill>
                <a:latin typeface="Yu Gothic"/>
              </a:rPr>
              <a:t>02</a:t>
            </a:r>
          </a:p>
        </p:txBody>
      </p:sp>
      <p:sp>
        <p:nvSpPr>
          <p:cNvPr id="18" name="TextBox 17"/>
          <p:cNvSpPr txBox="1"/>
          <p:nvPr/>
        </p:nvSpPr>
        <p:spPr>
          <a:xfrm>
            <a:off x="1069848" y="3022092"/>
            <a:ext cx="3977640" cy="187452"/>
          </a:xfrm>
          <a:prstGeom prst="rect">
            <a:avLst/>
          </a:prstGeom>
          <a:noFill/>
        </p:spPr>
        <p:txBody>
          <a:bodyPr wrap="square" lIns="0" tIns="0" rIns="0" bIns="0" anchor="ctr">
            <a:spAutoFit/>
          </a:bodyPr>
          <a:lstStyle/>
          <a:p>
            <a:pPr algn="l"/>
            <a:r>
              <a:rPr sz="1050" b="0" i="0">
                <a:solidFill>
                  <a:srgbClr val="2A2724"/>
                </a:solidFill>
                <a:latin typeface="Yu Gothic"/>
              </a:rPr>
              <a:t>推奨発注数量</a:t>
            </a:r>
          </a:p>
        </p:txBody>
      </p:sp>
      <p:sp>
        <p:nvSpPr>
          <p:cNvPr id="19" name="TextBox 18"/>
          <p:cNvSpPr txBox="1"/>
          <p:nvPr/>
        </p:nvSpPr>
        <p:spPr>
          <a:xfrm>
            <a:off x="5074920" y="3022092"/>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20" name="Rounded Rectangle 19"/>
          <p:cNvSpPr/>
          <p:nvPr/>
        </p:nvSpPr>
        <p:spPr>
          <a:xfrm>
            <a:off x="502920" y="3209544"/>
            <a:ext cx="5440680" cy="18745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3209544"/>
            <a:ext cx="457200" cy="187452"/>
          </a:xfrm>
          <a:prstGeom prst="rect">
            <a:avLst/>
          </a:prstGeom>
          <a:noFill/>
        </p:spPr>
        <p:txBody>
          <a:bodyPr wrap="square" lIns="0" tIns="0" rIns="0" bIns="0" anchor="ctr">
            <a:spAutoFit/>
          </a:bodyPr>
          <a:lstStyle/>
          <a:p>
            <a:pPr algn="l"/>
            <a:r>
              <a:rPr sz="1000" b="0" i="0">
                <a:solidFill>
                  <a:srgbClr val="9A938A"/>
                </a:solidFill>
                <a:latin typeface="Yu Gothic"/>
              </a:rPr>
              <a:t>03</a:t>
            </a:r>
          </a:p>
        </p:txBody>
      </p:sp>
      <p:sp>
        <p:nvSpPr>
          <p:cNvPr id="22" name="TextBox 21"/>
          <p:cNvSpPr txBox="1"/>
          <p:nvPr/>
        </p:nvSpPr>
        <p:spPr>
          <a:xfrm>
            <a:off x="1069848" y="3209544"/>
            <a:ext cx="3977640" cy="187452"/>
          </a:xfrm>
          <a:prstGeom prst="rect">
            <a:avLst/>
          </a:prstGeom>
          <a:noFill/>
        </p:spPr>
        <p:txBody>
          <a:bodyPr wrap="square" lIns="0" tIns="0" rIns="0" bIns="0" anchor="ctr">
            <a:spAutoFit/>
          </a:bodyPr>
          <a:lstStyle/>
          <a:p>
            <a:pPr algn="l"/>
            <a:r>
              <a:rPr sz="1050" b="0" i="0">
                <a:solidFill>
                  <a:srgbClr val="2A2724"/>
                </a:solidFill>
                <a:latin typeface="Yu Gothic"/>
              </a:rPr>
              <a:t>発注内容確認</a:t>
            </a:r>
          </a:p>
        </p:txBody>
      </p:sp>
      <p:sp>
        <p:nvSpPr>
          <p:cNvPr id="23" name="TextBox 22"/>
          <p:cNvSpPr txBox="1"/>
          <p:nvPr/>
        </p:nvSpPr>
        <p:spPr>
          <a:xfrm>
            <a:off x="5074920" y="3209544"/>
            <a:ext cx="777240" cy="187452"/>
          </a:xfrm>
          <a:prstGeom prst="rect">
            <a:avLst/>
          </a:prstGeom>
          <a:noFill/>
        </p:spPr>
        <p:txBody>
          <a:bodyPr wrap="square" lIns="0" tIns="0" rIns="0" bIns="0" anchor="ctr">
            <a:spAutoFit/>
          </a:bodyPr>
          <a:lstStyle/>
          <a:p>
            <a:pPr algn="r"/>
            <a:r>
              <a:rPr sz="1050" b="0" i="0">
                <a:solidFill>
                  <a:srgbClr val="2A2724"/>
                </a:solidFill>
                <a:latin typeface="Yu Gothic"/>
              </a:rPr>
              <a:t>2人日</a:t>
            </a:r>
          </a:p>
        </p:txBody>
      </p:sp>
      <p:sp>
        <p:nvSpPr>
          <p:cNvPr id="24" name="Rounded Rectangle 23"/>
          <p:cNvSpPr/>
          <p:nvPr/>
        </p:nvSpPr>
        <p:spPr>
          <a:xfrm>
            <a:off x="502920" y="3396996"/>
            <a:ext cx="5440680" cy="18745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2648" y="3396996"/>
            <a:ext cx="457200" cy="187452"/>
          </a:xfrm>
          <a:prstGeom prst="rect">
            <a:avLst/>
          </a:prstGeom>
          <a:noFill/>
        </p:spPr>
        <p:txBody>
          <a:bodyPr wrap="square" lIns="0" tIns="0" rIns="0" bIns="0" anchor="ctr">
            <a:spAutoFit/>
          </a:bodyPr>
          <a:lstStyle/>
          <a:p>
            <a:pPr algn="l"/>
            <a:r>
              <a:rPr sz="1000" b="0" i="0">
                <a:solidFill>
                  <a:srgbClr val="9A938A"/>
                </a:solidFill>
                <a:latin typeface="Yu Gothic"/>
              </a:rPr>
              <a:t>04</a:t>
            </a:r>
          </a:p>
        </p:txBody>
      </p:sp>
      <p:sp>
        <p:nvSpPr>
          <p:cNvPr id="26" name="TextBox 25"/>
          <p:cNvSpPr txBox="1"/>
          <p:nvPr/>
        </p:nvSpPr>
        <p:spPr>
          <a:xfrm>
            <a:off x="1069848" y="3396996"/>
            <a:ext cx="3977640" cy="187452"/>
          </a:xfrm>
          <a:prstGeom prst="rect">
            <a:avLst/>
          </a:prstGeom>
          <a:noFill/>
        </p:spPr>
        <p:txBody>
          <a:bodyPr wrap="square" lIns="0" tIns="0" rIns="0" bIns="0" anchor="ctr">
            <a:spAutoFit/>
          </a:bodyPr>
          <a:lstStyle/>
          <a:p>
            <a:pPr algn="l"/>
            <a:r>
              <a:rPr sz="1050" b="0" i="0">
                <a:solidFill>
                  <a:srgbClr val="2A2724"/>
                </a:solidFill>
                <a:latin typeface="Yu Gothic"/>
              </a:rPr>
              <a:t>承認</a:t>
            </a:r>
          </a:p>
        </p:txBody>
      </p:sp>
      <p:sp>
        <p:nvSpPr>
          <p:cNvPr id="27" name="TextBox 26"/>
          <p:cNvSpPr txBox="1"/>
          <p:nvPr/>
        </p:nvSpPr>
        <p:spPr>
          <a:xfrm>
            <a:off x="5074920" y="3396996"/>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28" name="Rounded Rectangle 27"/>
          <p:cNvSpPr/>
          <p:nvPr/>
        </p:nvSpPr>
        <p:spPr>
          <a:xfrm>
            <a:off x="502920" y="3584448"/>
            <a:ext cx="5440680" cy="18745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2648" y="3584448"/>
            <a:ext cx="457200" cy="187452"/>
          </a:xfrm>
          <a:prstGeom prst="rect">
            <a:avLst/>
          </a:prstGeom>
          <a:noFill/>
        </p:spPr>
        <p:txBody>
          <a:bodyPr wrap="square" lIns="0" tIns="0" rIns="0" bIns="0" anchor="ctr">
            <a:spAutoFit/>
          </a:bodyPr>
          <a:lstStyle/>
          <a:p>
            <a:pPr algn="l"/>
            <a:r>
              <a:rPr sz="1000" b="0" i="0">
                <a:solidFill>
                  <a:srgbClr val="9A938A"/>
                </a:solidFill>
                <a:latin typeface="Yu Gothic"/>
              </a:rPr>
              <a:t>05</a:t>
            </a:r>
          </a:p>
        </p:txBody>
      </p:sp>
      <p:sp>
        <p:nvSpPr>
          <p:cNvPr id="30" name="TextBox 29"/>
          <p:cNvSpPr txBox="1"/>
          <p:nvPr/>
        </p:nvSpPr>
        <p:spPr>
          <a:xfrm>
            <a:off x="1069848" y="3584448"/>
            <a:ext cx="3977640" cy="187452"/>
          </a:xfrm>
          <a:prstGeom prst="rect">
            <a:avLst/>
          </a:prstGeom>
          <a:noFill/>
        </p:spPr>
        <p:txBody>
          <a:bodyPr wrap="square" lIns="0" tIns="0" rIns="0" bIns="0" anchor="ctr">
            <a:spAutoFit/>
          </a:bodyPr>
          <a:lstStyle/>
          <a:p>
            <a:pPr algn="l"/>
            <a:r>
              <a:rPr sz="1050" b="0" i="0">
                <a:solidFill>
                  <a:srgbClr val="2A2724"/>
                </a:solidFill>
                <a:latin typeface="Yu Gothic"/>
              </a:rPr>
              <a:t>G-SYS Official PO連携</a:t>
            </a:r>
          </a:p>
        </p:txBody>
      </p:sp>
      <p:sp>
        <p:nvSpPr>
          <p:cNvPr id="31" name="TextBox 30"/>
          <p:cNvSpPr txBox="1"/>
          <p:nvPr/>
        </p:nvSpPr>
        <p:spPr>
          <a:xfrm>
            <a:off x="5074920" y="3584448"/>
            <a:ext cx="777240" cy="187452"/>
          </a:xfrm>
          <a:prstGeom prst="rect">
            <a:avLst/>
          </a:prstGeom>
          <a:noFill/>
        </p:spPr>
        <p:txBody>
          <a:bodyPr wrap="square" lIns="0" tIns="0" rIns="0" bIns="0" anchor="ctr">
            <a:spAutoFit/>
          </a:bodyPr>
          <a:lstStyle/>
          <a:p>
            <a:pPr algn="r"/>
            <a:r>
              <a:rPr sz="1050" b="0" i="0">
                <a:solidFill>
                  <a:srgbClr val="2A2724"/>
                </a:solidFill>
                <a:latin typeface="Yu Gothic"/>
              </a:rPr>
              <a:t>6人日</a:t>
            </a:r>
          </a:p>
        </p:txBody>
      </p:sp>
      <p:sp>
        <p:nvSpPr>
          <p:cNvPr id="32" name="Rounded Rectangle 31"/>
          <p:cNvSpPr/>
          <p:nvPr/>
        </p:nvSpPr>
        <p:spPr>
          <a:xfrm>
            <a:off x="502920" y="3771900"/>
            <a:ext cx="5440680" cy="18745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2648" y="3771900"/>
            <a:ext cx="457200" cy="187452"/>
          </a:xfrm>
          <a:prstGeom prst="rect">
            <a:avLst/>
          </a:prstGeom>
          <a:noFill/>
        </p:spPr>
        <p:txBody>
          <a:bodyPr wrap="square" lIns="0" tIns="0" rIns="0" bIns="0" anchor="ctr">
            <a:spAutoFit/>
          </a:bodyPr>
          <a:lstStyle/>
          <a:p>
            <a:pPr algn="l"/>
            <a:r>
              <a:rPr sz="1000" b="0" i="0">
                <a:solidFill>
                  <a:srgbClr val="9A938A"/>
                </a:solidFill>
                <a:latin typeface="Yu Gothic"/>
              </a:rPr>
              <a:t>06</a:t>
            </a:r>
          </a:p>
        </p:txBody>
      </p:sp>
      <p:sp>
        <p:nvSpPr>
          <p:cNvPr id="34" name="TextBox 33"/>
          <p:cNvSpPr txBox="1"/>
          <p:nvPr/>
        </p:nvSpPr>
        <p:spPr>
          <a:xfrm>
            <a:off x="1069848" y="3771900"/>
            <a:ext cx="3977640" cy="187452"/>
          </a:xfrm>
          <a:prstGeom prst="rect">
            <a:avLst/>
          </a:prstGeom>
          <a:noFill/>
        </p:spPr>
        <p:txBody>
          <a:bodyPr wrap="square" lIns="0" tIns="0" rIns="0" bIns="0" anchor="ctr">
            <a:spAutoFit/>
          </a:bodyPr>
          <a:lstStyle/>
          <a:p>
            <a:pPr algn="l"/>
            <a:r>
              <a:rPr sz="1050" b="0" i="0">
                <a:solidFill>
                  <a:srgbClr val="2A2724"/>
                </a:solidFill>
                <a:latin typeface="Yu Gothic"/>
              </a:rPr>
              <a:t>メーカー回答登録</a:t>
            </a:r>
          </a:p>
        </p:txBody>
      </p:sp>
      <p:sp>
        <p:nvSpPr>
          <p:cNvPr id="35" name="TextBox 34"/>
          <p:cNvSpPr txBox="1"/>
          <p:nvPr/>
        </p:nvSpPr>
        <p:spPr>
          <a:xfrm>
            <a:off x="5074920" y="3771900"/>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36" name="Rounded Rectangle 35"/>
          <p:cNvSpPr/>
          <p:nvPr/>
        </p:nvSpPr>
        <p:spPr>
          <a:xfrm>
            <a:off x="502920" y="3959352"/>
            <a:ext cx="5440680" cy="18745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2648" y="3959352"/>
            <a:ext cx="457200" cy="187452"/>
          </a:xfrm>
          <a:prstGeom prst="rect">
            <a:avLst/>
          </a:prstGeom>
          <a:noFill/>
        </p:spPr>
        <p:txBody>
          <a:bodyPr wrap="square" lIns="0" tIns="0" rIns="0" bIns="0" anchor="ctr">
            <a:spAutoFit/>
          </a:bodyPr>
          <a:lstStyle/>
          <a:p>
            <a:pPr algn="l"/>
            <a:r>
              <a:rPr sz="1000" b="0" i="0">
                <a:solidFill>
                  <a:srgbClr val="9A938A"/>
                </a:solidFill>
                <a:latin typeface="Yu Gothic"/>
              </a:rPr>
              <a:t>07</a:t>
            </a:r>
          </a:p>
        </p:txBody>
      </p:sp>
      <p:sp>
        <p:nvSpPr>
          <p:cNvPr id="38" name="TextBox 37"/>
          <p:cNvSpPr txBox="1"/>
          <p:nvPr/>
        </p:nvSpPr>
        <p:spPr>
          <a:xfrm>
            <a:off x="1069848" y="3959352"/>
            <a:ext cx="3977640" cy="187452"/>
          </a:xfrm>
          <a:prstGeom prst="rect">
            <a:avLst/>
          </a:prstGeom>
          <a:noFill/>
        </p:spPr>
        <p:txBody>
          <a:bodyPr wrap="square" lIns="0" tIns="0" rIns="0" bIns="0" anchor="ctr">
            <a:spAutoFit/>
          </a:bodyPr>
          <a:lstStyle/>
          <a:p>
            <a:pPr algn="l"/>
            <a:r>
              <a:rPr sz="1050" b="0" i="0">
                <a:solidFill>
                  <a:srgbClr val="2A2724"/>
                </a:solidFill>
                <a:latin typeface="Yu Gothic"/>
              </a:rPr>
              <a:t>権限・共通基盤</a:t>
            </a:r>
          </a:p>
        </p:txBody>
      </p:sp>
      <p:sp>
        <p:nvSpPr>
          <p:cNvPr id="39" name="TextBox 38"/>
          <p:cNvSpPr txBox="1"/>
          <p:nvPr/>
        </p:nvSpPr>
        <p:spPr>
          <a:xfrm>
            <a:off x="5074920" y="3959352"/>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40" name="Rounded Rectangle 39"/>
          <p:cNvSpPr/>
          <p:nvPr/>
        </p:nvSpPr>
        <p:spPr>
          <a:xfrm>
            <a:off x="502920" y="4146804"/>
            <a:ext cx="5440680" cy="18745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2648" y="4146804"/>
            <a:ext cx="457200" cy="187452"/>
          </a:xfrm>
          <a:prstGeom prst="rect">
            <a:avLst/>
          </a:prstGeom>
          <a:noFill/>
        </p:spPr>
        <p:txBody>
          <a:bodyPr wrap="square" lIns="0" tIns="0" rIns="0" bIns="0" anchor="ctr">
            <a:spAutoFit/>
          </a:bodyPr>
          <a:lstStyle/>
          <a:p>
            <a:pPr algn="l"/>
            <a:r>
              <a:rPr sz="1000" b="0" i="0">
                <a:solidFill>
                  <a:srgbClr val="9A938A"/>
                </a:solidFill>
                <a:latin typeface="Yu Gothic"/>
              </a:rPr>
              <a:t>08</a:t>
            </a:r>
          </a:p>
        </p:txBody>
      </p:sp>
      <p:sp>
        <p:nvSpPr>
          <p:cNvPr id="42" name="TextBox 41"/>
          <p:cNvSpPr txBox="1"/>
          <p:nvPr/>
        </p:nvSpPr>
        <p:spPr>
          <a:xfrm>
            <a:off x="1069848" y="4146804"/>
            <a:ext cx="3977640" cy="187452"/>
          </a:xfrm>
          <a:prstGeom prst="rect">
            <a:avLst/>
          </a:prstGeom>
          <a:noFill/>
        </p:spPr>
        <p:txBody>
          <a:bodyPr wrap="square" lIns="0" tIns="0" rIns="0" bIns="0" anchor="ctr">
            <a:spAutoFit/>
          </a:bodyPr>
          <a:lstStyle/>
          <a:p>
            <a:pPr algn="l"/>
            <a:r>
              <a:rPr sz="1050" b="0" i="0">
                <a:solidFill>
                  <a:srgbClr val="2A2724"/>
                </a:solidFill>
                <a:latin typeface="Yu Gothic"/>
              </a:rPr>
              <a:t>在庫・販売・入荷情報表示</a:t>
            </a:r>
          </a:p>
        </p:txBody>
      </p:sp>
      <p:sp>
        <p:nvSpPr>
          <p:cNvPr id="43" name="TextBox 42"/>
          <p:cNvSpPr txBox="1"/>
          <p:nvPr/>
        </p:nvSpPr>
        <p:spPr>
          <a:xfrm>
            <a:off x="5074920" y="4146804"/>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44" name="Rounded Rectangle 43"/>
          <p:cNvSpPr/>
          <p:nvPr/>
        </p:nvSpPr>
        <p:spPr>
          <a:xfrm>
            <a:off x="502920" y="4334256"/>
            <a:ext cx="5440680" cy="18745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12648" y="4334256"/>
            <a:ext cx="457200" cy="187452"/>
          </a:xfrm>
          <a:prstGeom prst="rect">
            <a:avLst/>
          </a:prstGeom>
          <a:noFill/>
        </p:spPr>
        <p:txBody>
          <a:bodyPr wrap="square" lIns="0" tIns="0" rIns="0" bIns="0" anchor="ctr">
            <a:spAutoFit/>
          </a:bodyPr>
          <a:lstStyle/>
          <a:p>
            <a:pPr algn="l"/>
            <a:r>
              <a:rPr sz="1000" b="0" i="0">
                <a:solidFill>
                  <a:srgbClr val="9A938A"/>
                </a:solidFill>
                <a:latin typeface="Yu Gothic"/>
              </a:rPr>
              <a:t>09</a:t>
            </a:r>
          </a:p>
        </p:txBody>
      </p:sp>
      <p:sp>
        <p:nvSpPr>
          <p:cNvPr id="46" name="TextBox 45"/>
          <p:cNvSpPr txBox="1"/>
          <p:nvPr/>
        </p:nvSpPr>
        <p:spPr>
          <a:xfrm>
            <a:off x="1069848" y="4334256"/>
            <a:ext cx="3977640" cy="187452"/>
          </a:xfrm>
          <a:prstGeom prst="rect">
            <a:avLst/>
          </a:prstGeom>
          <a:noFill/>
        </p:spPr>
        <p:txBody>
          <a:bodyPr wrap="square" lIns="0" tIns="0" rIns="0" bIns="0" anchor="ctr">
            <a:spAutoFit/>
          </a:bodyPr>
          <a:lstStyle/>
          <a:p>
            <a:pPr algn="l"/>
            <a:r>
              <a:rPr sz="1050" b="0" i="0">
                <a:solidFill>
                  <a:srgbClr val="2A2724"/>
                </a:solidFill>
                <a:latin typeface="Yu Gothic"/>
              </a:rPr>
              <a:t>発注数量入力・Draft</a:t>
            </a:r>
          </a:p>
        </p:txBody>
      </p:sp>
      <p:sp>
        <p:nvSpPr>
          <p:cNvPr id="47" name="TextBox 46"/>
          <p:cNvSpPr txBox="1"/>
          <p:nvPr/>
        </p:nvSpPr>
        <p:spPr>
          <a:xfrm>
            <a:off x="5074920" y="4334256"/>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48" name="Rounded Rectangle 47"/>
          <p:cNvSpPr/>
          <p:nvPr/>
        </p:nvSpPr>
        <p:spPr>
          <a:xfrm>
            <a:off x="502920" y="4521708"/>
            <a:ext cx="5440680" cy="18745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12648" y="4521708"/>
            <a:ext cx="457200" cy="187452"/>
          </a:xfrm>
          <a:prstGeom prst="rect">
            <a:avLst/>
          </a:prstGeom>
          <a:noFill/>
        </p:spPr>
        <p:txBody>
          <a:bodyPr wrap="square" lIns="0" tIns="0" rIns="0" bIns="0" anchor="ctr">
            <a:spAutoFit/>
          </a:bodyPr>
          <a:lstStyle/>
          <a:p>
            <a:pPr algn="l"/>
            <a:r>
              <a:rPr sz="1000" b="0" i="0">
                <a:solidFill>
                  <a:srgbClr val="9A938A"/>
                </a:solidFill>
                <a:latin typeface="Yu Gothic"/>
              </a:rPr>
              <a:t>10</a:t>
            </a:r>
          </a:p>
        </p:txBody>
      </p:sp>
      <p:sp>
        <p:nvSpPr>
          <p:cNvPr id="50" name="TextBox 49"/>
          <p:cNvSpPr txBox="1"/>
          <p:nvPr/>
        </p:nvSpPr>
        <p:spPr>
          <a:xfrm>
            <a:off x="1069848" y="4521708"/>
            <a:ext cx="3977640" cy="187452"/>
          </a:xfrm>
          <a:prstGeom prst="rect">
            <a:avLst/>
          </a:prstGeom>
          <a:noFill/>
        </p:spPr>
        <p:txBody>
          <a:bodyPr wrap="square" lIns="0" tIns="0" rIns="0" bIns="0" anchor="ctr">
            <a:spAutoFit/>
          </a:bodyPr>
          <a:lstStyle/>
          <a:p>
            <a:pPr algn="l"/>
            <a:r>
              <a:rPr sz="1050" b="0" i="0">
                <a:solidFill>
                  <a:srgbClr val="2A2724"/>
                </a:solidFill>
                <a:latin typeface="Yu Gothic"/>
              </a:rPr>
              <a:t>発注一覧・詳細・履歴</a:t>
            </a:r>
          </a:p>
        </p:txBody>
      </p:sp>
      <p:sp>
        <p:nvSpPr>
          <p:cNvPr id="51" name="TextBox 50"/>
          <p:cNvSpPr txBox="1"/>
          <p:nvPr/>
        </p:nvSpPr>
        <p:spPr>
          <a:xfrm>
            <a:off x="5074920" y="4521708"/>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52" name="Rounded Rectangle 51"/>
          <p:cNvSpPr/>
          <p:nvPr/>
        </p:nvSpPr>
        <p:spPr>
          <a:xfrm>
            <a:off x="502920" y="4709160"/>
            <a:ext cx="5440680" cy="18745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12648" y="4709160"/>
            <a:ext cx="457200" cy="187452"/>
          </a:xfrm>
          <a:prstGeom prst="rect">
            <a:avLst/>
          </a:prstGeom>
          <a:noFill/>
        </p:spPr>
        <p:txBody>
          <a:bodyPr wrap="square" lIns="0" tIns="0" rIns="0" bIns="0" anchor="ctr">
            <a:spAutoFit/>
          </a:bodyPr>
          <a:lstStyle/>
          <a:p>
            <a:pPr algn="l"/>
            <a:r>
              <a:rPr sz="1000" b="0" i="0">
                <a:solidFill>
                  <a:srgbClr val="9A938A"/>
                </a:solidFill>
                <a:latin typeface="Yu Gothic"/>
              </a:rPr>
              <a:t>11</a:t>
            </a:r>
          </a:p>
        </p:txBody>
      </p:sp>
      <p:sp>
        <p:nvSpPr>
          <p:cNvPr id="54" name="TextBox 53"/>
          <p:cNvSpPr txBox="1"/>
          <p:nvPr/>
        </p:nvSpPr>
        <p:spPr>
          <a:xfrm>
            <a:off x="1069848" y="4709160"/>
            <a:ext cx="3977640" cy="187452"/>
          </a:xfrm>
          <a:prstGeom prst="rect">
            <a:avLst/>
          </a:prstGeom>
          <a:noFill/>
        </p:spPr>
        <p:txBody>
          <a:bodyPr wrap="square" lIns="0" tIns="0" rIns="0" bIns="0" anchor="ctr">
            <a:spAutoFit/>
          </a:bodyPr>
          <a:lstStyle/>
          <a:p>
            <a:pPr algn="l"/>
            <a:r>
              <a:rPr sz="1050" b="0" i="0">
                <a:solidFill>
                  <a:srgbClr val="2A2724"/>
                </a:solidFill>
                <a:latin typeface="Yu Gothic"/>
              </a:rPr>
              <a:t>Official PO生成</a:t>
            </a:r>
          </a:p>
        </p:txBody>
      </p:sp>
      <p:sp>
        <p:nvSpPr>
          <p:cNvPr id="55" name="TextBox 54"/>
          <p:cNvSpPr txBox="1"/>
          <p:nvPr/>
        </p:nvSpPr>
        <p:spPr>
          <a:xfrm>
            <a:off x="5074920" y="4709160"/>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56" name="Rounded Rectangle 55"/>
          <p:cNvSpPr/>
          <p:nvPr/>
        </p:nvSpPr>
        <p:spPr>
          <a:xfrm>
            <a:off x="502920" y="4896612"/>
            <a:ext cx="5440680" cy="18745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12648" y="4896612"/>
            <a:ext cx="457200" cy="187452"/>
          </a:xfrm>
          <a:prstGeom prst="rect">
            <a:avLst/>
          </a:prstGeom>
          <a:noFill/>
        </p:spPr>
        <p:txBody>
          <a:bodyPr wrap="square" lIns="0" tIns="0" rIns="0" bIns="0" anchor="ctr">
            <a:spAutoFit/>
          </a:bodyPr>
          <a:lstStyle/>
          <a:p>
            <a:pPr algn="l"/>
            <a:r>
              <a:rPr sz="1000" b="0" i="0">
                <a:solidFill>
                  <a:srgbClr val="9A938A"/>
                </a:solidFill>
                <a:latin typeface="Yu Gothic"/>
              </a:rPr>
              <a:t>12</a:t>
            </a:r>
          </a:p>
        </p:txBody>
      </p:sp>
      <p:sp>
        <p:nvSpPr>
          <p:cNvPr id="58" name="TextBox 57"/>
          <p:cNvSpPr txBox="1"/>
          <p:nvPr/>
        </p:nvSpPr>
        <p:spPr>
          <a:xfrm>
            <a:off x="1069848" y="4896612"/>
            <a:ext cx="3977640" cy="187452"/>
          </a:xfrm>
          <a:prstGeom prst="rect">
            <a:avLst/>
          </a:prstGeom>
          <a:noFill/>
        </p:spPr>
        <p:txBody>
          <a:bodyPr wrap="square" lIns="0" tIns="0" rIns="0" bIns="0" anchor="ctr">
            <a:spAutoFit/>
          </a:bodyPr>
          <a:lstStyle/>
          <a:p>
            <a:pPr algn="l"/>
            <a:r>
              <a:rPr sz="1050" b="0" i="0">
                <a:solidFill>
                  <a:srgbClr val="2A2724"/>
                </a:solidFill>
                <a:latin typeface="Yu Gothic"/>
              </a:rPr>
              <a:t>メーカーEmail送信</a:t>
            </a:r>
          </a:p>
        </p:txBody>
      </p:sp>
      <p:sp>
        <p:nvSpPr>
          <p:cNvPr id="59" name="TextBox 58"/>
          <p:cNvSpPr txBox="1"/>
          <p:nvPr/>
        </p:nvSpPr>
        <p:spPr>
          <a:xfrm>
            <a:off x="5074920" y="4896612"/>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60" name="Rounded Rectangle 59"/>
          <p:cNvSpPr/>
          <p:nvPr/>
        </p:nvSpPr>
        <p:spPr>
          <a:xfrm>
            <a:off x="502920" y="5084064"/>
            <a:ext cx="5440680" cy="187452"/>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12648" y="5084064"/>
            <a:ext cx="457200" cy="187452"/>
          </a:xfrm>
          <a:prstGeom prst="rect">
            <a:avLst/>
          </a:prstGeom>
          <a:noFill/>
        </p:spPr>
        <p:txBody>
          <a:bodyPr wrap="square" lIns="0" tIns="0" rIns="0" bIns="0" anchor="ctr">
            <a:spAutoFit/>
          </a:bodyPr>
          <a:lstStyle/>
          <a:p>
            <a:pPr algn="l"/>
            <a:r>
              <a:rPr sz="1000" b="0" i="0">
                <a:solidFill>
                  <a:srgbClr val="9A938A"/>
                </a:solidFill>
                <a:latin typeface="Yu Gothic"/>
              </a:rPr>
              <a:t>13</a:t>
            </a:r>
          </a:p>
        </p:txBody>
      </p:sp>
      <p:sp>
        <p:nvSpPr>
          <p:cNvPr id="62" name="TextBox 61"/>
          <p:cNvSpPr txBox="1"/>
          <p:nvPr/>
        </p:nvSpPr>
        <p:spPr>
          <a:xfrm>
            <a:off x="1069848" y="5084064"/>
            <a:ext cx="3977640" cy="187452"/>
          </a:xfrm>
          <a:prstGeom prst="rect">
            <a:avLst/>
          </a:prstGeom>
          <a:noFill/>
        </p:spPr>
        <p:txBody>
          <a:bodyPr wrap="square" lIns="0" tIns="0" rIns="0" bIns="0" anchor="ctr">
            <a:spAutoFit/>
          </a:bodyPr>
          <a:lstStyle/>
          <a:p>
            <a:pPr algn="l"/>
            <a:r>
              <a:rPr sz="1050" b="0" i="0">
                <a:solidFill>
                  <a:srgbClr val="2A2724"/>
                </a:solidFill>
                <a:latin typeface="Yu Gothic"/>
              </a:rPr>
              <a:t>回答差異・修正・合意</a:t>
            </a:r>
          </a:p>
        </p:txBody>
      </p:sp>
      <p:sp>
        <p:nvSpPr>
          <p:cNvPr id="63" name="TextBox 62"/>
          <p:cNvSpPr txBox="1"/>
          <p:nvPr/>
        </p:nvSpPr>
        <p:spPr>
          <a:xfrm>
            <a:off x="5074920" y="5084064"/>
            <a:ext cx="777240" cy="187452"/>
          </a:xfrm>
          <a:prstGeom prst="rect">
            <a:avLst/>
          </a:prstGeom>
          <a:noFill/>
        </p:spPr>
        <p:txBody>
          <a:bodyPr wrap="square" lIns="0" tIns="0" rIns="0" bIns="0" anchor="ctr">
            <a:spAutoFit/>
          </a:bodyPr>
          <a:lstStyle/>
          <a:p>
            <a:pPr algn="r"/>
            <a:r>
              <a:rPr sz="1050" b="0" i="0">
                <a:solidFill>
                  <a:srgbClr val="2A2724"/>
                </a:solidFill>
                <a:latin typeface="Yu Gothic"/>
              </a:rPr>
              <a:t>5人日</a:t>
            </a:r>
          </a:p>
        </p:txBody>
      </p:sp>
      <p:sp>
        <p:nvSpPr>
          <p:cNvPr id="64" name="Rounded Rectangle 63"/>
          <p:cNvSpPr/>
          <p:nvPr/>
        </p:nvSpPr>
        <p:spPr>
          <a:xfrm>
            <a:off x="502920" y="5271516"/>
            <a:ext cx="5440680" cy="187452"/>
          </a:xfrm>
          <a:prstGeom prst="roundRect">
            <a:avLst>
              <a:gd name="adj" fmla="val 0"/>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12648" y="5271516"/>
            <a:ext cx="457200" cy="187452"/>
          </a:xfrm>
          <a:prstGeom prst="rect">
            <a:avLst/>
          </a:prstGeom>
          <a:noFill/>
        </p:spPr>
        <p:txBody>
          <a:bodyPr wrap="square" lIns="0" tIns="0" rIns="0" bIns="0" anchor="ctr">
            <a:spAutoFit/>
          </a:bodyPr>
          <a:lstStyle/>
          <a:p>
            <a:pPr algn="l"/>
            <a:r>
              <a:rPr sz="1000" b="0" i="0">
                <a:solidFill>
                  <a:srgbClr val="9A938A"/>
                </a:solidFill>
                <a:latin typeface="Yu Gothic"/>
              </a:rPr>
              <a:t>14</a:t>
            </a:r>
          </a:p>
        </p:txBody>
      </p:sp>
      <p:sp>
        <p:nvSpPr>
          <p:cNvPr id="66" name="TextBox 65"/>
          <p:cNvSpPr txBox="1"/>
          <p:nvPr/>
        </p:nvSpPr>
        <p:spPr>
          <a:xfrm>
            <a:off x="1069848" y="5271516"/>
            <a:ext cx="3977640" cy="187452"/>
          </a:xfrm>
          <a:prstGeom prst="rect">
            <a:avLst/>
          </a:prstGeom>
          <a:noFill/>
        </p:spPr>
        <p:txBody>
          <a:bodyPr wrap="square" lIns="0" tIns="0" rIns="0" bIns="0" anchor="ctr">
            <a:spAutoFit/>
          </a:bodyPr>
          <a:lstStyle/>
          <a:p>
            <a:pPr algn="l"/>
            <a:r>
              <a:rPr sz="1050" b="0" i="0">
                <a:solidFill>
                  <a:srgbClr val="2A2724"/>
                </a:solidFill>
                <a:latin typeface="Yu Gothic"/>
              </a:rPr>
              <a:t>本番化・総合試験・移行</a:t>
            </a:r>
          </a:p>
        </p:txBody>
      </p:sp>
      <p:sp>
        <p:nvSpPr>
          <p:cNvPr id="67" name="TextBox 66"/>
          <p:cNvSpPr txBox="1"/>
          <p:nvPr/>
        </p:nvSpPr>
        <p:spPr>
          <a:xfrm>
            <a:off x="5074920" y="5271516"/>
            <a:ext cx="777240" cy="187452"/>
          </a:xfrm>
          <a:prstGeom prst="rect">
            <a:avLst/>
          </a:prstGeom>
          <a:noFill/>
        </p:spPr>
        <p:txBody>
          <a:bodyPr wrap="square" lIns="0" tIns="0" rIns="0" bIns="0" anchor="ctr">
            <a:spAutoFit/>
          </a:bodyPr>
          <a:lstStyle/>
          <a:p>
            <a:pPr algn="r"/>
            <a:r>
              <a:rPr sz="1050" b="0" i="0">
                <a:solidFill>
                  <a:srgbClr val="2A2724"/>
                </a:solidFill>
                <a:latin typeface="Yu Gothic"/>
              </a:rPr>
              <a:t>10人日</a:t>
            </a:r>
          </a:p>
        </p:txBody>
      </p:sp>
      <p:sp>
        <p:nvSpPr>
          <p:cNvPr id="68" name="Rounded Rectangle 67"/>
          <p:cNvSpPr/>
          <p:nvPr/>
        </p:nvSpPr>
        <p:spPr>
          <a:xfrm>
            <a:off x="502920" y="5486400"/>
            <a:ext cx="5440680" cy="187452"/>
          </a:xfrm>
          <a:prstGeom prst="roundRect">
            <a:avLst>
              <a:gd name="adj" fmla="val 0"/>
            </a:avLst>
          </a:prstGeom>
          <a:solidFill>
            <a:srgbClr val="EF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12648" y="5486400"/>
            <a:ext cx="457200" cy="187452"/>
          </a:xfrm>
          <a:prstGeom prst="rect">
            <a:avLst/>
          </a:prstGeom>
          <a:noFill/>
        </p:spPr>
        <p:txBody>
          <a:bodyPr wrap="square" lIns="0" tIns="0" rIns="0" bIns="0" anchor="ctr">
            <a:spAutoFit/>
          </a:bodyPr>
          <a:lstStyle/>
          <a:p>
            <a:pPr algn="l"/>
            <a:endParaRPr/>
          </a:p>
        </p:txBody>
      </p:sp>
      <p:sp>
        <p:nvSpPr>
          <p:cNvPr id="70" name="TextBox 69"/>
          <p:cNvSpPr txBox="1"/>
          <p:nvPr/>
        </p:nvSpPr>
        <p:spPr>
          <a:xfrm>
            <a:off x="1069848" y="5486400"/>
            <a:ext cx="3977640" cy="187452"/>
          </a:xfrm>
          <a:prstGeom prst="rect">
            <a:avLst/>
          </a:prstGeom>
          <a:noFill/>
        </p:spPr>
        <p:txBody>
          <a:bodyPr wrap="square" lIns="0" tIns="0" rIns="0" bIns="0" anchor="ctr">
            <a:spAutoFit/>
          </a:bodyPr>
          <a:lstStyle/>
          <a:p>
            <a:pPr algn="l"/>
            <a:r>
              <a:rPr sz="1050" b="1" i="0">
                <a:solidFill>
                  <a:srgbClr val="2A2724"/>
                </a:solidFill>
                <a:latin typeface="Yu Gothic"/>
              </a:rPr>
              <a:t>小計</a:t>
            </a:r>
          </a:p>
        </p:txBody>
      </p:sp>
      <p:sp>
        <p:nvSpPr>
          <p:cNvPr id="71" name="TextBox 70"/>
          <p:cNvSpPr txBox="1"/>
          <p:nvPr/>
        </p:nvSpPr>
        <p:spPr>
          <a:xfrm>
            <a:off x="5074920" y="5486400"/>
            <a:ext cx="777240" cy="187452"/>
          </a:xfrm>
          <a:prstGeom prst="rect">
            <a:avLst/>
          </a:prstGeom>
          <a:noFill/>
        </p:spPr>
        <p:txBody>
          <a:bodyPr wrap="square" lIns="0" tIns="0" rIns="0" bIns="0" anchor="ctr">
            <a:spAutoFit/>
          </a:bodyPr>
          <a:lstStyle/>
          <a:p>
            <a:pPr algn="r"/>
            <a:r>
              <a:rPr sz="1050" b="1" i="0">
                <a:solidFill>
                  <a:srgbClr val="2A2724"/>
                </a:solidFill>
                <a:latin typeface="Yu Gothic"/>
              </a:rPr>
              <a:t>63人日</a:t>
            </a:r>
          </a:p>
        </p:txBody>
      </p:sp>
      <p:sp>
        <p:nvSpPr>
          <p:cNvPr id="72" name="TextBox 71"/>
          <p:cNvSpPr txBox="1"/>
          <p:nvPr/>
        </p:nvSpPr>
        <p:spPr>
          <a:xfrm>
            <a:off x="6245352" y="2578608"/>
            <a:ext cx="5440680" cy="219456"/>
          </a:xfrm>
          <a:prstGeom prst="rect">
            <a:avLst/>
          </a:prstGeom>
          <a:noFill/>
        </p:spPr>
        <p:txBody>
          <a:bodyPr wrap="square" lIns="0" tIns="0" rIns="0" bIns="0" anchor="t">
            <a:spAutoFit/>
          </a:bodyPr>
          <a:lstStyle/>
          <a:p>
            <a:pPr algn="l"/>
            <a:r>
              <a:rPr sz="1200" b="1" i="0">
                <a:solidFill>
                  <a:srgbClr val="A85A1F"/>
                </a:solidFill>
                <a:latin typeface="Yu Gothic"/>
              </a:rPr>
              <a:t>当社推奨追加機能（10人日）</a:t>
            </a:r>
          </a:p>
        </p:txBody>
      </p:sp>
      <p:sp>
        <p:nvSpPr>
          <p:cNvPr id="73" name="Rounded Rectangle 72"/>
          <p:cNvSpPr/>
          <p:nvPr/>
        </p:nvSpPr>
        <p:spPr>
          <a:xfrm>
            <a:off x="6245352" y="2834640"/>
            <a:ext cx="5440680" cy="187452"/>
          </a:xfrm>
          <a:prstGeom prst="roundRect">
            <a:avLst>
              <a:gd name="adj" fmla="val 0"/>
            </a:avLst>
          </a:prstGeom>
          <a:solidFill>
            <a:srgbClr val="FC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355080" y="2834640"/>
            <a:ext cx="457200" cy="187452"/>
          </a:xfrm>
          <a:prstGeom prst="rect">
            <a:avLst/>
          </a:prstGeom>
          <a:noFill/>
        </p:spPr>
        <p:txBody>
          <a:bodyPr wrap="square" lIns="0" tIns="0" rIns="0" bIns="0" anchor="ctr">
            <a:spAutoFit/>
          </a:bodyPr>
          <a:lstStyle/>
          <a:p>
            <a:pPr algn="l"/>
            <a:r>
              <a:rPr sz="1000" b="0" i="0">
                <a:solidFill>
                  <a:srgbClr val="9A938A"/>
                </a:solidFill>
                <a:latin typeface="Yu Gothic"/>
              </a:rPr>
              <a:t>15</a:t>
            </a:r>
          </a:p>
        </p:txBody>
      </p:sp>
      <p:sp>
        <p:nvSpPr>
          <p:cNvPr id="75" name="TextBox 74"/>
          <p:cNvSpPr txBox="1"/>
          <p:nvPr/>
        </p:nvSpPr>
        <p:spPr>
          <a:xfrm>
            <a:off x="6812280" y="2834640"/>
            <a:ext cx="3977640" cy="187452"/>
          </a:xfrm>
          <a:prstGeom prst="rect">
            <a:avLst/>
          </a:prstGeom>
          <a:noFill/>
        </p:spPr>
        <p:txBody>
          <a:bodyPr wrap="square" lIns="0" tIns="0" rIns="0" bIns="0" anchor="ctr">
            <a:spAutoFit/>
          </a:bodyPr>
          <a:lstStyle/>
          <a:p>
            <a:pPr algn="l"/>
            <a:r>
              <a:rPr sz="1050" b="0" i="0">
                <a:solidFill>
                  <a:srgbClr val="2A2724"/>
                </a:solidFill>
                <a:latin typeface="Yu Gothic"/>
              </a:rPr>
              <a:t>入荷・未納管理</a:t>
            </a:r>
          </a:p>
        </p:txBody>
      </p:sp>
      <p:sp>
        <p:nvSpPr>
          <p:cNvPr id="76" name="TextBox 75"/>
          <p:cNvSpPr txBox="1"/>
          <p:nvPr/>
        </p:nvSpPr>
        <p:spPr>
          <a:xfrm>
            <a:off x="10817352" y="2834640"/>
            <a:ext cx="777240" cy="187452"/>
          </a:xfrm>
          <a:prstGeom prst="rect">
            <a:avLst/>
          </a:prstGeom>
          <a:noFill/>
        </p:spPr>
        <p:txBody>
          <a:bodyPr wrap="square" lIns="0" tIns="0" rIns="0" bIns="0" anchor="ctr">
            <a:spAutoFit/>
          </a:bodyPr>
          <a:lstStyle/>
          <a:p>
            <a:pPr algn="r"/>
            <a:r>
              <a:rPr sz="1050" b="0" i="0">
                <a:solidFill>
                  <a:srgbClr val="2A2724"/>
                </a:solidFill>
                <a:latin typeface="Yu Gothic"/>
              </a:rPr>
              <a:t>4人日</a:t>
            </a:r>
          </a:p>
        </p:txBody>
      </p:sp>
      <p:sp>
        <p:nvSpPr>
          <p:cNvPr id="77" name="Rounded Rectangle 76"/>
          <p:cNvSpPr/>
          <p:nvPr/>
        </p:nvSpPr>
        <p:spPr>
          <a:xfrm>
            <a:off x="6245352" y="3022092"/>
            <a:ext cx="5440680" cy="187452"/>
          </a:xfrm>
          <a:prstGeom prst="roundRect">
            <a:avLst>
              <a:gd name="adj" fmla="val 0"/>
            </a:avLst>
          </a:prstGeom>
          <a:solidFill>
            <a:srgbClr val="FC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355080" y="3022092"/>
            <a:ext cx="457200" cy="187452"/>
          </a:xfrm>
          <a:prstGeom prst="rect">
            <a:avLst/>
          </a:prstGeom>
          <a:noFill/>
        </p:spPr>
        <p:txBody>
          <a:bodyPr wrap="square" lIns="0" tIns="0" rIns="0" bIns="0" anchor="ctr">
            <a:spAutoFit/>
          </a:bodyPr>
          <a:lstStyle/>
          <a:p>
            <a:pPr algn="l"/>
            <a:r>
              <a:rPr sz="1000" b="0" i="0">
                <a:solidFill>
                  <a:srgbClr val="9A938A"/>
                </a:solidFill>
                <a:latin typeface="Yu Gothic"/>
              </a:rPr>
              <a:t>16</a:t>
            </a:r>
          </a:p>
        </p:txBody>
      </p:sp>
      <p:sp>
        <p:nvSpPr>
          <p:cNvPr id="79" name="TextBox 78"/>
          <p:cNvSpPr txBox="1"/>
          <p:nvPr/>
        </p:nvSpPr>
        <p:spPr>
          <a:xfrm>
            <a:off x="6812280" y="3022092"/>
            <a:ext cx="3977640" cy="187452"/>
          </a:xfrm>
          <a:prstGeom prst="rect">
            <a:avLst/>
          </a:prstGeom>
          <a:noFill/>
        </p:spPr>
        <p:txBody>
          <a:bodyPr wrap="square" lIns="0" tIns="0" rIns="0" bIns="0" anchor="ctr">
            <a:spAutoFit/>
          </a:bodyPr>
          <a:lstStyle/>
          <a:p>
            <a:pPr algn="l"/>
            <a:r>
              <a:rPr sz="1050" b="0" i="0">
                <a:solidFill>
                  <a:srgbClr val="2A2724"/>
                </a:solidFill>
                <a:latin typeface="Yu Gothic"/>
              </a:rPr>
              <a:t>未納Follow-up</a:t>
            </a:r>
          </a:p>
        </p:txBody>
      </p:sp>
      <p:sp>
        <p:nvSpPr>
          <p:cNvPr id="80" name="TextBox 79"/>
          <p:cNvSpPr txBox="1"/>
          <p:nvPr/>
        </p:nvSpPr>
        <p:spPr>
          <a:xfrm>
            <a:off x="10817352" y="3022092"/>
            <a:ext cx="777240" cy="187452"/>
          </a:xfrm>
          <a:prstGeom prst="rect">
            <a:avLst/>
          </a:prstGeom>
          <a:noFill/>
        </p:spPr>
        <p:txBody>
          <a:bodyPr wrap="square" lIns="0" tIns="0" rIns="0" bIns="0" anchor="ctr">
            <a:spAutoFit/>
          </a:bodyPr>
          <a:lstStyle/>
          <a:p>
            <a:pPr algn="r"/>
            <a:r>
              <a:rPr sz="1050" b="0" i="0">
                <a:solidFill>
                  <a:srgbClr val="2A2724"/>
                </a:solidFill>
                <a:latin typeface="Yu Gothic"/>
              </a:rPr>
              <a:t>3人日</a:t>
            </a:r>
          </a:p>
        </p:txBody>
      </p:sp>
      <p:sp>
        <p:nvSpPr>
          <p:cNvPr id="81" name="Rounded Rectangle 80"/>
          <p:cNvSpPr/>
          <p:nvPr/>
        </p:nvSpPr>
        <p:spPr>
          <a:xfrm>
            <a:off x="6245352" y="3209544"/>
            <a:ext cx="5440680" cy="187452"/>
          </a:xfrm>
          <a:prstGeom prst="roundRect">
            <a:avLst>
              <a:gd name="adj" fmla="val 0"/>
            </a:avLst>
          </a:prstGeom>
          <a:solidFill>
            <a:srgbClr val="FC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355080" y="3209544"/>
            <a:ext cx="457200" cy="187452"/>
          </a:xfrm>
          <a:prstGeom prst="rect">
            <a:avLst/>
          </a:prstGeom>
          <a:noFill/>
        </p:spPr>
        <p:txBody>
          <a:bodyPr wrap="square" lIns="0" tIns="0" rIns="0" bIns="0" anchor="ctr">
            <a:spAutoFit/>
          </a:bodyPr>
          <a:lstStyle/>
          <a:p>
            <a:pPr algn="l"/>
            <a:r>
              <a:rPr sz="1000" b="0" i="0">
                <a:solidFill>
                  <a:srgbClr val="9A938A"/>
                </a:solidFill>
                <a:latin typeface="Yu Gothic"/>
              </a:rPr>
              <a:t>17</a:t>
            </a:r>
          </a:p>
        </p:txBody>
      </p:sp>
      <p:sp>
        <p:nvSpPr>
          <p:cNvPr id="83" name="TextBox 82"/>
          <p:cNvSpPr txBox="1"/>
          <p:nvPr/>
        </p:nvSpPr>
        <p:spPr>
          <a:xfrm>
            <a:off x="6812280" y="3209544"/>
            <a:ext cx="3977640" cy="187452"/>
          </a:xfrm>
          <a:prstGeom prst="rect">
            <a:avLst/>
          </a:prstGeom>
          <a:noFill/>
        </p:spPr>
        <p:txBody>
          <a:bodyPr wrap="square" lIns="0" tIns="0" rIns="0" bIns="0" anchor="ctr">
            <a:spAutoFit/>
          </a:bodyPr>
          <a:lstStyle/>
          <a:p>
            <a:pPr algn="l"/>
            <a:r>
              <a:rPr sz="1050" b="0" i="0">
                <a:solidFill>
                  <a:srgbClr val="2A2724"/>
                </a:solidFill>
                <a:latin typeface="Yu Gothic"/>
              </a:rPr>
              <a:t>発注Dashboard</a:t>
            </a:r>
          </a:p>
        </p:txBody>
      </p:sp>
      <p:sp>
        <p:nvSpPr>
          <p:cNvPr id="84" name="TextBox 83"/>
          <p:cNvSpPr txBox="1"/>
          <p:nvPr/>
        </p:nvSpPr>
        <p:spPr>
          <a:xfrm>
            <a:off x="10817352" y="3209544"/>
            <a:ext cx="777240" cy="187452"/>
          </a:xfrm>
          <a:prstGeom prst="rect">
            <a:avLst/>
          </a:prstGeom>
          <a:noFill/>
        </p:spPr>
        <p:txBody>
          <a:bodyPr wrap="square" lIns="0" tIns="0" rIns="0" bIns="0" anchor="ctr">
            <a:spAutoFit/>
          </a:bodyPr>
          <a:lstStyle/>
          <a:p>
            <a:pPr algn="r"/>
            <a:r>
              <a:rPr sz="1050" b="0" i="0">
                <a:solidFill>
                  <a:srgbClr val="2A2724"/>
                </a:solidFill>
                <a:latin typeface="Yu Gothic"/>
              </a:rPr>
              <a:t>3人日</a:t>
            </a:r>
          </a:p>
        </p:txBody>
      </p:sp>
      <p:sp>
        <p:nvSpPr>
          <p:cNvPr id="85" name="Rounded Rectangle 84"/>
          <p:cNvSpPr/>
          <p:nvPr/>
        </p:nvSpPr>
        <p:spPr>
          <a:xfrm>
            <a:off x="6245352" y="3424428"/>
            <a:ext cx="5440680" cy="187452"/>
          </a:xfrm>
          <a:prstGeom prst="roundRect">
            <a:avLst>
              <a:gd name="adj" fmla="val 0"/>
            </a:avLst>
          </a:prstGeom>
          <a:solidFill>
            <a:srgbClr val="F6E1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355080" y="3424428"/>
            <a:ext cx="457200" cy="187452"/>
          </a:xfrm>
          <a:prstGeom prst="rect">
            <a:avLst/>
          </a:prstGeom>
          <a:noFill/>
        </p:spPr>
        <p:txBody>
          <a:bodyPr wrap="square" lIns="0" tIns="0" rIns="0" bIns="0" anchor="ctr">
            <a:spAutoFit/>
          </a:bodyPr>
          <a:lstStyle/>
          <a:p>
            <a:pPr algn="l"/>
            <a:endParaRPr/>
          </a:p>
        </p:txBody>
      </p:sp>
      <p:sp>
        <p:nvSpPr>
          <p:cNvPr id="87" name="TextBox 86"/>
          <p:cNvSpPr txBox="1"/>
          <p:nvPr/>
        </p:nvSpPr>
        <p:spPr>
          <a:xfrm>
            <a:off x="6812280" y="3424428"/>
            <a:ext cx="3977640" cy="187452"/>
          </a:xfrm>
          <a:prstGeom prst="rect">
            <a:avLst/>
          </a:prstGeom>
          <a:noFill/>
        </p:spPr>
        <p:txBody>
          <a:bodyPr wrap="square" lIns="0" tIns="0" rIns="0" bIns="0" anchor="ctr">
            <a:spAutoFit/>
          </a:bodyPr>
          <a:lstStyle/>
          <a:p>
            <a:pPr algn="l"/>
            <a:r>
              <a:rPr sz="1050" b="1" i="0">
                <a:solidFill>
                  <a:srgbClr val="2A2724"/>
                </a:solidFill>
                <a:latin typeface="Yu Gothic"/>
              </a:rPr>
              <a:t>小計</a:t>
            </a:r>
          </a:p>
        </p:txBody>
      </p:sp>
      <p:sp>
        <p:nvSpPr>
          <p:cNvPr id="88" name="TextBox 87"/>
          <p:cNvSpPr txBox="1"/>
          <p:nvPr/>
        </p:nvSpPr>
        <p:spPr>
          <a:xfrm>
            <a:off x="10817352" y="3424428"/>
            <a:ext cx="777240" cy="187452"/>
          </a:xfrm>
          <a:prstGeom prst="rect">
            <a:avLst/>
          </a:prstGeom>
          <a:noFill/>
        </p:spPr>
        <p:txBody>
          <a:bodyPr wrap="square" lIns="0" tIns="0" rIns="0" bIns="0" anchor="ctr">
            <a:spAutoFit/>
          </a:bodyPr>
          <a:lstStyle/>
          <a:p>
            <a:pPr algn="r"/>
            <a:r>
              <a:rPr sz="1050" b="1" i="0">
                <a:solidFill>
                  <a:srgbClr val="2A2724"/>
                </a:solidFill>
                <a:latin typeface="Yu Gothic"/>
              </a:rPr>
              <a:t>10人日</a:t>
            </a:r>
          </a:p>
        </p:txBody>
      </p:sp>
      <p:sp>
        <p:nvSpPr>
          <p:cNvPr id="89" name="TextBox 88"/>
          <p:cNvSpPr txBox="1"/>
          <p:nvPr/>
        </p:nvSpPr>
        <p:spPr>
          <a:xfrm>
            <a:off x="6245352" y="3794760"/>
            <a:ext cx="5440680" cy="1005840"/>
          </a:xfrm>
          <a:prstGeom prst="rect">
            <a:avLst/>
          </a:prstGeom>
          <a:noFill/>
        </p:spPr>
        <p:txBody>
          <a:bodyPr wrap="square" lIns="0" tIns="0" rIns="0" bIns="0" anchor="t">
            <a:spAutoFit/>
          </a:bodyPr>
          <a:lstStyle/>
          <a:p>
            <a:pPr algn="l">
              <a:lnSpc>
                <a:spcPct val="130000"/>
              </a:lnSpc>
            </a:pPr>
            <a:r>
              <a:rPr sz="1050" b="0" i="0">
                <a:solidFill>
                  <a:srgbClr val="6B655D"/>
                </a:solidFill>
                <a:latin typeface="Yu Gothic"/>
              </a:rPr>
              <a:t>実運用では、発注して終わりではなく、入荷・未納・Follow-upまで含めて一連の業務です。この10人日は、その部分をカバーします。</a:t>
            </a:r>
          </a:p>
          <a:p>
            <a:pPr algn="l">
              <a:lnSpc>
                <a:spcPct val="130000"/>
              </a:lnSpc>
            </a:pPr>
            <a:endParaRPr sz="1050" b="0" i="0">
              <a:solidFill>
                <a:srgbClr val="6B655D"/>
              </a:solidFill>
              <a:latin typeface="Yu Gothic"/>
            </a:endParaRPr>
          </a:p>
          <a:p>
            <a:pPr algn="l">
              <a:lnSpc>
                <a:spcPct val="130000"/>
              </a:lnSpc>
            </a:pPr>
            <a:r>
              <a:rPr sz="1050" b="0" i="0">
                <a:solidFill>
                  <a:srgbClr val="6B655D"/>
                </a:solidFill>
                <a:latin typeface="Yu Gothic"/>
              </a:rPr>
              <a:t>基本機能63人日は、単独のプランではなく、73人日の積算根拠（内訳）です。</a:t>
            </a:r>
          </a:p>
        </p:txBody>
      </p:sp>
      <p:sp>
        <p:nvSpPr>
          <p:cNvPr id="90" name="Rounded Rectangle 89"/>
          <p:cNvSpPr/>
          <p:nvPr/>
        </p:nvSpPr>
        <p:spPr>
          <a:xfrm>
            <a:off x="502920" y="6080760"/>
            <a:ext cx="10756019" cy="502920"/>
          </a:xfrm>
          <a:prstGeom prst="roundRect">
            <a:avLst>
              <a:gd name="adj" fmla="val 6000"/>
            </a:avLst>
          </a:prstGeom>
          <a:solidFill>
            <a:srgbClr val="EF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777240" y="6228345"/>
            <a:ext cx="10152017" cy="207749"/>
          </a:xfrm>
          <a:prstGeom prst="rect">
            <a:avLst/>
          </a:prstGeom>
          <a:noFill/>
        </p:spPr>
        <p:txBody>
          <a:bodyPr wrap="square" lIns="0" tIns="0" rIns="0" bIns="0" anchor="ctr">
            <a:spAutoFit/>
          </a:bodyPr>
          <a:lstStyle/>
          <a:p>
            <a:pPr algn="l"/>
            <a:r>
              <a:rPr sz="1350" b="1" i="0" dirty="0" err="1">
                <a:solidFill>
                  <a:srgbClr val="2A2724"/>
                </a:solidFill>
                <a:latin typeface="Yu Gothic"/>
              </a:rPr>
              <a:t>基本機能</a:t>
            </a:r>
            <a:r>
              <a:rPr sz="1350" b="1" i="0" dirty="0">
                <a:solidFill>
                  <a:srgbClr val="2A2724"/>
                </a:solidFill>
                <a:latin typeface="Yu Gothic"/>
              </a:rPr>
              <a:t> 63人日　＋　</a:t>
            </a:r>
            <a:r>
              <a:rPr sz="1350" b="1" i="0" dirty="0" err="1">
                <a:solidFill>
                  <a:srgbClr val="2A2724"/>
                </a:solidFill>
                <a:latin typeface="Yu Gothic"/>
              </a:rPr>
              <a:t>当社推奨追加機能</a:t>
            </a:r>
            <a:r>
              <a:rPr sz="1350" b="1" i="0" dirty="0">
                <a:solidFill>
                  <a:srgbClr val="2A2724"/>
                </a:solidFill>
                <a:latin typeface="Yu Gothic"/>
              </a:rPr>
              <a:t> 10人日　＝　</a:t>
            </a:r>
            <a:r>
              <a:rPr lang="ja-JP" altLang="en-US" sz="1350" b="1" i="0" dirty="0">
                <a:solidFill>
                  <a:srgbClr val="2A2724"/>
                </a:solidFill>
                <a:latin typeface="Yu Gothic"/>
              </a:rPr>
              <a:t>弊社</a:t>
            </a:r>
            <a:r>
              <a:rPr sz="1350" b="1" i="0" dirty="0" err="1">
                <a:solidFill>
                  <a:srgbClr val="2A2724"/>
                </a:solidFill>
                <a:latin typeface="Yu Gothic"/>
              </a:rPr>
              <a:t>推奨構成</a:t>
            </a:r>
            <a:r>
              <a:rPr sz="1350" b="1" i="0" dirty="0">
                <a:solidFill>
                  <a:srgbClr val="2A2724"/>
                </a:solidFill>
                <a:latin typeface="Yu Gothic"/>
              </a:rPr>
              <a:t> 73人日</a:t>
            </a:r>
          </a:p>
        </p:txBody>
      </p:sp>
      <p:sp>
        <p:nvSpPr>
          <p:cNvPr id="92" name="TextBox 91"/>
          <p:cNvSpPr txBox="1"/>
          <p:nvPr/>
        </p:nvSpPr>
        <p:spPr>
          <a:xfrm>
            <a:off x="6245352" y="4937760"/>
            <a:ext cx="5440680" cy="1005840"/>
          </a:xfrm>
          <a:prstGeom prst="rect">
            <a:avLst/>
          </a:prstGeom>
          <a:noFill/>
        </p:spPr>
        <p:txBody>
          <a:bodyPr wrap="square" lIns="0" tIns="0" rIns="0" bIns="0" anchor="t">
            <a:spAutoFit/>
          </a:bodyPr>
          <a:lstStyle/>
          <a:p>
            <a:pPr algn="l">
              <a:lnSpc>
                <a:spcPct val="130000"/>
              </a:lnSpc>
            </a:pPr>
            <a:r>
              <a:rPr sz="1050" b="0">
                <a:solidFill>
                  <a:srgbClr val="6B655D"/>
                </a:solidFill>
                <a:latin typeface="Yu Gothic"/>
              </a:rPr>
              <a:t>※ 参考価格は初期導入費を想定しています。リリース後の運用保守費、クラウド利用料、Optionおよび追加開発費は含みません（別途ご提案）。</a:t>
            </a:r>
          </a:p>
        </p:txBody>
      </p:sp>
      <p:pic>
        <p:nvPicPr>
          <p:cNvPr id="93" name="図 92">
            <a:extLst>
              <a:ext uri="{FF2B5EF4-FFF2-40B4-BE49-F238E27FC236}">
                <a16:creationId xmlns:a16="http://schemas.microsoft.com/office/drawing/2014/main" id="{EEACDB12-888C-5B76-990F-2694F7344ED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OPTION SECTION</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16 / 24</a:t>
            </a:r>
          </a:p>
        </p:txBody>
      </p:sp>
      <p:sp>
        <p:nvSpPr>
          <p:cNvPr id="4" name="TextBox 3"/>
          <p:cNvSpPr txBox="1"/>
          <p:nvPr/>
        </p:nvSpPr>
        <p:spPr>
          <a:xfrm>
            <a:off x="502920" y="1554480"/>
            <a:ext cx="11183112" cy="731520"/>
          </a:xfrm>
          <a:prstGeom prst="rect">
            <a:avLst/>
          </a:prstGeom>
          <a:noFill/>
        </p:spPr>
        <p:txBody>
          <a:bodyPr wrap="square" lIns="0" tIns="0" rIns="0" bIns="0" anchor="t">
            <a:spAutoFit/>
          </a:bodyPr>
          <a:lstStyle/>
          <a:p>
            <a:pPr algn="l"/>
            <a:r>
              <a:rPr sz="3400" b="1" i="0">
                <a:solidFill>
                  <a:srgbClr val="2A2724"/>
                </a:solidFill>
                <a:latin typeface="Yu Gothic"/>
              </a:rPr>
              <a:t>さらにG-OPSでできること</a:t>
            </a:r>
          </a:p>
        </p:txBody>
      </p:sp>
      <p:sp>
        <p:nvSpPr>
          <p:cNvPr id="5" name="TextBox 4"/>
          <p:cNvSpPr txBox="1"/>
          <p:nvPr/>
        </p:nvSpPr>
        <p:spPr>
          <a:xfrm>
            <a:off x="502920" y="2286000"/>
            <a:ext cx="11183112" cy="457200"/>
          </a:xfrm>
          <a:prstGeom prst="rect">
            <a:avLst/>
          </a:prstGeom>
          <a:noFill/>
        </p:spPr>
        <p:txBody>
          <a:bodyPr wrap="square" lIns="0" tIns="0" rIns="0" bIns="0" anchor="t">
            <a:spAutoFit/>
          </a:bodyPr>
          <a:lstStyle/>
          <a:p>
            <a:pPr algn="l"/>
            <a:r>
              <a:rPr sz="1500" b="0" i="0">
                <a:solidFill>
                  <a:srgbClr val="6B655D"/>
                </a:solidFill>
                <a:latin typeface="Yu Gothic"/>
              </a:rPr>
              <a:t>G-OPSを共通業務基盤として、段階的に業務領域を拡張できます。</a:t>
            </a:r>
          </a:p>
        </p:txBody>
      </p:sp>
      <p:sp>
        <p:nvSpPr>
          <p:cNvPr id="6" name="Rounded Rectangle 5"/>
          <p:cNvSpPr/>
          <p:nvPr/>
        </p:nvSpPr>
        <p:spPr>
          <a:xfrm>
            <a:off x="502920" y="2880360"/>
            <a:ext cx="960120" cy="274320"/>
          </a:xfrm>
          <a:prstGeom prst="roundRect">
            <a:avLst>
              <a:gd name="adj" fmla="val 50000"/>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Yu Gothic"/>
              </a:rPr>
              <a:t>OPTION</a:t>
            </a:r>
          </a:p>
        </p:txBody>
      </p:sp>
      <p:sp>
        <p:nvSpPr>
          <p:cNvPr id="7" name="TextBox 6"/>
          <p:cNvSpPr txBox="1"/>
          <p:nvPr/>
        </p:nvSpPr>
        <p:spPr>
          <a:xfrm>
            <a:off x="1600200" y="2880360"/>
            <a:ext cx="7132320" cy="274320"/>
          </a:xfrm>
          <a:prstGeom prst="rect">
            <a:avLst/>
          </a:prstGeom>
          <a:noFill/>
        </p:spPr>
        <p:txBody>
          <a:bodyPr wrap="square" lIns="0" tIns="0" rIns="0" bIns="0" anchor="ctr">
            <a:spAutoFit/>
          </a:bodyPr>
          <a:lstStyle/>
          <a:p>
            <a:pPr algn="l"/>
            <a:r>
              <a:rPr sz="1200" b="1" i="0">
                <a:solidFill>
                  <a:srgbClr val="A85A1F"/>
                </a:solidFill>
                <a:latin typeface="Yu Gothic"/>
              </a:rPr>
              <a:t>今回の推奨構成 73人日には含まれません</a:t>
            </a:r>
          </a:p>
        </p:txBody>
      </p:sp>
      <p:sp>
        <p:nvSpPr>
          <p:cNvPr id="8" name="Rounded Rectangle 7"/>
          <p:cNvSpPr/>
          <p:nvPr/>
        </p:nvSpPr>
        <p:spPr>
          <a:xfrm>
            <a:off x="502920" y="3520440"/>
            <a:ext cx="2048256" cy="1417320"/>
          </a:xfrm>
          <a:prstGeom prst="roundRect">
            <a:avLst>
              <a:gd name="adj" fmla="val 6000"/>
            </a:avLst>
          </a:prstGeom>
          <a:solidFill>
            <a:srgbClr val="FBF2E8"/>
          </a:solidFill>
          <a:ln w="15875">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3685032"/>
            <a:ext cx="2048256" cy="457200"/>
          </a:xfrm>
          <a:prstGeom prst="rect">
            <a:avLst/>
          </a:prstGeom>
          <a:noFill/>
        </p:spPr>
        <p:txBody>
          <a:bodyPr wrap="square" lIns="0" tIns="0" rIns="0" bIns="0" anchor="t">
            <a:spAutoFit/>
          </a:bodyPr>
          <a:lstStyle/>
          <a:p>
            <a:pPr algn="ctr"/>
            <a:r>
              <a:rPr sz="2200" b="1" i="0">
                <a:solidFill>
                  <a:srgbClr val="C8722F"/>
                </a:solidFill>
                <a:latin typeface="Yu Gothic"/>
              </a:rPr>
              <a:t>A</a:t>
            </a:r>
          </a:p>
        </p:txBody>
      </p:sp>
      <p:sp>
        <p:nvSpPr>
          <p:cNvPr id="10" name="TextBox 9"/>
          <p:cNvSpPr txBox="1"/>
          <p:nvPr/>
        </p:nvSpPr>
        <p:spPr>
          <a:xfrm>
            <a:off x="640080" y="4251960"/>
            <a:ext cx="1773936" cy="594360"/>
          </a:xfrm>
          <a:prstGeom prst="rect">
            <a:avLst/>
          </a:prstGeom>
          <a:noFill/>
        </p:spPr>
        <p:txBody>
          <a:bodyPr wrap="square" lIns="0" tIns="0" rIns="0" bIns="0" anchor="t">
            <a:spAutoFit/>
          </a:bodyPr>
          <a:lstStyle/>
          <a:p>
            <a:pPr algn="ctr">
              <a:lnSpc>
                <a:spcPct val="115000"/>
              </a:lnSpc>
            </a:pPr>
            <a:r>
              <a:rPr sz="1200" b="1" i="0">
                <a:solidFill>
                  <a:srgbClr val="2A2724"/>
                </a:solidFill>
                <a:latin typeface="Yu Gothic"/>
              </a:rPr>
              <a:t>EDI実連携</a:t>
            </a:r>
          </a:p>
        </p:txBody>
      </p:sp>
      <p:sp>
        <p:nvSpPr>
          <p:cNvPr id="11" name="Rounded Rectangle 10"/>
          <p:cNvSpPr/>
          <p:nvPr/>
        </p:nvSpPr>
        <p:spPr>
          <a:xfrm>
            <a:off x="2715768" y="3520440"/>
            <a:ext cx="2048256" cy="1417320"/>
          </a:xfrm>
          <a:prstGeom prst="roundRect">
            <a:avLst>
              <a:gd name="adj" fmla="val 6000"/>
            </a:avLst>
          </a:prstGeom>
          <a:solidFill>
            <a:srgbClr val="FBF2E8"/>
          </a:solidFill>
          <a:ln w="15875">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15768" y="3685032"/>
            <a:ext cx="2048256" cy="457200"/>
          </a:xfrm>
          <a:prstGeom prst="rect">
            <a:avLst/>
          </a:prstGeom>
          <a:noFill/>
        </p:spPr>
        <p:txBody>
          <a:bodyPr wrap="square" lIns="0" tIns="0" rIns="0" bIns="0" anchor="t">
            <a:spAutoFit/>
          </a:bodyPr>
          <a:lstStyle/>
          <a:p>
            <a:pPr algn="ctr"/>
            <a:r>
              <a:rPr sz="2200" b="1" i="0">
                <a:solidFill>
                  <a:srgbClr val="C8722F"/>
                </a:solidFill>
                <a:latin typeface="Yu Gothic"/>
              </a:rPr>
              <a:t>B</a:t>
            </a:r>
          </a:p>
        </p:txBody>
      </p:sp>
      <p:sp>
        <p:nvSpPr>
          <p:cNvPr id="13" name="TextBox 12"/>
          <p:cNvSpPr txBox="1"/>
          <p:nvPr/>
        </p:nvSpPr>
        <p:spPr>
          <a:xfrm>
            <a:off x="2852928" y="4251960"/>
            <a:ext cx="1773936" cy="594360"/>
          </a:xfrm>
          <a:prstGeom prst="rect">
            <a:avLst/>
          </a:prstGeom>
          <a:noFill/>
        </p:spPr>
        <p:txBody>
          <a:bodyPr wrap="square" lIns="0" tIns="0" rIns="0" bIns="0" anchor="t">
            <a:spAutoFit/>
          </a:bodyPr>
          <a:lstStyle/>
          <a:p>
            <a:pPr algn="ctr">
              <a:lnSpc>
                <a:spcPct val="115000"/>
              </a:lnSpc>
            </a:pPr>
            <a:r>
              <a:rPr sz="1200" b="1" i="0">
                <a:solidFill>
                  <a:srgbClr val="2A2724"/>
                </a:solidFill>
                <a:latin typeface="Yu Gothic"/>
              </a:rPr>
              <a:t>高度な承認Workflow</a:t>
            </a:r>
          </a:p>
        </p:txBody>
      </p:sp>
      <p:sp>
        <p:nvSpPr>
          <p:cNvPr id="14" name="Rounded Rectangle 13"/>
          <p:cNvSpPr/>
          <p:nvPr/>
        </p:nvSpPr>
        <p:spPr>
          <a:xfrm>
            <a:off x="4928616" y="3520440"/>
            <a:ext cx="2048256" cy="1417320"/>
          </a:xfrm>
          <a:prstGeom prst="roundRect">
            <a:avLst>
              <a:gd name="adj" fmla="val 6000"/>
            </a:avLst>
          </a:prstGeom>
          <a:solidFill>
            <a:srgbClr val="FBF2E8"/>
          </a:solidFill>
          <a:ln w="15875">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28616" y="3685032"/>
            <a:ext cx="2048256" cy="457200"/>
          </a:xfrm>
          <a:prstGeom prst="rect">
            <a:avLst/>
          </a:prstGeom>
          <a:noFill/>
        </p:spPr>
        <p:txBody>
          <a:bodyPr wrap="square" lIns="0" tIns="0" rIns="0" bIns="0" anchor="t">
            <a:spAutoFit/>
          </a:bodyPr>
          <a:lstStyle/>
          <a:p>
            <a:pPr algn="ctr"/>
            <a:r>
              <a:rPr sz="2200" b="1" i="0">
                <a:solidFill>
                  <a:srgbClr val="C8722F"/>
                </a:solidFill>
                <a:latin typeface="Yu Gothic"/>
              </a:rPr>
              <a:t>C</a:t>
            </a:r>
          </a:p>
        </p:txBody>
      </p:sp>
      <p:sp>
        <p:nvSpPr>
          <p:cNvPr id="16" name="TextBox 15"/>
          <p:cNvSpPr txBox="1"/>
          <p:nvPr/>
        </p:nvSpPr>
        <p:spPr>
          <a:xfrm>
            <a:off x="5065776" y="4251960"/>
            <a:ext cx="1773936" cy="594360"/>
          </a:xfrm>
          <a:prstGeom prst="rect">
            <a:avLst/>
          </a:prstGeom>
          <a:noFill/>
        </p:spPr>
        <p:txBody>
          <a:bodyPr wrap="square" lIns="0" tIns="0" rIns="0" bIns="0" anchor="t">
            <a:spAutoFit/>
          </a:bodyPr>
          <a:lstStyle/>
          <a:p>
            <a:pPr algn="ctr">
              <a:lnSpc>
                <a:spcPct val="115000"/>
              </a:lnSpc>
            </a:pPr>
            <a:r>
              <a:rPr sz="1200" b="1" i="0">
                <a:solidFill>
                  <a:srgbClr val="2A2724"/>
                </a:solidFill>
                <a:latin typeface="Yu Gothic"/>
              </a:rPr>
              <a:t>価格変更オンライン化</a:t>
            </a:r>
          </a:p>
        </p:txBody>
      </p:sp>
      <p:sp>
        <p:nvSpPr>
          <p:cNvPr id="17" name="Rounded Rectangle 16"/>
          <p:cNvSpPr/>
          <p:nvPr/>
        </p:nvSpPr>
        <p:spPr>
          <a:xfrm>
            <a:off x="7141464" y="3520440"/>
            <a:ext cx="2048256" cy="1417320"/>
          </a:xfrm>
          <a:prstGeom prst="roundRect">
            <a:avLst>
              <a:gd name="adj" fmla="val 6000"/>
            </a:avLst>
          </a:prstGeom>
          <a:solidFill>
            <a:srgbClr val="FBF2E8"/>
          </a:solidFill>
          <a:ln w="15875">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41464" y="3685032"/>
            <a:ext cx="2048256" cy="457200"/>
          </a:xfrm>
          <a:prstGeom prst="rect">
            <a:avLst/>
          </a:prstGeom>
          <a:noFill/>
        </p:spPr>
        <p:txBody>
          <a:bodyPr wrap="square" lIns="0" tIns="0" rIns="0" bIns="0" anchor="t">
            <a:spAutoFit/>
          </a:bodyPr>
          <a:lstStyle/>
          <a:p>
            <a:pPr algn="ctr"/>
            <a:r>
              <a:rPr sz="2200" b="1" i="0">
                <a:solidFill>
                  <a:srgbClr val="C8722F"/>
                </a:solidFill>
                <a:latin typeface="Yu Gothic"/>
              </a:rPr>
              <a:t>D</a:t>
            </a:r>
          </a:p>
        </p:txBody>
      </p:sp>
      <p:sp>
        <p:nvSpPr>
          <p:cNvPr id="19" name="TextBox 18"/>
          <p:cNvSpPr txBox="1"/>
          <p:nvPr/>
        </p:nvSpPr>
        <p:spPr>
          <a:xfrm>
            <a:off x="7278624" y="4251960"/>
            <a:ext cx="1773936" cy="594360"/>
          </a:xfrm>
          <a:prstGeom prst="rect">
            <a:avLst/>
          </a:prstGeom>
          <a:noFill/>
        </p:spPr>
        <p:txBody>
          <a:bodyPr wrap="square" lIns="0" tIns="0" rIns="0" bIns="0" anchor="t">
            <a:spAutoFit/>
          </a:bodyPr>
          <a:lstStyle/>
          <a:p>
            <a:pPr algn="ctr">
              <a:lnSpc>
                <a:spcPct val="115000"/>
              </a:lnSpc>
            </a:pPr>
            <a:r>
              <a:rPr sz="1200" b="1" i="0">
                <a:solidFill>
                  <a:srgbClr val="2A2724"/>
                </a:solidFill>
                <a:latin typeface="Yu Gothic"/>
              </a:rPr>
              <a:t>在庫・販売分析強化</a:t>
            </a:r>
          </a:p>
        </p:txBody>
      </p:sp>
      <p:sp>
        <p:nvSpPr>
          <p:cNvPr id="20" name="Rounded Rectangle 19"/>
          <p:cNvSpPr/>
          <p:nvPr/>
        </p:nvSpPr>
        <p:spPr>
          <a:xfrm>
            <a:off x="9354312" y="3520440"/>
            <a:ext cx="2048256" cy="1417320"/>
          </a:xfrm>
          <a:prstGeom prst="roundRect">
            <a:avLst>
              <a:gd name="adj" fmla="val 6000"/>
            </a:avLst>
          </a:prstGeom>
          <a:solidFill>
            <a:srgbClr val="FBF2E8"/>
          </a:solidFill>
          <a:ln w="15875">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54312" y="3685032"/>
            <a:ext cx="2048256" cy="457200"/>
          </a:xfrm>
          <a:prstGeom prst="rect">
            <a:avLst/>
          </a:prstGeom>
          <a:noFill/>
        </p:spPr>
        <p:txBody>
          <a:bodyPr wrap="square" lIns="0" tIns="0" rIns="0" bIns="0" anchor="t">
            <a:spAutoFit/>
          </a:bodyPr>
          <a:lstStyle/>
          <a:p>
            <a:pPr algn="ctr"/>
            <a:r>
              <a:rPr sz="2200" b="1" i="0">
                <a:solidFill>
                  <a:srgbClr val="C8722F"/>
                </a:solidFill>
                <a:latin typeface="Yu Gothic"/>
              </a:rPr>
              <a:t>E</a:t>
            </a:r>
          </a:p>
        </p:txBody>
      </p:sp>
      <p:sp>
        <p:nvSpPr>
          <p:cNvPr id="22" name="TextBox 21"/>
          <p:cNvSpPr txBox="1"/>
          <p:nvPr/>
        </p:nvSpPr>
        <p:spPr>
          <a:xfrm>
            <a:off x="9491472" y="4251960"/>
            <a:ext cx="1773936" cy="594360"/>
          </a:xfrm>
          <a:prstGeom prst="rect">
            <a:avLst/>
          </a:prstGeom>
          <a:noFill/>
        </p:spPr>
        <p:txBody>
          <a:bodyPr wrap="square" lIns="0" tIns="0" rIns="0" bIns="0" anchor="t">
            <a:spAutoFit/>
          </a:bodyPr>
          <a:lstStyle/>
          <a:p>
            <a:pPr algn="ctr">
              <a:lnSpc>
                <a:spcPct val="115000"/>
              </a:lnSpc>
            </a:pPr>
            <a:r>
              <a:rPr sz="1200" b="1" i="0">
                <a:solidFill>
                  <a:srgbClr val="2A2724"/>
                </a:solidFill>
                <a:latin typeface="Yu Gothic"/>
              </a:rPr>
              <a:t>倉庫・物流連携</a:t>
            </a:r>
          </a:p>
        </p:txBody>
      </p:sp>
      <p:sp>
        <p:nvSpPr>
          <p:cNvPr id="23" name="TextBox 22"/>
          <p:cNvSpPr txBox="1"/>
          <p:nvPr/>
        </p:nvSpPr>
        <p:spPr>
          <a:xfrm>
            <a:off x="502920" y="5257800"/>
            <a:ext cx="11183112" cy="548640"/>
          </a:xfrm>
          <a:prstGeom prst="rect">
            <a:avLst/>
          </a:prstGeom>
          <a:noFill/>
        </p:spPr>
        <p:txBody>
          <a:bodyPr wrap="square" lIns="0" tIns="0" rIns="0" bIns="0" anchor="t">
            <a:spAutoFit/>
          </a:bodyPr>
          <a:lstStyle/>
          <a:p>
            <a:pPr algn="l"/>
            <a:r>
              <a:rPr sz="1250" b="0" i="0">
                <a:solidFill>
                  <a:srgbClr val="6B655D"/>
                </a:solidFill>
                <a:latin typeface="Yu Gothic"/>
              </a:rPr>
              <a:t>実装済みのDemo画面を使ってご紹介します。実際の利用イメージを持っていただくことが目的です。</a:t>
            </a:r>
          </a:p>
        </p:txBody>
      </p:sp>
      <p:sp>
        <p:nvSpPr>
          <p:cNvPr id="24" name="TextBox 23"/>
          <p:cNvSpPr txBox="1"/>
          <p:nvPr/>
        </p:nvSpPr>
        <p:spPr>
          <a:xfrm>
            <a:off x="502920" y="5760720"/>
            <a:ext cx="11183112" cy="457200"/>
          </a:xfrm>
          <a:prstGeom prst="rect">
            <a:avLst/>
          </a:prstGeom>
          <a:noFill/>
        </p:spPr>
        <p:txBody>
          <a:bodyPr wrap="square" lIns="0" tIns="0" rIns="0" bIns="0" anchor="t">
            <a:spAutoFit/>
          </a:bodyPr>
          <a:lstStyle/>
          <a:p>
            <a:pPr algn="l"/>
            <a:r>
              <a:rPr sz="1050" b="0" i="0">
                <a:solidFill>
                  <a:srgbClr val="9A938A"/>
                </a:solidFill>
                <a:latin typeface="Yu Gothic"/>
              </a:rPr>
              <a:t>※ Demo / Foundationとして画面が動作していることと、本番でそのままご利用いただけること（Production Ready）は別です。今回の参考価格400万円にOptionは含まれません。</a:t>
            </a:r>
          </a:p>
        </p:txBody>
      </p:sp>
      <p:pic>
        <p:nvPicPr>
          <p:cNvPr id="25" name="図 24">
            <a:extLst>
              <a:ext uri="{FF2B5EF4-FFF2-40B4-BE49-F238E27FC236}">
                <a16:creationId xmlns:a16="http://schemas.microsoft.com/office/drawing/2014/main" id="{9BF5BC6E-B4A6-B72B-5C85-D3F9B6819A7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OPTION A</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17 / 24</a:t>
            </a:r>
          </a:p>
        </p:txBody>
      </p:sp>
      <p:sp>
        <p:nvSpPr>
          <p:cNvPr id="4" name="TextBox 3"/>
          <p:cNvSpPr txBox="1"/>
          <p:nvPr/>
        </p:nvSpPr>
        <p:spPr>
          <a:xfrm>
            <a:off x="502920" y="658368"/>
            <a:ext cx="11183112" cy="502920"/>
          </a:xfrm>
          <a:prstGeom prst="rect">
            <a:avLst/>
          </a:prstGeom>
          <a:noFill/>
        </p:spPr>
        <p:txBody>
          <a:bodyPr wrap="square" lIns="0" tIns="0" rIns="0" bIns="0" anchor="t">
            <a:spAutoFit/>
          </a:bodyPr>
          <a:lstStyle/>
          <a:p>
            <a:pPr algn="l"/>
            <a:r>
              <a:rPr sz="2400" b="1" i="0">
                <a:solidFill>
                  <a:srgbClr val="2A2724"/>
                </a:solidFill>
                <a:latin typeface="Yu Gothic"/>
              </a:rPr>
              <a:t>EDI実連携</a:t>
            </a:r>
          </a:p>
        </p:txBody>
      </p:sp>
      <p:sp>
        <p:nvSpPr>
          <p:cNvPr id="5" name="TextBox 4"/>
          <p:cNvSpPr txBox="1"/>
          <p:nvPr/>
        </p:nvSpPr>
        <p:spPr>
          <a:xfrm>
            <a:off x="502920" y="1170432"/>
            <a:ext cx="11183112" cy="320040"/>
          </a:xfrm>
          <a:prstGeom prst="rect">
            <a:avLst/>
          </a:prstGeom>
          <a:noFill/>
        </p:spPr>
        <p:txBody>
          <a:bodyPr wrap="square" lIns="0" tIns="0" rIns="0" bIns="0" anchor="t">
            <a:spAutoFit/>
          </a:bodyPr>
          <a:lstStyle/>
          <a:p>
            <a:pPr algn="l"/>
            <a:r>
              <a:rPr sz="1250" b="0" i="0">
                <a:solidFill>
                  <a:srgbClr val="6B655D"/>
                </a:solidFill>
                <a:latin typeface="Yu Gothic"/>
              </a:rPr>
              <a:t>現在は「EDI対象メーカーの判定・入力・完了記録」まで。外部EDIとの実自動連携が対象です。</a:t>
            </a:r>
          </a:p>
        </p:txBody>
      </p:sp>
      <p:sp>
        <p:nvSpPr>
          <p:cNvPr id="6" name="Rounded Rectangle 5"/>
          <p:cNvSpPr/>
          <p:nvPr/>
        </p:nvSpPr>
        <p:spPr>
          <a:xfrm>
            <a:off x="502920" y="1536192"/>
            <a:ext cx="960120" cy="274320"/>
          </a:xfrm>
          <a:prstGeom prst="roundRect">
            <a:avLst>
              <a:gd name="adj" fmla="val 50000"/>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Yu Gothic"/>
              </a:rPr>
              <a:t>OPTION</a:t>
            </a:r>
          </a:p>
        </p:txBody>
      </p:sp>
      <p:sp>
        <p:nvSpPr>
          <p:cNvPr id="7" name="TextBox 6"/>
          <p:cNvSpPr txBox="1"/>
          <p:nvPr/>
        </p:nvSpPr>
        <p:spPr>
          <a:xfrm>
            <a:off x="1600200" y="1536192"/>
            <a:ext cx="7132320" cy="274320"/>
          </a:xfrm>
          <a:prstGeom prst="rect">
            <a:avLst/>
          </a:prstGeom>
          <a:noFill/>
        </p:spPr>
        <p:txBody>
          <a:bodyPr wrap="square" lIns="0" tIns="0" rIns="0" bIns="0" anchor="ctr">
            <a:spAutoFit/>
          </a:bodyPr>
          <a:lstStyle/>
          <a:p>
            <a:pPr algn="l"/>
            <a:r>
              <a:rPr sz="1200" b="1" i="0">
                <a:solidFill>
                  <a:srgbClr val="A85A1F"/>
                </a:solidFill>
                <a:latin typeface="Yu Gothic"/>
              </a:rPr>
              <a:t>今回の推奨構成 73人日には含まれません</a:t>
            </a:r>
          </a:p>
        </p:txBody>
      </p:sp>
      <p:cxnSp>
        <p:nvCxnSpPr>
          <p:cNvPr id="8" name="Connector 7"/>
          <p:cNvCxnSpPr/>
          <p:nvPr/>
        </p:nvCxnSpPr>
        <p:spPr>
          <a:xfrm>
            <a:off x="502920" y="1920240"/>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2103120"/>
            <a:ext cx="5074920" cy="2286000"/>
          </a:xfrm>
          <a:prstGeom prst="rect">
            <a:avLst/>
          </a:prstGeom>
          <a:noFill/>
        </p:spPr>
        <p:txBody>
          <a:bodyPr wrap="square" lIns="0" tIns="0" rIns="0" bIns="0" anchor="t">
            <a:spAutoFit/>
          </a:bodyPr>
          <a:lstStyle/>
          <a:p>
            <a:pPr algn="l">
              <a:lnSpc>
                <a:spcPct val="135000"/>
              </a:lnSpc>
            </a:pPr>
            <a:r>
              <a:rPr sz="1250" b="0" i="0">
                <a:solidFill>
                  <a:srgbClr val="2A2724"/>
                </a:solidFill>
                <a:latin typeface="Yu Gothic"/>
              </a:rPr>
              <a:t>現在のG-OPSでは、メーカー通信方法マスタでメーカーごとにEDI対象かどうかを設定し、EDI入力状況の管理・完了記録までを行えます。</a:t>
            </a:r>
          </a:p>
          <a:p>
            <a:pPr algn="l">
              <a:lnSpc>
                <a:spcPct val="135000"/>
              </a:lnSpc>
            </a:pPr>
            <a:endParaRPr sz="1250" b="0" i="0">
              <a:solidFill>
                <a:srgbClr val="2A2724"/>
              </a:solidFill>
              <a:latin typeface="Yu Gothic"/>
            </a:endParaRPr>
          </a:p>
          <a:p>
            <a:pPr algn="l">
              <a:lnSpc>
                <a:spcPct val="135000"/>
              </a:lnSpc>
            </a:pPr>
            <a:r>
              <a:rPr sz="1250" b="0" i="0">
                <a:solidFill>
                  <a:srgbClr val="2A2724"/>
                </a:solidFill>
                <a:latin typeface="Yu Gothic"/>
              </a:rPr>
              <a:t>Option Aでは、この先にある「外部EDIシステムとの実際の送受信」までを拡張するイメージです。送信結果をG-OPS側のStatusへ反映するところまでを想定しています。</a:t>
            </a:r>
          </a:p>
        </p:txBody>
      </p:sp>
      <p:sp>
        <p:nvSpPr>
          <p:cNvPr id="10" name="Rounded Rectangle 9"/>
          <p:cNvSpPr/>
          <p:nvPr/>
        </p:nvSpPr>
        <p:spPr>
          <a:xfrm>
            <a:off x="502920" y="4572000"/>
            <a:ext cx="932688" cy="685800"/>
          </a:xfrm>
          <a:prstGeom prst="roundRect">
            <a:avLst>
              <a:gd name="adj" fmla="val 6000"/>
            </a:avLst>
          </a:prstGeom>
          <a:solidFill>
            <a:srgbClr val="FFFFFF"/>
          </a:solidFill>
          <a:ln w="13970">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i="0">
                <a:solidFill>
                  <a:srgbClr val="2A2724"/>
                </a:solidFill>
                <a:latin typeface="Yu Gothic"/>
              </a:rPr>
              <a:t>G-OPS</a:t>
            </a:r>
          </a:p>
          <a:p>
            <a:pPr algn="ctr"/>
            <a:r>
              <a:rPr sz="950" b="1" i="0">
                <a:solidFill>
                  <a:srgbClr val="2A2724"/>
                </a:solidFill>
                <a:latin typeface="Yu Gothic"/>
              </a:rPr>
              <a:t>(EDI対象管理)</a:t>
            </a:r>
          </a:p>
        </p:txBody>
      </p:sp>
      <p:sp>
        <p:nvSpPr>
          <p:cNvPr id="11" name="Right Arrow 10"/>
          <p:cNvSpPr/>
          <p:nvPr/>
        </p:nvSpPr>
        <p:spPr>
          <a:xfrm>
            <a:off x="1440180" y="4791456"/>
            <a:ext cx="82296" cy="246888"/>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527048" y="4572000"/>
            <a:ext cx="932688" cy="685800"/>
          </a:xfrm>
          <a:prstGeom prst="roundRect">
            <a:avLst>
              <a:gd name="adj" fmla="val 6000"/>
            </a:avLst>
          </a:prstGeom>
          <a:solidFill>
            <a:srgbClr val="FFFFFF"/>
          </a:solidFill>
          <a:ln w="13970">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i="0">
                <a:solidFill>
                  <a:srgbClr val="2A2724"/>
                </a:solidFill>
                <a:latin typeface="Yu Gothic"/>
              </a:rPr>
              <a:t>EDI実連携</a:t>
            </a:r>
          </a:p>
        </p:txBody>
      </p:sp>
      <p:sp>
        <p:nvSpPr>
          <p:cNvPr id="13" name="Right Arrow 12"/>
          <p:cNvSpPr/>
          <p:nvPr/>
        </p:nvSpPr>
        <p:spPr>
          <a:xfrm>
            <a:off x="2464308" y="4791456"/>
            <a:ext cx="82296" cy="246888"/>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551176" y="4572000"/>
            <a:ext cx="932688" cy="685800"/>
          </a:xfrm>
          <a:prstGeom prst="roundRect">
            <a:avLst>
              <a:gd name="adj" fmla="val 6000"/>
            </a:avLst>
          </a:prstGeom>
          <a:solidFill>
            <a:srgbClr val="FFFFFF"/>
          </a:solidFill>
          <a:ln w="13970">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i="0">
                <a:solidFill>
                  <a:srgbClr val="2A2724"/>
                </a:solidFill>
                <a:latin typeface="Yu Gothic"/>
              </a:rPr>
              <a:t>外部EDI</a:t>
            </a:r>
          </a:p>
        </p:txBody>
      </p:sp>
      <p:sp>
        <p:nvSpPr>
          <p:cNvPr id="15" name="Right Arrow 14"/>
          <p:cNvSpPr/>
          <p:nvPr/>
        </p:nvSpPr>
        <p:spPr>
          <a:xfrm>
            <a:off x="3488436" y="4791456"/>
            <a:ext cx="82296" cy="246888"/>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575304" y="4572000"/>
            <a:ext cx="932688" cy="685800"/>
          </a:xfrm>
          <a:prstGeom prst="roundRect">
            <a:avLst>
              <a:gd name="adj" fmla="val 6000"/>
            </a:avLst>
          </a:prstGeom>
          <a:solidFill>
            <a:srgbClr val="FFFFFF"/>
          </a:solidFill>
          <a:ln w="13970">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i="0">
                <a:solidFill>
                  <a:srgbClr val="2A2724"/>
                </a:solidFill>
                <a:latin typeface="Yu Gothic"/>
              </a:rPr>
              <a:t>送信結果</a:t>
            </a:r>
          </a:p>
        </p:txBody>
      </p:sp>
      <p:sp>
        <p:nvSpPr>
          <p:cNvPr id="17" name="Right Arrow 16"/>
          <p:cNvSpPr/>
          <p:nvPr/>
        </p:nvSpPr>
        <p:spPr>
          <a:xfrm>
            <a:off x="4512564" y="4791456"/>
            <a:ext cx="82296" cy="246888"/>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99432" y="4572000"/>
            <a:ext cx="932688" cy="685800"/>
          </a:xfrm>
          <a:prstGeom prst="roundRect">
            <a:avLst>
              <a:gd name="adj" fmla="val 6000"/>
            </a:avLst>
          </a:prstGeom>
          <a:solidFill>
            <a:srgbClr val="FFFFFF"/>
          </a:solidFill>
          <a:ln w="13970">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i="0">
                <a:solidFill>
                  <a:srgbClr val="2A2724"/>
                </a:solidFill>
                <a:latin typeface="Yu Gothic"/>
              </a:rPr>
              <a:t>G-OPSへ</a:t>
            </a:r>
          </a:p>
          <a:p>
            <a:pPr algn="ctr"/>
            <a:r>
              <a:rPr sz="950" b="1" i="0">
                <a:solidFill>
                  <a:srgbClr val="2A2724"/>
                </a:solidFill>
                <a:latin typeface="Yu Gothic"/>
              </a:rPr>
              <a:t>Status反映</a:t>
            </a:r>
          </a:p>
        </p:txBody>
      </p:sp>
      <p:sp>
        <p:nvSpPr>
          <p:cNvPr id="19" name="TextBox 18"/>
          <p:cNvSpPr txBox="1"/>
          <p:nvPr/>
        </p:nvSpPr>
        <p:spPr>
          <a:xfrm>
            <a:off x="502919" y="5440680"/>
            <a:ext cx="5176313" cy="195503"/>
          </a:xfrm>
          <a:prstGeom prst="rect">
            <a:avLst/>
          </a:prstGeom>
          <a:noFill/>
        </p:spPr>
        <p:txBody>
          <a:bodyPr wrap="square" lIns="0" tIns="0" rIns="0" bIns="0" anchor="t">
            <a:spAutoFit/>
          </a:bodyPr>
          <a:lstStyle/>
          <a:p>
            <a:pPr algn="l">
              <a:lnSpc>
                <a:spcPct val="130000"/>
              </a:lnSpc>
            </a:pPr>
            <a:r>
              <a:rPr sz="1050" b="0" i="0" dirty="0" err="1">
                <a:solidFill>
                  <a:srgbClr val="6B655D"/>
                </a:solidFill>
                <a:latin typeface="Yu Gothic"/>
              </a:rPr>
              <a:t>外部EDIの仕様は現時点で未確定です。仕様確定後、実連携まで拡張可能な構成です</a:t>
            </a:r>
            <a:r>
              <a:rPr sz="1050" b="0" i="0" dirty="0">
                <a:solidFill>
                  <a:srgbClr val="6B655D"/>
                </a:solidFill>
                <a:latin typeface="Yu Gothic"/>
              </a:rPr>
              <a:t>。</a:t>
            </a:r>
          </a:p>
        </p:txBody>
      </p:sp>
      <p:sp>
        <p:nvSpPr>
          <p:cNvPr id="20" name="Rounded Rectangle 19"/>
          <p:cNvSpPr/>
          <p:nvPr/>
        </p:nvSpPr>
        <p:spPr>
          <a:xfrm>
            <a:off x="6172200" y="2103120"/>
            <a:ext cx="5513832" cy="356616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2200" y="2103120"/>
            <a:ext cx="5513832"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263640"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391656"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519672"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0" y="2103120"/>
            <a:ext cx="4873752" cy="237744"/>
          </a:xfrm>
          <a:prstGeom prst="rect">
            <a:avLst/>
          </a:prstGeom>
          <a:noFill/>
        </p:spPr>
        <p:txBody>
          <a:bodyPr wrap="square" lIns="0" tIns="0" rIns="0" bIns="0" anchor="ctr">
            <a:spAutoFit/>
          </a:bodyPr>
          <a:lstStyle/>
          <a:p>
            <a:pPr algn="l"/>
            <a:r>
              <a:rPr sz="900" b="0" i="0">
                <a:solidFill>
                  <a:srgbClr val="9A938A"/>
                </a:solidFill>
                <a:latin typeface="Yu Gothic"/>
              </a:rPr>
              <a:t>gops.local/admin/manufacturer-channels</a:t>
            </a:r>
          </a:p>
        </p:txBody>
      </p:sp>
      <p:pic>
        <p:nvPicPr>
          <p:cNvPr id="26" name="Picture 25" descr="31-manufacturer-channel-edit-dialog-cropped-ja.png__1.8384__top__0.00.png"/>
          <p:cNvPicPr>
            <a:picLocks noChangeAspect="1"/>
          </p:cNvPicPr>
          <p:nvPr/>
        </p:nvPicPr>
        <p:blipFill>
          <a:blip r:embed="rId2"/>
          <a:stretch>
            <a:fillRect/>
          </a:stretch>
        </p:blipFill>
        <p:spPr>
          <a:xfrm>
            <a:off x="6172200" y="2340864"/>
            <a:ext cx="5513832" cy="2999232"/>
          </a:xfrm>
          <a:prstGeom prst="rect">
            <a:avLst/>
          </a:prstGeom>
        </p:spPr>
      </p:pic>
      <p:cxnSp>
        <p:nvCxnSpPr>
          <p:cNvPr id="27" name="Connector 26"/>
          <p:cNvCxnSpPr/>
          <p:nvPr/>
        </p:nvCxnSpPr>
        <p:spPr>
          <a:xfrm>
            <a:off x="6263640" y="5358384"/>
            <a:ext cx="533095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281928" y="5394960"/>
            <a:ext cx="5294376" cy="274320"/>
          </a:xfrm>
          <a:prstGeom prst="rect">
            <a:avLst/>
          </a:prstGeom>
          <a:noFill/>
        </p:spPr>
        <p:txBody>
          <a:bodyPr wrap="square" lIns="0" tIns="0" rIns="0" bIns="0" anchor="t">
            <a:spAutoFit/>
          </a:bodyPr>
          <a:lstStyle/>
          <a:p>
            <a:pPr algn="l"/>
            <a:r>
              <a:rPr sz="1050" b="0" i="0">
                <a:solidFill>
                  <a:srgbClr val="6B655D"/>
                </a:solidFill>
                <a:latin typeface="Yu Gothic"/>
              </a:rPr>
              <a:t>現在：メーカー通信方法管理 — EDI対象メーカーの判定・設定</a:t>
            </a:r>
          </a:p>
        </p:txBody>
      </p:sp>
      <p:sp>
        <p:nvSpPr>
          <p:cNvPr id="29" name="Rounded Rectangle 28"/>
          <p:cNvSpPr/>
          <p:nvPr/>
        </p:nvSpPr>
        <p:spPr>
          <a:xfrm>
            <a:off x="502920" y="6263640"/>
            <a:ext cx="10774680" cy="457200"/>
          </a:xfrm>
          <a:prstGeom prst="roundRect">
            <a:avLst>
              <a:gd name="adj" fmla="val 6000"/>
            </a:avLst>
          </a:prstGeom>
          <a:solidFill>
            <a:srgbClr val="FBF2E8"/>
          </a:solidFill>
          <a:ln w="12700">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6392212"/>
            <a:ext cx="10496317" cy="200055"/>
          </a:xfrm>
          <a:prstGeom prst="rect">
            <a:avLst/>
          </a:prstGeom>
          <a:noFill/>
        </p:spPr>
        <p:txBody>
          <a:bodyPr wrap="square" lIns="0" tIns="0" rIns="0" bIns="0" anchor="ctr">
            <a:spAutoFit/>
          </a:bodyPr>
          <a:lstStyle/>
          <a:p>
            <a:pPr algn="l"/>
            <a:r>
              <a:rPr sz="1300" b="1" i="0">
                <a:solidFill>
                  <a:srgbClr val="A85A1F"/>
                </a:solidFill>
                <a:latin typeface="Yu Gothic"/>
              </a:rPr>
              <a:t>概算：別途見積</a:t>
            </a:r>
          </a:p>
        </p:txBody>
      </p:sp>
      <p:pic>
        <p:nvPicPr>
          <p:cNvPr id="31" name="図 30">
            <a:extLst>
              <a:ext uri="{FF2B5EF4-FFF2-40B4-BE49-F238E27FC236}">
                <a16:creationId xmlns:a16="http://schemas.microsoft.com/office/drawing/2014/main" id="{DCD76990-08C2-0297-AB5C-7AF2146E3ED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OPTION B</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18 / 24</a:t>
            </a:r>
          </a:p>
        </p:txBody>
      </p:sp>
      <p:sp>
        <p:nvSpPr>
          <p:cNvPr id="4" name="TextBox 3"/>
          <p:cNvSpPr txBox="1"/>
          <p:nvPr/>
        </p:nvSpPr>
        <p:spPr>
          <a:xfrm>
            <a:off x="502920" y="658368"/>
            <a:ext cx="11183112" cy="502920"/>
          </a:xfrm>
          <a:prstGeom prst="rect">
            <a:avLst/>
          </a:prstGeom>
          <a:noFill/>
        </p:spPr>
        <p:txBody>
          <a:bodyPr wrap="square" lIns="0" tIns="0" rIns="0" bIns="0" anchor="t">
            <a:spAutoFit/>
          </a:bodyPr>
          <a:lstStyle/>
          <a:p>
            <a:pPr algn="l"/>
            <a:r>
              <a:rPr sz="2400" b="1" i="0">
                <a:solidFill>
                  <a:srgbClr val="2A2724"/>
                </a:solidFill>
                <a:latin typeface="Yu Gothic"/>
              </a:rPr>
              <a:t>高度な承認Workflow</a:t>
            </a:r>
          </a:p>
        </p:txBody>
      </p:sp>
      <p:sp>
        <p:nvSpPr>
          <p:cNvPr id="5" name="TextBox 4"/>
          <p:cNvSpPr txBox="1"/>
          <p:nvPr/>
        </p:nvSpPr>
        <p:spPr>
          <a:xfrm>
            <a:off x="502920" y="1170432"/>
            <a:ext cx="11183112" cy="320040"/>
          </a:xfrm>
          <a:prstGeom prst="rect">
            <a:avLst/>
          </a:prstGeom>
          <a:noFill/>
        </p:spPr>
        <p:txBody>
          <a:bodyPr wrap="square" lIns="0" tIns="0" rIns="0" bIns="0" anchor="t">
            <a:spAutoFit/>
          </a:bodyPr>
          <a:lstStyle/>
          <a:p>
            <a:pPr algn="l"/>
            <a:r>
              <a:rPr sz="1250" b="0" i="0">
                <a:solidFill>
                  <a:srgbClr val="6B655D"/>
                </a:solidFill>
                <a:latin typeface="Yu Gothic"/>
              </a:rPr>
              <a:t>現在はシンプルな1段階承認。条件に応じた多段階承認への拡張が対象です。</a:t>
            </a:r>
          </a:p>
        </p:txBody>
      </p:sp>
      <p:sp>
        <p:nvSpPr>
          <p:cNvPr id="6" name="Rounded Rectangle 5"/>
          <p:cNvSpPr/>
          <p:nvPr/>
        </p:nvSpPr>
        <p:spPr>
          <a:xfrm>
            <a:off x="502920" y="1536192"/>
            <a:ext cx="960120" cy="274320"/>
          </a:xfrm>
          <a:prstGeom prst="roundRect">
            <a:avLst>
              <a:gd name="adj" fmla="val 50000"/>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Yu Gothic"/>
              </a:rPr>
              <a:t>OPTION</a:t>
            </a:r>
          </a:p>
        </p:txBody>
      </p:sp>
      <p:sp>
        <p:nvSpPr>
          <p:cNvPr id="7" name="TextBox 6"/>
          <p:cNvSpPr txBox="1"/>
          <p:nvPr/>
        </p:nvSpPr>
        <p:spPr>
          <a:xfrm>
            <a:off x="1600200" y="1536192"/>
            <a:ext cx="7132320" cy="274320"/>
          </a:xfrm>
          <a:prstGeom prst="rect">
            <a:avLst/>
          </a:prstGeom>
          <a:noFill/>
        </p:spPr>
        <p:txBody>
          <a:bodyPr wrap="square" lIns="0" tIns="0" rIns="0" bIns="0" anchor="ctr">
            <a:spAutoFit/>
          </a:bodyPr>
          <a:lstStyle/>
          <a:p>
            <a:pPr algn="l"/>
            <a:r>
              <a:rPr sz="1200" b="1" i="0">
                <a:solidFill>
                  <a:srgbClr val="A85A1F"/>
                </a:solidFill>
                <a:latin typeface="Yu Gothic"/>
              </a:rPr>
              <a:t>今回の推奨構成 73人日には含まれません</a:t>
            </a:r>
          </a:p>
        </p:txBody>
      </p:sp>
      <p:cxnSp>
        <p:nvCxnSpPr>
          <p:cNvPr id="8" name="Connector 7"/>
          <p:cNvCxnSpPr/>
          <p:nvPr/>
        </p:nvCxnSpPr>
        <p:spPr>
          <a:xfrm>
            <a:off x="502920" y="1920240"/>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2103120"/>
            <a:ext cx="11183112" cy="822960"/>
          </a:xfrm>
          <a:prstGeom prst="rect">
            <a:avLst/>
          </a:prstGeom>
          <a:noFill/>
        </p:spPr>
        <p:txBody>
          <a:bodyPr wrap="square" lIns="0" tIns="0" rIns="0" bIns="0" anchor="t">
            <a:spAutoFit/>
          </a:bodyPr>
          <a:lstStyle/>
          <a:p>
            <a:pPr algn="l">
              <a:lnSpc>
                <a:spcPct val="140000"/>
              </a:lnSpc>
            </a:pPr>
            <a:r>
              <a:rPr sz="1300" b="0" i="0">
                <a:solidFill>
                  <a:srgbClr val="2A2724"/>
                </a:solidFill>
                <a:latin typeface="Yu Gothic"/>
              </a:rPr>
              <a:t>現在は、起票した担当者とは別の管理者が承認する、シンプルな1段階の承認Workflowです。Option Bでは、金額・メーカー・ブランドなど条件に応じて、担当者→購買責任者→上位承認者、といった多段階承認へ拡張できます。具体的な承認条件は、今後の要件確認を踏まえて設計します。</a:t>
            </a:r>
          </a:p>
        </p:txBody>
      </p:sp>
      <p:sp>
        <p:nvSpPr>
          <p:cNvPr id="10" name="Rounded Rectangle 9"/>
          <p:cNvSpPr/>
          <p:nvPr/>
        </p:nvSpPr>
        <p:spPr>
          <a:xfrm>
            <a:off x="502920" y="3246120"/>
            <a:ext cx="5074920" cy="1828800"/>
          </a:xfrm>
          <a:prstGeom prst="roundRect">
            <a:avLst>
              <a:gd name="adj" fmla="val 6000"/>
            </a:avLst>
          </a:prstGeom>
          <a:solidFill>
            <a:srgbClr val="FFFFFF"/>
          </a:solidFill>
          <a:ln w="15875">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383280"/>
            <a:ext cx="4617720" cy="274320"/>
          </a:xfrm>
          <a:prstGeom prst="rect">
            <a:avLst/>
          </a:prstGeom>
          <a:noFill/>
        </p:spPr>
        <p:txBody>
          <a:bodyPr wrap="square" lIns="0" tIns="0" rIns="0" bIns="0" anchor="t">
            <a:spAutoFit/>
          </a:bodyPr>
          <a:lstStyle/>
          <a:p>
            <a:pPr algn="l"/>
            <a:r>
              <a:rPr sz="1300" b="1" i="0">
                <a:solidFill>
                  <a:srgbClr val="2A2724"/>
                </a:solidFill>
                <a:latin typeface="Yu Gothic"/>
              </a:rPr>
              <a:t>現在</a:t>
            </a:r>
          </a:p>
        </p:txBody>
      </p:sp>
      <p:sp>
        <p:nvSpPr>
          <p:cNvPr id="12" name="TextBox 11"/>
          <p:cNvSpPr txBox="1"/>
          <p:nvPr/>
        </p:nvSpPr>
        <p:spPr>
          <a:xfrm>
            <a:off x="731520" y="3794760"/>
            <a:ext cx="4617720" cy="1188720"/>
          </a:xfrm>
          <a:prstGeom prst="rect">
            <a:avLst/>
          </a:prstGeom>
          <a:noFill/>
        </p:spPr>
        <p:txBody>
          <a:bodyPr wrap="square" lIns="0" tIns="0" rIns="0" bIns="0" anchor="t">
            <a:spAutoFit/>
          </a:bodyPr>
          <a:lstStyle/>
          <a:p>
            <a:pPr algn="l">
              <a:lnSpc>
                <a:spcPct val="130000"/>
              </a:lnSpc>
            </a:pPr>
            <a:r>
              <a:rPr sz="1200" b="0" i="0">
                <a:solidFill>
                  <a:srgbClr val="6B655D"/>
                </a:solidFill>
                <a:latin typeface="Yu Gothic"/>
              </a:rPr>
              <a:t>担当者（起票）</a:t>
            </a:r>
          </a:p>
          <a:p>
            <a:pPr algn="l">
              <a:lnSpc>
                <a:spcPct val="130000"/>
              </a:lnSpc>
            </a:pPr>
            <a:r>
              <a:rPr sz="1200" b="0" i="0">
                <a:solidFill>
                  <a:srgbClr val="6B655D"/>
                </a:solidFill>
                <a:latin typeface="Yu Gothic"/>
              </a:rPr>
              <a:t>↓</a:t>
            </a:r>
          </a:p>
          <a:p>
            <a:pPr algn="l">
              <a:lnSpc>
                <a:spcPct val="130000"/>
              </a:lnSpc>
            </a:pPr>
            <a:r>
              <a:rPr sz="1200" b="0" i="0">
                <a:solidFill>
                  <a:srgbClr val="6B655D"/>
                </a:solidFill>
                <a:latin typeface="Yu Gothic"/>
              </a:rPr>
              <a:t>管理者（承認 / 修正 / 差し戻し）</a:t>
            </a:r>
          </a:p>
          <a:p>
            <a:pPr algn="l">
              <a:lnSpc>
                <a:spcPct val="130000"/>
              </a:lnSpc>
            </a:pPr>
            <a:endParaRPr sz="1200" b="0" i="0">
              <a:solidFill>
                <a:srgbClr val="6B655D"/>
              </a:solidFill>
              <a:latin typeface="Yu Gothic"/>
            </a:endParaRPr>
          </a:p>
          <a:p>
            <a:pPr algn="l">
              <a:lnSpc>
                <a:spcPct val="130000"/>
              </a:lnSpc>
            </a:pPr>
            <a:r>
              <a:rPr sz="1200" b="0" i="0">
                <a:solidFill>
                  <a:srgbClr val="6B655D"/>
                </a:solidFill>
                <a:latin typeface="Yu Gothic"/>
              </a:rPr>
              <a:t>シンプルな1段階承認</a:t>
            </a:r>
          </a:p>
        </p:txBody>
      </p:sp>
      <p:sp>
        <p:nvSpPr>
          <p:cNvPr id="13" name="Right Arrow 12"/>
          <p:cNvSpPr/>
          <p:nvPr/>
        </p:nvSpPr>
        <p:spPr>
          <a:xfrm>
            <a:off x="5669280" y="4023360"/>
            <a:ext cx="502920" cy="274320"/>
          </a:xfrm>
          <a:prstGeom prst="rightArrow">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09360" y="3246120"/>
            <a:ext cx="5074920" cy="1828800"/>
          </a:xfrm>
          <a:prstGeom prst="roundRect">
            <a:avLst>
              <a:gd name="adj" fmla="val 6000"/>
            </a:avLst>
          </a:prstGeom>
          <a:solidFill>
            <a:srgbClr val="FCF8F3"/>
          </a:solidFill>
          <a:ln w="1905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3383280"/>
            <a:ext cx="4617720" cy="274320"/>
          </a:xfrm>
          <a:prstGeom prst="rect">
            <a:avLst/>
          </a:prstGeom>
          <a:noFill/>
        </p:spPr>
        <p:txBody>
          <a:bodyPr wrap="square" lIns="0" tIns="0" rIns="0" bIns="0" anchor="t">
            <a:spAutoFit/>
          </a:bodyPr>
          <a:lstStyle/>
          <a:p>
            <a:pPr algn="l"/>
            <a:r>
              <a:rPr sz="1300" b="1" i="0">
                <a:solidFill>
                  <a:srgbClr val="A85A1F"/>
                </a:solidFill>
                <a:latin typeface="Yu Gothic"/>
              </a:rPr>
              <a:t>Optionで拡張後</a:t>
            </a:r>
          </a:p>
        </p:txBody>
      </p:sp>
      <p:sp>
        <p:nvSpPr>
          <p:cNvPr id="16" name="TextBox 15"/>
          <p:cNvSpPr txBox="1"/>
          <p:nvPr/>
        </p:nvSpPr>
        <p:spPr>
          <a:xfrm>
            <a:off x="6537960" y="3794760"/>
            <a:ext cx="4617720" cy="1188720"/>
          </a:xfrm>
          <a:prstGeom prst="rect">
            <a:avLst/>
          </a:prstGeom>
          <a:noFill/>
        </p:spPr>
        <p:txBody>
          <a:bodyPr wrap="square" lIns="0" tIns="0" rIns="0" bIns="0" anchor="t">
            <a:spAutoFit/>
          </a:bodyPr>
          <a:lstStyle/>
          <a:p>
            <a:pPr algn="l">
              <a:lnSpc>
                <a:spcPct val="130000"/>
              </a:lnSpc>
            </a:pPr>
            <a:r>
              <a:rPr sz="1200" b="0" i="0">
                <a:solidFill>
                  <a:srgbClr val="2A2724"/>
                </a:solidFill>
                <a:latin typeface="Yu Gothic"/>
              </a:rPr>
              <a:t>担当者 → 購買責任者 → 条件に応じた上位承認</a:t>
            </a:r>
          </a:p>
          <a:p>
            <a:pPr algn="l">
              <a:lnSpc>
                <a:spcPct val="130000"/>
              </a:lnSpc>
            </a:pPr>
            <a:endParaRPr sz="1200" b="0" i="0">
              <a:solidFill>
                <a:srgbClr val="2A2724"/>
              </a:solidFill>
              <a:latin typeface="Yu Gothic"/>
            </a:endParaRPr>
          </a:p>
          <a:p>
            <a:pPr algn="l">
              <a:lnSpc>
                <a:spcPct val="130000"/>
              </a:lnSpc>
            </a:pPr>
            <a:r>
              <a:rPr sz="1200" b="0" i="0">
                <a:solidFill>
                  <a:srgbClr val="2A2724"/>
                </a:solidFill>
                <a:latin typeface="Yu Gothic"/>
              </a:rPr>
              <a:t>（金額 / メーカー / ブランド 等の承認条件に応じて分岐）</a:t>
            </a:r>
          </a:p>
        </p:txBody>
      </p:sp>
      <p:sp>
        <p:nvSpPr>
          <p:cNvPr id="17" name="TextBox 16"/>
          <p:cNvSpPr txBox="1"/>
          <p:nvPr/>
        </p:nvSpPr>
        <p:spPr>
          <a:xfrm>
            <a:off x="502920" y="5257800"/>
            <a:ext cx="10725912" cy="457200"/>
          </a:xfrm>
          <a:prstGeom prst="rect">
            <a:avLst/>
          </a:prstGeom>
          <a:noFill/>
        </p:spPr>
        <p:txBody>
          <a:bodyPr wrap="square" lIns="0" tIns="0" rIns="0" bIns="0" anchor="t">
            <a:spAutoFit/>
          </a:bodyPr>
          <a:lstStyle/>
          <a:p>
            <a:pPr algn="l"/>
            <a:r>
              <a:rPr sz="1050" b="0" i="0">
                <a:solidFill>
                  <a:srgbClr val="6B655D"/>
                </a:solidFill>
                <a:latin typeface="Yu Gothic"/>
              </a:rPr>
              <a:t>承認条件（何段階・誰が・どの条件で）は未確定のため、要件確認のうえで設計します。</a:t>
            </a:r>
          </a:p>
        </p:txBody>
      </p:sp>
      <p:sp>
        <p:nvSpPr>
          <p:cNvPr id="18" name="TextBox 17"/>
          <p:cNvSpPr txBox="1"/>
          <p:nvPr/>
        </p:nvSpPr>
        <p:spPr>
          <a:xfrm>
            <a:off x="502920" y="6263640"/>
            <a:ext cx="10725912" cy="457200"/>
          </a:xfrm>
          <a:prstGeom prst="rect">
            <a:avLst/>
          </a:prstGeom>
          <a:noFill/>
        </p:spPr>
        <p:txBody>
          <a:bodyPr wrap="square" lIns="0" tIns="0" rIns="0" bIns="0" anchor="t">
            <a:spAutoFit/>
          </a:bodyPr>
          <a:lstStyle/>
          <a:p>
            <a:pPr algn="l"/>
            <a:r>
              <a:rPr sz="1300" b="1" i="0">
                <a:solidFill>
                  <a:srgbClr val="A85A1F"/>
                </a:solidFill>
                <a:latin typeface="Yu Gothic"/>
              </a:rPr>
              <a:t>概算：3〜5人日</a:t>
            </a:r>
          </a:p>
        </p:txBody>
      </p:sp>
      <p:pic>
        <p:nvPicPr>
          <p:cNvPr id="19" name="図 18">
            <a:extLst>
              <a:ext uri="{FF2B5EF4-FFF2-40B4-BE49-F238E27FC236}">
                <a16:creationId xmlns:a16="http://schemas.microsoft.com/office/drawing/2014/main" id="{7F783419-5B3A-E4D3-BFC4-A71D14329AF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OPTION C</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19 / 24</a:t>
            </a:r>
          </a:p>
        </p:txBody>
      </p:sp>
      <p:sp>
        <p:nvSpPr>
          <p:cNvPr id="4" name="TextBox 3"/>
          <p:cNvSpPr txBox="1"/>
          <p:nvPr/>
        </p:nvSpPr>
        <p:spPr>
          <a:xfrm>
            <a:off x="502920" y="658368"/>
            <a:ext cx="11183112" cy="502920"/>
          </a:xfrm>
          <a:prstGeom prst="rect">
            <a:avLst/>
          </a:prstGeom>
          <a:noFill/>
        </p:spPr>
        <p:txBody>
          <a:bodyPr wrap="square" lIns="0" tIns="0" rIns="0" bIns="0" anchor="t">
            <a:spAutoFit/>
          </a:bodyPr>
          <a:lstStyle/>
          <a:p>
            <a:pPr algn="l"/>
            <a:r>
              <a:rPr sz="2400" b="1" i="0">
                <a:solidFill>
                  <a:srgbClr val="2A2724"/>
                </a:solidFill>
                <a:latin typeface="Yu Gothic"/>
              </a:rPr>
              <a:t>価格変更オンライン化</a:t>
            </a:r>
          </a:p>
        </p:txBody>
      </p:sp>
      <p:sp>
        <p:nvSpPr>
          <p:cNvPr id="5" name="TextBox 4"/>
          <p:cNvSpPr txBox="1"/>
          <p:nvPr/>
        </p:nvSpPr>
        <p:spPr>
          <a:xfrm>
            <a:off x="502920" y="1170432"/>
            <a:ext cx="11183112" cy="320040"/>
          </a:xfrm>
          <a:prstGeom prst="rect">
            <a:avLst/>
          </a:prstGeom>
          <a:noFill/>
        </p:spPr>
        <p:txBody>
          <a:bodyPr wrap="square" lIns="0" tIns="0" rIns="0" bIns="0" anchor="t">
            <a:spAutoFit/>
          </a:bodyPr>
          <a:lstStyle/>
          <a:p>
            <a:pPr algn="l"/>
            <a:r>
              <a:rPr sz="1250" b="0" i="0">
                <a:solidFill>
                  <a:srgbClr val="6B655D"/>
                </a:solidFill>
                <a:latin typeface="Yu Gothic"/>
              </a:rPr>
              <a:t>現在Excel中心の価格変更検討を、G-OPS上で行える業務へ拡張します。</a:t>
            </a:r>
          </a:p>
        </p:txBody>
      </p:sp>
      <p:sp>
        <p:nvSpPr>
          <p:cNvPr id="6" name="Rounded Rectangle 5"/>
          <p:cNvSpPr/>
          <p:nvPr/>
        </p:nvSpPr>
        <p:spPr>
          <a:xfrm>
            <a:off x="502920" y="1536192"/>
            <a:ext cx="960120" cy="274320"/>
          </a:xfrm>
          <a:prstGeom prst="roundRect">
            <a:avLst>
              <a:gd name="adj" fmla="val 50000"/>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Yu Gothic"/>
              </a:rPr>
              <a:t>OPTION</a:t>
            </a:r>
          </a:p>
        </p:txBody>
      </p:sp>
      <p:sp>
        <p:nvSpPr>
          <p:cNvPr id="7" name="TextBox 6"/>
          <p:cNvSpPr txBox="1"/>
          <p:nvPr/>
        </p:nvSpPr>
        <p:spPr>
          <a:xfrm>
            <a:off x="1600200" y="1536192"/>
            <a:ext cx="7132320" cy="274320"/>
          </a:xfrm>
          <a:prstGeom prst="rect">
            <a:avLst/>
          </a:prstGeom>
          <a:noFill/>
        </p:spPr>
        <p:txBody>
          <a:bodyPr wrap="square" lIns="0" tIns="0" rIns="0" bIns="0" anchor="ctr">
            <a:spAutoFit/>
          </a:bodyPr>
          <a:lstStyle/>
          <a:p>
            <a:pPr algn="l"/>
            <a:r>
              <a:rPr sz="1200" b="1" i="0">
                <a:solidFill>
                  <a:srgbClr val="A85A1F"/>
                </a:solidFill>
                <a:latin typeface="Yu Gothic"/>
              </a:rPr>
              <a:t>今回の推奨構成 73人日には含まれません</a:t>
            </a:r>
          </a:p>
        </p:txBody>
      </p:sp>
      <p:cxnSp>
        <p:nvCxnSpPr>
          <p:cNvPr id="8" name="Connector 7"/>
          <p:cNvCxnSpPr/>
          <p:nvPr/>
        </p:nvCxnSpPr>
        <p:spPr>
          <a:xfrm>
            <a:off x="502920" y="1920240"/>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2103120"/>
            <a:ext cx="5440680" cy="356616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2103120"/>
            <a:ext cx="5440680"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94360"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22376"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50392"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103120"/>
            <a:ext cx="4800600" cy="237744"/>
          </a:xfrm>
          <a:prstGeom prst="rect">
            <a:avLst/>
          </a:prstGeom>
          <a:noFill/>
        </p:spPr>
        <p:txBody>
          <a:bodyPr wrap="square" lIns="0" tIns="0" rIns="0" bIns="0" anchor="ctr">
            <a:spAutoFit/>
          </a:bodyPr>
          <a:lstStyle/>
          <a:p>
            <a:pPr algn="l"/>
            <a:r>
              <a:rPr sz="900" b="0" i="0">
                <a:solidFill>
                  <a:srgbClr val="9A938A"/>
                </a:solidFill>
                <a:latin typeface="Yu Gothic"/>
              </a:rPr>
              <a:t>gops.local/price-changes</a:t>
            </a:r>
          </a:p>
        </p:txBody>
      </p:sp>
      <p:pic>
        <p:nvPicPr>
          <p:cNvPr id="15" name="Picture 14" descr="25-price-change-list-ja.png__1.8140__top__0.00.png"/>
          <p:cNvPicPr>
            <a:picLocks noChangeAspect="1"/>
          </p:cNvPicPr>
          <p:nvPr/>
        </p:nvPicPr>
        <p:blipFill>
          <a:blip r:embed="rId2"/>
          <a:stretch>
            <a:fillRect/>
          </a:stretch>
        </p:blipFill>
        <p:spPr>
          <a:xfrm>
            <a:off x="502920" y="2340864"/>
            <a:ext cx="5440680" cy="2999232"/>
          </a:xfrm>
          <a:prstGeom prst="rect">
            <a:avLst/>
          </a:prstGeom>
        </p:spPr>
      </p:pic>
      <p:cxnSp>
        <p:nvCxnSpPr>
          <p:cNvPr id="16" name="Connector 15"/>
          <p:cNvCxnSpPr/>
          <p:nvPr/>
        </p:nvCxnSpPr>
        <p:spPr>
          <a:xfrm>
            <a:off x="594360" y="5358384"/>
            <a:ext cx="5257800"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2648" y="5394960"/>
            <a:ext cx="5221224" cy="274320"/>
          </a:xfrm>
          <a:prstGeom prst="rect">
            <a:avLst/>
          </a:prstGeom>
          <a:noFill/>
        </p:spPr>
        <p:txBody>
          <a:bodyPr wrap="square" lIns="0" tIns="0" rIns="0" bIns="0" anchor="t">
            <a:spAutoFit/>
          </a:bodyPr>
          <a:lstStyle/>
          <a:p>
            <a:pPr algn="l"/>
            <a:r>
              <a:rPr sz="1050" b="0" i="0">
                <a:solidFill>
                  <a:srgbClr val="6B655D"/>
                </a:solidFill>
                <a:latin typeface="Yu Gothic"/>
              </a:rPr>
              <a:t>価格変更一覧 — 下書き・確認中などのステータスで管理</a:t>
            </a:r>
          </a:p>
        </p:txBody>
      </p:sp>
      <p:sp>
        <p:nvSpPr>
          <p:cNvPr id="18" name="Rounded Rectangle 17"/>
          <p:cNvSpPr/>
          <p:nvPr/>
        </p:nvSpPr>
        <p:spPr>
          <a:xfrm>
            <a:off x="6254496" y="2103120"/>
            <a:ext cx="5431536" cy="356616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54496" y="2103120"/>
            <a:ext cx="5431536"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345936"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73952"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601968"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57416" y="2103120"/>
            <a:ext cx="4791456" cy="237744"/>
          </a:xfrm>
          <a:prstGeom prst="rect">
            <a:avLst/>
          </a:prstGeom>
          <a:noFill/>
        </p:spPr>
        <p:txBody>
          <a:bodyPr wrap="square" lIns="0" tIns="0" rIns="0" bIns="0" anchor="ctr">
            <a:spAutoFit/>
          </a:bodyPr>
          <a:lstStyle/>
          <a:p>
            <a:pPr algn="l"/>
            <a:r>
              <a:rPr sz="900" b="0" i="0">
                <a:solidFill>
                  <a:srgbClr val="9A938A"/>
                </a:solidFill>
                <a:latin typeface="Yu Gothic"/>
              </a:rPr>
              <a:t>gops.local/price-changes/…/edit</a:t>
            </a:r>
          </a:p>
        </p:txBody>
      </p:sp>
      <p:pic>
        <p:nvPicPr>
          <p:cNvPr id="24" name="Picture 23" descr="26-price-change-detail-ja.png__1.8110__top__0.00.png"/>
          <p:cNvPicPr>
            <a:picLocks noChangeAspect="1"/>
          </p:cNvPicPr>
          <p:nvPr/>
        </p:nvPicPr>
        <p:blipFill>
          <a:blip r:embed="rId3"/>
          <a:stretch>
            <a:fillRect/>
          </a:stretch>
        </p:blipFill>
        <p:spPr>
          <a:xfrm>
            <a:off x="6254496" y="2340864"/>
            <a:ext cx="5431536" cy="2999232"/>
          </a:xfrm>
          <a:prstGeom prst="rect">
            <a:avLst/>
          </a:prstGeom>
        </p:spPr>
      </p:pic>
      <p:cxnSp>
        <p:nvCxnSpPr>
          <p:cNvPr id="25" name="Connector 24"/>
          <p:cNvCxnSpPr/>
          <p:nvPr/>
        </p:nvCxnSpPr>
        <p:spPr>
          <a:xfrm>
            <a:off x="6345936" y="5358384"/>
            <a:ext cx="5248656"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64224" y="5394960"/>
            <a:ext cx="5212080" cy="274320"/>
          </a:xfrm>
          <a:prstGeom prst="rect">
            <a:avLst/>
          </a:prstGeom>
          <a:noFill/>
        </p:spPr>
        <p:txBody>
          <a:bodyPr wrap="square" lIns="0" tIns="0" rIns="0" bIns="0" anchor="t">
            <a:spAutoFit/>
          </a:bodyPr>
          <a:lstStyle/>
          <a:p>
            <a:pPr algn="l"/>
            <a:r>
              <a:rPr sz="1050" b="0" i="0">
                <a:solidFill>
                  <a:srgbClr val="6B655D"/>
                </a:solidFill>
                <a:latin typeface="Yu Gothic"/>
              </a:rPr>
              <a:t>商品選択 → 現在価格・原価確認 → 変更価格入力 → 利益・利益率シミュレーション</a:t>
            </a:r>
          </a:p>
        </p:txBody>
      </p:sp>
      <p:sp>
        <p:nvSpPr>
          <p:cNvPr id="27" name="TextBox 26"/>
          <p:cNvSpPr txBox="1"/>
          <p:nvPr/>
        </p:nvSpPr>
        <p:spPr>
          <a:xfrm>
            <a:off x="502920" y="6263640"/>
            <a:ext cx="10725912" cy="457200"/>
          </a:xfrm>
          <a:prstGeom prst="rect">
            <a:avLst/>
          </a:prstGeom>
          <a:noFill/>
        </p:spPr>
        <p:txBody>
          <a:bodyPr wrap="square" lIns="0" tIns="0" rIns="0" bIns="0" anchor="t">
            <a:spAutoFit/>
          </a:bodyPr>
          <a:lstStyle/>
          <a:p>
            <a:pPr algn="l"/>
            <a:r>
              <a:rPr sz="1200" b="1" i="0">
                <a:solidFill>
                  <a:srgbClr val="A85A1F"/>
                </a:solidFill>
                <a:latin typeface="Yu Gothic"/>
              </a:rPr>
              <a:t>概算：別途見積　※ 高度な承認、予約実行、G-SYS本番反映などは今回のFoundationには含まれません</a:t>
            </a:r>
          </a:p>
        </p:txBody>
      </p:sp>
      <p:pic>
        <p:nvPicPr>
          <p:cNvPr id="28" name="図 27">
            <a:extLst>
              <a:ext uri="{FF2B5EF4-FFF2-40B4-BE49-F238E27FC236}">
                <a16:creationId xmlns:a16="http://schemas.microsoft.com/office/drawing/2014/main" id="{7535EACF-809F-9569-8C8D-38E0384CA28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OPTION D</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20 / 24</a:t>
            </a:r>
          </a:p>
        </p:txBody>
      </p:sp>
      <p:sp>
        <p:nvSpPr>
          <p:cNvPr id="4" name="TextBox 3"/>
          <p:cNvSpPr txBox="1"/>
          <p:nvPr/>
        </p:nvSpPr>
        <p:spPr>
          <a:xfrm>
            <a:off x="502920" y="658368"/>
            <a:ext cx="11183112" cy="502920"/>
          </a:xfrm>
          <a:prstGeom prst="rect">
            <a:avLst/>
          </a:prstGeom>
          <a:noFill/>
        </p:spPr>
        <p:txBody>
          <a:bodyPr wrap="square" lIns="0" tIns="0" rIns="0" bIns="0" anchor="t">
            <a:spAutoFit/>
          </a:bodyPr>
          <a:lstStyle/>
          <a:p>
            <a:pPr algn="l"/>
            <a:r>
              <a:rPr sz="2400" b="1" i="0">
                <a:solidFill>
                  <a:srgbClr val="2A2724"/>
                </a:solidFill>
                <a:latin typeface="Yu Gothic"/>
              </a:rPr>
              <a:t>在庫・販売分析強化</a:t>
            </a:r>
          </a:p>
        </p:txBody>
      </p:sp>
      <p:sp>
        <p:nvSpPr>
          <p:cNvPr id="5" name="TextBox 4"/>
          <p:cNvSpPr txBox="1"/>
          <p:nvPr/>
        </p:nvSpPr>
        <p:spPr>
          <a:xfrm>
            <a:off x="502920" y="1170432"/>
            <a:ext cx="11183112" cy="320040"/>
          </a:xfrm>
          <a:prstGeom prst="rect">
            <a:avLst/>
          </a:prstGeom>
          <a:noFill/>
        </p:spPr>
        <p:txBody>
          <a:bodyPr wrap="square" lIns="0" tIns="0" rIns="0" bIns="0" anchor="t">
            <a:spAutoFit/>
          </a:bodyPr>
          <a:lstStyle/>
          <a:p>
            <a:pPr algn="l"/>
            <a:r>
              <a:rPr sz="1250" b="0" i="0">
                <a:solidFill>
                  <a:srgbClr val="6B655D"/>
                </a:solidFill>
                <a:latin typeface="Yu Gothic"/>
              </a:rPr>
              <a:t>基本機能の「参照」から、判断を支援する「分析」へ拡張します。</a:t>
            </a:r>
          </a:p>
        </p:txBody>
      </p:sp>
      <p:sp>
        <p:nvSpPr>
          <p:cNvPr id="6" name="Rounded Rectangle 5"/>
          <p:cNvSpPr/>
          <p:nvPr/>
        </p:nvSpPr>
        <p:spPr>
          <a:xfrm>
            <a:off x="502920" y="1536192"/>
            <a:ext cx="960120" cy="274320"/>
          </a:xfrm>
          <a:prstGeom prst="roundRect">
            <a:avLst>
              <a:gd name="adj" fmla="val 50000"/>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Yu Gothic"/>
              </a:rPr>
              <a:t>OPTION</a:t>
            </a:r>
          </a:p>
        </p:txBody>
      </p:sp>
      <p:sp>
        <p:nvSpPr>
          <p:cNvPr id="7" name="TextBox 6"/>
          <p:cNvSpPr txBox="1"/>
          <p:nvPr/>
        </p:nvSpPr>
        <p:spPr>
          <a:xfrm>
            <a:off x="1600200" y="1536192"/>
            <a:ext cx="7132320" cy="274320"/>
          </a:xfrm>
          <a:prstGeom prst="rect">
            <a:avLst/>
          </a:prstGeom>
          <a:noFill/>
        </p:spPr>
        <p:txBody>
          <a:bodyPr wrap="square" lIns="0" tIns="0" rIns="0" bIns="0" anchor="ctr">
            <a:spAutoFit/>
          </a:bodyPr>
          <a:lstStyle/>
          <a:p>
            <a:pPr algn="l"/>
            <a:r>
              <a:rPr sz="1200" b="1" i="0">
                <a:solidFill>
                  <a:srgbClr val="A85A1F"/>
                </a:solidFill>
                <a:latin typeface="Yu Gothic"/>
              </a:rPr>
              <a:t>今回の推奨構成 73人日には含まれません</a:t>
            </a:r>
          </a:p>
        </p:txBody>
      </p:sp>
      <p:cxnSp>
        <p:nvCxnSpPr>
          <p:cNvPr id="8" name="Connector 7"/>
          <p:cNvCxnSpPr/>
          <p:nvPr/>
        </p:nvCxnSpPr>
        <p:spPr>
          <a:xfrm>
            <a:off x="502920" y="1920240"/>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2103120"/>
            <a:ext cx="6903720" cy="356616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2103120"/>
            <a:ext cx="6903720"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94360"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22376"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50392"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103120"/>
            <a:ext cx="6263640" cy="237744"/>
          </a:xfrm>
          <a:prstGeom prst="rect">
            <a:avLst/>
          </a:prstGeom>
          <a:noFill/>
        </p:spPr>
        <p:txBody>
          <a:bodyPr wrap="square" lIns="0" tIns="0" rIns="0" bIns="0" anchor="ctr">
            <a:spAutoFit/>
          </a:bodyPr>
          <a:lstStyle/>
          <a:p>
            <a:pPr algn="l"/>
            <a:r>
              <a:rPr sz="900" b="0" i="0">
                <a:solidFill>
                  <a:srgbClr val="9A938A"/>
                </a:solidFill>
                <a:latin typeface="Yu Gothic"/>
              </a:rPr>
              <a:t>gops.local/stock-sales</a:t>
            </a:r>
          </a:p>
        </p:txBody>
      </p:sp>
      <p:pic>
        <p:nvPicPr>
          <p:cNvPr id="15" name="Picture 14" descr="24-stock-sales-ja.png__2.3018__top__0.00.png"/>
          <p:cNvPicPr>
            <a:picLocks noChangeAspect="1"/>
          </p:cNvPicPr>
          <p:nvPr/>
        </p:nvPicPr>
        <p:blipFill>
          <a:blip r:embed="rId2"/>
          <a:stretch>
            <a:fillRect/>
          </a:stretch>
        </p:blipFill>
        <p:spPr>
          <a:xfrm>
            <a:off x="502920" y="2340864"/>
            <a:ext cx="6903720" cy="2999232"/>
          </a:xfrm>
          <a:prstGeom prst="rect">
            <a:avLst/>
          </a:prstGeom>
        </p:spPr>
      </p:pic>
      <p:cxnSp>
        <p:nvCxnSpPr>
          <p:cNvPr id="16" name="Connector 15"/>
          <p:cNvCxnSpPr/>
          <p:nvPr/>
        </p:nvCxnSpPr>
        <p:spPr>
          <a:xfrm>
            <a:off x="594360" y="5358384"/>
            <a:ext cx="6720840"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2648" y="5394960"/>
            <a:ext cx="6684264" cy="274320"/>
          </a:xfrm>
          <a:prstGeom prst="rect">
            <a:avLst/>
          </a:prstGeom>
          <a:noFill/>
        </p:spPr>
        <p:txBody>
          <a:bodyPr wrap="square" lIns="0" tIns="0" rIns="0" bIns="0" anchor="t">
            <a:spAutoFit/>
          </a:bodyPr>
          <a:lstStyle/>
          <a:p>
            <a:pPr algn="l"/>
            <a:r>
              <a:rPr sz="1050" b="0" i="0">
                <a:solidFill>
                  <a:srgbClr val="6B655D"/>
                </a:solidFill>
                <a:latin typeface="Yu Gothic"/>
              </a:rPr>
              <a:t>在庫・販売確認 — 現在庫・当月販売数量・発注残などを横断的に確認（基本機能）</a:t>
            </a:r>
          </a:p>
        </p:txBody>
      </p:sp>
      <p:sp>
        <p:nvSpPr>
          <p:cNvPr id="18" name="TextBox 17"/>
          <p:cNvSpPr txBox="1"/>
          <p:nvPr/>
        </p:nvSpPr>
        <p:spPr>
          <a:xfrm>
            <a:off x="8001000" y="2103120"/>
            <a:ext cx="3593592" cy="3291840"/>
          </a:xfrm>
          <a:prstGeom prst="rect">
            <a:avLst/>
          </a:prstGeom>
          <a:noFill/>
        </p:spPr>
        <p:txBody>
          <a:bodyPr wrap="square" lIns="0" tIns="0" rIns="0" bIns="0" anchor="t">
            <a:spAutoFit/>
          </a:bodyPr>
          <a:lstStyle/>
          <a:p>
            <a:pPr algn="l">
              <a:lnSpc>
                <a:spcPct val="135000"/>
              </a:lnSpc>
            </a:pPr>
            <a:r>
              <a:rPr sz="1200" b="0" i="0">
                <a:solidFill>
                  <a:srgbClr val="2A2724"/>
                </a:solidFill>
                <a:latin typeface="Yu Gothic"/>
              </a:rPr>
              <a:t>基本73人日に含まれるのは、現在庫・当月販売数量・発注残・入荷情報といったG-SYSデータの「参照」です。</a:t>
            </a:r>
          </a:p>
          <a:p>
            <a:pPr algn="l">
              <a:lnSpc>
                <a:spcPct val="135000"/>
              </a:lnSpc>
            </a:pPr>
            <a:endParaRPr sz="1200" b="0" i="0">
              <a:solidFill>
                <a:srgbClr val="2A2724"/>
              </a:solidFill>
              <a:latin typeface="Yu Gothic"/>
            </a:endParaRPr>
          </a:p>
          <a:p>
            <a:pPr algn="l">
              <a:lnSpc>
                <a:spcPct val="135000"/>
              </a:lnSpc>
            </a:pPr>
            <a:r>
              <a:rPr sz="1200" b="0" i="0">
                <a:solidFill>
                  <a:srgbClr val="2A2724"/>
                </a:solidFill>
                <a:latin typeface="Yu Gothic"/>
              </a:rPr>
              <a:t>Option Dは、そのデータを使った分析・判断支援の強化です。</a:t>
            </a:r>
          </a:p>
          <a:p>
            <a:pPr algn="l">
              <a:lnSpc>
                <a:spcPct val="135000"/>
              </a:lnSpc>
            </a:pPr>
            <a:endParaRPr sz="1200" b="0" i="0">
              <a:solidFill>
                <a:srgbClr val="2A2724"/>
              </a:solidFill>
              <a:latin typeface="Yu Gothic"/>
            </a:endParaRPr>
          </a:p>
          <a:p>
            <a:pPr algn="l">
              <a:lnSpc>
                <a:spcPct val="135000"/>
              </a:lnSpc>
            </a:pPr>
            <a:r>
              <a:rPr sz="1200" b="0" i="0">
                <a:solidFill>
                  <a:srgbClr val="2A2724"/>
                </a:solidFill>
                <a:latin typeface="Yu Gothic"/>
              </a:rPr>
              <a:t>SKU別の在庫・販売・発注残・入荷予定を組み合わせた分析軸を追加し、発注判断をより支援する方向を想定しています。</a:t>
            </a:r>
          </a:p>
        </p:txBody>
      </p:sp>
      <p:sp>
        <p:nvSpPr>
          <p:cNvPr id="19" name="TextBox 18"/>
          <p:cNvSpPr txBox="1"/>
          <p:nvPr/>
        </p:nvSpPr>
        <p:spPr>
          <a:xfrm>
            <a:off x="502920" y="6263640"/>
            <a:ext cx="10725912" cy="457200"/>
          </a:xfrm>
          <a:prstGeom prst="rect">
            <a:avLst/>
          </a:prstGeom>
          <a:noFill/>
        </p:spPr>
        <p:txBody>
          <a:bodyPr wrap="square" lIns="0" tIns="0" rIns="0" bIns="0" anchor="t">
            <a:spAutoFit/>
          </a:bodyPr>
          <a:lstStyle/>
          <a:p>
            <a:pPr algn="l"/>
            <a:r>
              <a:rPr sz="1300" b="1" i="0">
                <a:solidFill>
                  <a:srgbClr val="A85A1F"/>
                </a:solidFill>
                <a:latin typeface="Yu Gothic"/>
              </a:rPr>
              <a:t>概算：別途見積</a:t>
            </a:r>
          </a:p>
        </p:txBody>
      </p:sp>
      <p:pic>
        <p:nvPicPr>
          <p:cNvPr id="20" name="図 19">
            <a:extLst>
              <a:ext uri="{FF2B5EF4-FFF2-40B4-BE49-F238E27FC236}">
                <a16:creationId xmlns:a16="http://schemas.microsoft.com/office/drawing/2014/main" id="{3982C4D1-5438-98BB-9BE6-9F13F466C8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OPTION E</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21 / 24</a:t>
            </a:r>
          </a:p>
        </p:txBody>
      </p:sp>
      <p:sp>
        <p:nvSpPr>
          <p:cNvPr id="4" name="TextBox 3"/>
          <p:cNvSpPr txBox="1"/>
          <p:nvPr/>
        </p:nvSpPr>
        <p:spPr>
          <a:xfrm>
            <a:off x="502920" y="658368"/>
            <a:ext cx="11183112" cy="502920"/>
          </a:xfrm>
          <a:prstGeom prst="rect">
            <a:avLst/>
          </a:prstGeom>
          <a:noFill/>
        </p:spPr>
        <p:txBody>
          <a:bodyPr wrap="square" lIns="0" tIns="0" rIns="0" bIns="0" anchor="t">
            <a:spAutoFit/>
          </a:bodyPr>
          <a:lstStyle/>
          <a:p>
            <a:pPr algn="l"/>
            <a:r>
              <a:rPr sz="2400" b="1" i="0">
                <a:solidFill>
                  <a:srgbClr val="2A2724"/>
                </a:solidFill>
                <a:latin typeface="Yu Gothic"/>
              </a:rPr>
              <a:t>倉庫・物流連携</a:t>
            </a:r>
          </a:p>
        </p:txBody>
      </p:sp>
      <p:sp>
        <p:nvSpPr>
          <p:cNvPr id="5" name="TextBox 4"/>
          <p:cNvSpPr txBox="1"/>
          <p:nvPr/>
        </p:nvSpPr>
        <p:spPr>
          <a:xfrm>
            <a:off x="502920" y="1170432"/>
            <a:ext cx="11183112" cy="320040"/>
          </a:xfrm>
          <a:prstGeom prst="rect">
            <a:avLst/>
          </a:prstGeom>
          <a:noFill/>
        </p:spPr>
        <p:txBody>
          <a:bodyPr wrap="square" lIns="0" tIns="0" rIns="0" bIns="0" anchor="t">
            <a:spAutoFit/>
          </a:bodyPr>
          <a:lstStyle/>
          <a:p>
            <a:pPr algn="l"/>
            <a:r>
              <a:rPr sz="1250" b="0" i="0">
                <a:solidFill>
                  <a:srgbClr val="6B655D"/>
                </a:solidFill>
                <a:latin typeface="Yu Gothic"/>
              </a:rPr>
              <a:t>現在は入荷・倉庫在庫の「確認」まで。外部システムとの連携が対象です。</a:t>
            </a:r>
          </a:p>
        </p:txBody>
      </p:sp>
      <p:sp>
        <p:nvSpPr>
          <p:cNvPr id="6" name="Rounded Rectangle 5"/>
          <p:cNvSpPr/>
          <p:nvPr/>
        </p:nvSpPr>
        <p:spPr>
          <a:xfrm>
            <a:off x="502920" y="1536192"/>
            <a:ext cx="960120" cy="274320"/>
          </a:xfrm>
          <a:prstGeom prst="roundRect">
            <a:avLst>
              <a:gd name="adj" fmla="val 50000"/>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Yu Gothic"/>
              </a:rPr>
              <a:t>OPTION</a:t>
            </a:r>
          </a:p>
        </p:txBody>
      </p:sp>
      <p:sp>
        <p:nvSpPr>
          <p:cNvPr id="7" name="TextBox 6"/>
          <p:cNvSpPr txBox="1"/>
          <p:nvPr/>
        </p:nvSpPr>
        <p:spPr>
          <a:xfrm>
            <a:off x="1600200" y="1536192"/>
            <a:ext cx="7132320" cy="274320"/>
          </a:xfrm>
          <a:prstGeom prst="rect">
            <a:avLst/>
          </a:prstGeom>
          <a:noFill/>
        </p:spPr>
        <p:txBody>
          <a:bodyPr wrap="square" lIns="0" tIns="0" rIns="0" bIns="0" anchor="ctr">
            <a:spAutoFit/>
          </a:bodyPr>
          <a:lstStyle/>
          <a:p>
            <a:pPr algn="l"/>
            <a:r>
              <a:rPr sz="1200" b="1" i="0">
                <a:solidFill>
                  <a:srgbClr val="A85A1F"/>
                </a:solidFill>
                <a:latin typeface="Yu Gothic"/>
              </a:rPr>
              <a:t>今回の推奨構成 73人日には含まれません</a:t>
            </a:r>
          </a:p>
        </p:txBody>
      </p:sp>
      <p:cxnSp>
        <p:nvCxnSpPr>
          <p:cNvPr id="8" name="Connector 7"/>
          <p:cNvCxnSpPr/>
          <p:nvPr/>
        </p:nvCxnSpPr>
        <p:spPr>
          <a:xfrm>
            <a:off x="502920" y="1920240"/>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2103120"/>
            <a:ext cx="5440680" cy="356616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2103120"/>
            <a:ext cx="5440680" cy="237744"/>
          </a:xfrm>
          <a:prstGeom prst="rect">
            <a:avLst/>
          </a:prstGeom>
          <a:solidFill>
            <a:srgbClr val="F3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94360"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22376"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50392" y="2189988"/>
            <a:ext cx="64008" cy="64008"/>
          </a:xfrm>
          <a:prstGeom prst="ellipse">
            <a:avLst/>
          </a:prstGeom>
          <a:solidFill>
            <a:srgbClr val="9A9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103120"/>
            <a:ext cx="4800600" cy="237744"/>
          </a:xfrm>
          <a:prstGeom prst="rect">
            <a:avLst/>
          </a:prstGeom>
          <a:noFill/>
        </p:spPr>
        <p:txBody>
          <a:bodyPr wrap="square" lIns="0" tIns="0" rIns="0" bIns="0" anchor="ctr">
            <a:spAutoFit/>
          </a:bodyPr>
          <a:lstStyle/>
          <a:p>
            <a:pPr algn="l"/>
            <a:r>
              <a:rPr sz="900" b="0" i="0">
                <a:solidFill>
                  <a:srgbClr val="9A938A"/>
                </a:solidFill>
                <a:latin typeface="Yu Gothic"/>
              </a:rPr>
              <a:t>gops.local/warehouse-stock</a:t>
            </a:r>
          </a:p>
        </p:txBody>
      </p:sp>
      <p:pic>
        <p:nvPicPr>
          <p:cNvPr id="15" name="Picture 14" descr="23-warehouse-stock-ja.png__1.8140__top__0.00.png"/>
          <p:cNvPicPr>
            <a:picLocks noChangeAspect="1"/>
          </p:cNvPicPr>
          <p:nvPr/>
        </p:nvPicPr>
        <p:blipFill>
          <a:blip r:embed="rId2"/>
          <a:stretch>
            <a:fillRect/>
          </a:stretch>
        </p:blipFill>
        <p:spPr>
          <a:xfrm>
            <a:off x="502920" y="2340864"/>
            <a:ext cx="5440680" cy="2999232"/>
          </a:xfrm>
          <a:prstGeom prst="rect">
            <a:avLst/>
          </a:prstGeom>
        </p:spPr>
      </p:pic>
      <p:cxnSp>
        <p:nvCxnSpPr>
          <p:cNvPr id="16" name="Connector 15"/>
          <p:cNvCxnSpPr/>
          <p:nvPr/>
        </p:nvCxnSpPr>
        <p:spPr>
          <a:xfrm>
            <a:off x="594360" y="5358384"/>
            <a:ext cx="5257800"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2648" y="5394960"/>
            <a:ext cx="5221224" cy="274320"/>
          </a:xfrm>
          <a:prstGeom prst="rect">
            <a:avLst/>
          </a:prstGeom>
          <a:noFill/>
        </p:spPr>
        <p:txBody>
          <a:bodyPr wrap="square" lIns="0" tIns="0" rIns="0" bIns="0" anchor="t">
            <a:spAutoFit/>
          </a:bodyPr>
          <a:lstStyle/>
          <a:p>
            <a:pPr algn="l"/>
            <a:r>
              <a:rPr sz="1050" b="0" i="0">
                <a:solidFill>
                  <a:srgbClr val="6B655D"/>
                </a:solidFill>
                <a:latin typeface="Yu Gothic"/>
              </a:rPr>
              <a:t>現在：倉庫在庫 — 倉庫別の在庫数量をG-OPSで確認（基本機能）</a:t>
            </a:r>
          </a:p>
        </p:txBody>
      </p:sp>
      <p:sp>
        <p:nvSpPr>
          <p:cNvPr id="18" name="Rounded Rectangle 17"/>
          <p:cNvSpPr/>
          <p:nvPr/>
        </p:nvSpPr>
        <p:spPr>
          <a:xfrm>
            <a:off x="6254496" y="2103120"/>
            <a:ext cx="5431536" cy="3566160"/>
          </a:xfrm>
          <a:prstGeom prst="roundRect">
            <a:avLst>
              <a:gd name="adj" fmla="val 6000"/>
            </a:avLst>
          </a:prstGeom>
          <a:solidFill>
            <a:srgbClr val="FCF8F3"/>
          </a:solidFill>
          <a:ln w="1905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28816" y="2331720"/>
            <a:ext cx="4882896" cy="274320"/>
          </a:xfrm>
          <a:prstGeom prst="rect">
            <a:avLst/>
          </a:prstGeom>
          <a:noFill/>
        </p:spPr>
        <p:txBody>
          <a:bodyPr wrap="square" lIns="0" tIns="0" rIns="0" bIns="0" anchor="t">
            <a:spAutoFit/>
          </a:bodyPr>
          <a:lstStyle/>
          <a:p>
            <a:pPr algn="l"/>
            <a:r>
              <a:rPr sz="1300" b="1" i="0">
                <a:solidFill>
                  <a:srgbClr val="A85A1F"/>
                </a:solidFill>
                <a:latin typeface="Yu Gothic"/>
              </a:rPr>
              <a:t>Optionで拡張後</a:t>
            </a:r>
          </a:p>
        </p:txBody>
      </p:sp>
      <p:sp>
        <p:nvSpPr>
          <p:cNvPr id="20" name="Rounded Rectangle 19"/>
          <p:cNvSpPr/>
          <p:nvPr/>
        </p:nvSpPr>
        <p:spPr>
          <a:xfrm>
            <a:off x="6757416" y="2834640"/>
            <a:ext cx="1737360" cy="731520"/>
          </a:xfrm>
          <a:prstGeom prst="roundRect">
            <a:avLst>
              <a:gd name="adj" fmla="val 6000"/>
            </a:avLst>
          </a:prstGeom>
          <a:solidFill>
            <a:srgbClr val="FFFFFF"/>
          </a:solidFill>
          <a:ln w="13970">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2A2724"/>
                </a:solidFill>
                <a:latin typeface="Yu Gothic"/>
              </a:rPr>
              <a:t>G-OPS</a:t>
            </a:r>
          </a:p>
        </p:txBody>
      </p:sp>
      <p:sp>
        <p:nvSpPr>
          <p:cNvPr id="21" name="Rounded Rectangle 20"/>
          <p:cNvSpPr/>
          <p:nvPr/>
        </p:nvSpPr>
        <p:spPr>
          <a:xfrm>
            <a:off x="9409176" y="2834640"/>
            <a:ext cx="1737360" cy="731520"/>
          </a:xfrm>
          <a:prstGeom prst="roundRect">
            <a:avLst>
              <a:gd name="adj" fmla="val 6000"/>
            </a:avLst>
          </a:prstGeom>
          <a:solidFill>
            <a:srgbClr val="FFFFFF"/>
          </a:solidFill>
          <a:ln w="13970">
            <a:solidFill>
              <a:srgbClr val="A85A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2A2724"/>
                </a:solidFill>
                <a:latin typeface="Yu Gothic"/>
              </a:rPr>
              <a:t>外部倉庫・
物流システム</a:t>
            </a:r>
          </a:p>
        </p:txBody>
      </p:sp>
      <p:cxnSp>
        <p:nvCxnSpPr>
          <p:cNvPr id="22" name="Connector 21"/>
          <p:cNvCxnSpPr/>
          <p:nvPr/>
        </p:nvCxnSpPr>
        <p:spPr>
          <a:xfrm>
            <a:off x="8494776" y="3200400"/>
            <a:ext cx="914400" cy="0"/>
          </a:xfrm>
          <a:prstGeom prst="line">
            <a:avLst/>
          </a:prstGeom>
          <a:ln w="19050">
            <a:solidFill>
              <a:srgbClr val="A85A1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494776" y="3246120"/>
            <a:ext cx="914400" cy="228600"/>
          </a:xfrm>
          <a:prstGeom prst="rect">
            <a:avLst/>
          </a:prstGeom>
          <a:noFill/>
        </p:spPr>
        <p:txBody>
          <a:bodyPr wrap="square" lIns="0" tIns="0" rIns="0" bIns="0" anchor="t">
            <a:spAutoFit/>
          </a:bodyPr>
          <a:lstStyle/>
          <a:p>
            <a:pPr algn="ctr"/>
            <a:r>
              <a:rPr sz="1600" b="1" i="0">
                <a:solidFill>
                  <a:srgbClr val="A85A1F"/>
                </a:solidFill>
                <a:latin typeface="Yu Gothic"/>
              </a:rPr>
              <a:t>⇄</a:t>
            </a:r>
          </a:p>
        </p:txBody>
      </p:sp>
      <p:sp>
        <p:nvSpPr>
          <p:cNvPr id="24" name="TextBox 23"/>
          <p:cNvSpPr txBox="1"/>
          <p:nvPr/>
        </p:nvSpPr>
        <p:spPr>
          <a:xfrm>
            <a:off x="6528816" y="3840480"/>
            <a:ext cx="4882896" cy="822960"/>
          </a:xfrm>
          <a:prstGeom prst="rect">
            <a:avLst/>
          </a:prstGeom>
          <a:noFill/>
        </p:spPr>
        <p:txBody>
          <a:bodyPr wrap="square" lIns="0" tIns="0" rIns="0" bIns="0" anchor="t">
            <a:spAutoFit/>
          </a:bodyPr>
          <a:lstStyle/>
          <a:p>
            <a:pPr algn="l">
              <a:lnSpc>
                <a:spcPct val="130000"/>
              </a:lnSpc>
            </a:pPr>
            <a:r>
              <a:rPr sz="1150" b="0" i="0">
                <a:solidFill>
                  <a:srgbClr val="2A2724"/>
                </a:solidFill>
                <a:latin typeface="Yu Gothic"/>
              </a:rPr>
              <a:t>入荷予定・在庫状況などのデータを外部倉庫・物流システムと連携するイメージです。</a:t>
            </a:r>
          </a:p>
        </p:txBody>
      </p:sp>
      <p:sp>
        <p:nvSpPr>
          <p:cNvPr id="25" name="TextBox 24"/>
          <p:cNvSpPr txBox="1"/>
          <p:nvPr/>
        </p:nvSpPr>
        <p:spPr>
          <a:xfrm>
            <a:off x="6528816" y="4709160"/>
            <a:ext cx="4882896" cy="868680"/>
          </a:xfrm>
          <a:prstGeom prst="rect">
            <a:avLst/>
          </a:prstGeom>
          <a:noFill/>
        </p:spPr>
        <p:txBody>
          <a:bodyPr wrap="square" lIns="0" tIns="0" rIns="0" bIns="0" anchor="t">
            <a:spAutoFit/>
          </a:bodyPr>
          <a:lstStyle/>
          <a:p>
            <a:pPr algn="l">
              <a:lnSpc>
                <a:spcPct val="130000"/>
              </a:lnSpc>
            </a:pPr>
            <a:r>
              <a:rPr sz="1050" b="0" i="0">
                <a:solidFill>
                  <a:srgbClr val="6B655D"/>
                </a:solidFill>
                <a:latin typeface="Yu Gothic"/>
              </a:rPr>
              <a:t>対象システム・連携データ・連携方式（API／File／SFTP等）は未確定のため、要件定義後に確定します。</a:t>
            </a:r>
          </a:p>
        </p:txBody>
      </p:sp>
      <p:sp>
        <p:nvSpPr>
          <p:cNvPr id="26" name="TextBox 25"/>
          <p:cNvSpPr txBox="1"/>
          <p:nvPr/>
        </p:nvSpPr>
        <p:spPr>
          <a:xfrm>
            <a:off x="502920" y="6263640"/>
            <a:ext cx="10725912" cy="457200"/>
          </a:xfrm>
          <a:prstGeom prst="rect">
            <a:avLst/>
          </a:prstGeom>
          <a:noFill/>
        </p:spPr>
        <p:txBody>
          <a:bodyPr wrap="square" lIns="0" tIns="0" rIns="0" bIns="0" anchor="t">
            <a:spAutoFit/>
          </a:bodyPr>
          <a:lstStyle/>
          <a:p>
            <a:pPr algn="l"/>
            <a:r>
              <a:rPr sz="1300" b="1" i="0">
                <a:solidFill>
                  <a:srgbClr val="A85A1F"/>
                </a:solidFill>
                <a:latin typeface="Yu Gothic"/>
              </a:rPr>
              <a:t>概算：別途見積</a:t>
            </a:r>
          </a:p>
        </p:txBody>
      </p:sp>
      <p:pic>
        <p:nvPicPr>
          <p:cNvPr id="27" name="図 26">
            <a:extLst>
              <a:ext uri="{FF2B5EF4-FFF2-40B4-BE49-F238E27FC236}">
                <a16:creationId xmlns:a16="http://schemas.microsoft.com/office/drawing/2014/main" id="{B42AAAF6-76FE-2ACA-A091-20C0AFF177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SCHEDULE</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22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導入スケジュール（想定）</a:t>
            </a:r>
          </a:p>
        </p:txBody>
      </p:sp>
      <p:sp>
        <p:nvSpPr>
          <p:cNvPr id="5" name="TextBox 4"/>
          <p:cNvSpPr txBox="1"/>
          <p:nvPr/>
        </p:nvSpPr>
        <p:spPr>
          <a:xfrm>
            <a:off x="502920" y="1115568"/>
            <a:ext cx="11183112" cy="365760"/>
          </a:xfrm>
          <a:prstGeom prst="rect">
            <a:avLst/>
          </a:prstGeom>
          <a:noFill/>
        </p:spPr>
        <p:txBody>
          <a:bodyPr wrap="square" lIns="0" tIns="0" rIns="0" bIns="0" anchor="t">
            <a:spAutoFit/>
          </a:bodyPr>
          <a:lstStyle/>
          <a:p>
            <a:pPr algn="l"/>
            <a:r>
              <a:rPr sz="1300" b="0" i="0">
                <a:solidFill>
                  <a:srgbClr val="6B655D"/>
                </a:solidFill>
                <a:latin typeface="Yu Gothic"/>
              </a:rPr>
              <a:t>想定期間：約3〜3.5か月　※ 一部の工程は並行実施します。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965960"/>
            <a:ext cx="1783080" cy="566928"/>
          </a:xfrm>
          <a:prstGeom prst="rect">
            <a:avLst/>
          </a:prstGeom>
          <a:noFill/>
        </p:spPr>
        <p:txBody>
          <a:bodyPr wrap="square" lIns="0" tIns="0" rIns="0" bIns="0" anchor="ctr">
            <a:spAutoFit/>
          </a:bodyPr>
          <a:lstStyle/>
          <a:p>
            <a:pPr algn="l">
              <a:lnSpc>
                <a:spcPct val="110000"/>
              </a:lnSpc>
            </a:pPr>
            <a:r>
              <a:rPr sz="1150" b="1" i="0">
                <a:solidFill>
                  <a:srgbClr val="2A2724"/>
                </a:solidFill>
                <a:latin typeface="Yu Gothic"/>
              </a:rPr>
              <a:t>1. 要件・現行運用確定</a:t>
            </a:r>
          </a:p>
        </p:txBody>
      </p:sp>
      <p:sp>
        <p:nvSpPr>
          <p:cNvPr id="8" name="Rounded Rectangle 7"/>
          <p:cNvSpPr/>
          <p:nvPr/>
        </p:nvSpPr>
        <p:spPr>
          <a:xfrm>
            <a:off x="2377440" y="2057400"/>
            <a:ext cx="1447800" cy="329184"/>
          </a:xfrm>
          <a:prstGeom prst="roundRect">
            <a:avLst>
              <a:gd name="adj" fmla="val 50000"/>
            </a:avLst>
          </a:prstGeom>
          <a:solidFill>
            <a:srgbClr val="C8722F"/>
          </a:solidFill>
          <a:ln w="1270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Yu Gothic"/>
              </a:rPr>
              <a:t>約2週間</a:t>
            </a:r>
          </a:p>
        </p:txBody>
      </p:sp>
      <p:sp>
        <p:nvSpPr>
          <p:cNvPr id="9" name="TextBox 8"/>
          <p:cNvSpPr txBox="1"/>
          <p:nvPr/>
        </p:nvSpPr>
        <p:spPr>
          <a:xfrm>
            <a:off x="502920" y="2532888"/>
            <a:ext cx="1783080" cy="566928"/>
          </a:xfrm>
          <a:prstGeom prst="rect">
            <a:avLst/>
          </a:prstGeom>
          <a:noFill/>
        </p:spPr>
        <p:txBody>
          <a:bodyPr wrap="square" lIns="0" tIns="0" rIns="0" bIns="0" anchor="ctr">
            <a:spAutoFit/>
          </a:bodyPr>
          <a:lstStyle/>
          <a:p>
            <a:pPr algn="l">
              <a:lnSpc>
                <a:spcPct val="110000"/>
              </a:lnSpc>
            </a:pPr>
            <a:r>
              <a:rPr sz="1150" b="1" i="0">
                <a:solidFill>
                  <a:srgbClr val="2A2724"/>
                </a:solidFill>
                <a:latin typeface="Yu Gothic"/>
              </a:rPr>
              <a:t>2. Production化</a:t>
            </a:r>
          </a:p>
        </p:txBody>
      </p:sp>
      <p:sp>
        <p:nvSpPr>
          <p:cNvPr id="10" name="Rounded Rectangle 9"/>
          <p:cNvSpPr/>
          <p:nvPr/>
        </p:nvSpPr>
        <p:spPr>
          <a:xfrm>
            <a:off x="3101340" y="2624328"/>
            <a:ext cx="3619500" cy="329184"/>
          </a:xfrm>
          <a:prstGeom prst="roundRect">
            <a:avLst>
              <a:gd name="adj" fmla="val 50000"/>
            </a:avLst>
          </a:prstGeom>
          <a:solidFill>
            <a:srgbClr val="FCF8F3"/>
          </a:solidFill>
          <a:ln w="1270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A85A1F"/>
                </a:solidFill>
                <a:latin typeface="Yu Gothic"/>
              </a:rPr>
              <a:t>約4〜5週間</a:t>
            </a:r>
          </a:p>
        </p:txBody>
      </p:sp>
      <p:sp>
        <p:nvSpPr>
          <p:cNvPr id="11" name="TextBox 10"/>
          <p:cNvSpPr txBox="1"/>
          <p:nvPr/>
        </p:nvSpPr>
        <p:spPr>
          <a:xfrm>
            <a:off x="502920" y="3099816"/>
            <a:ext cx="1783080" cy="566928"/>
          </a:xfrm>
          <a:prstGeom prst="rect">
            <a:avLst/>
          </a:prstGeom>
          <a:noFill/>
        </p:spPr>
        <p:txBody>
          <a:bodyPr wrap="square" lIns="0" tIns="0" rIns="0" bIns="0" anchor="ctr">
            <a:spAutoFit/>
          </a:bodyPr>
          <a:lstStyle/>
          <a:p>
            <a:pPr algn="l">
              <a:lnSpc>
                <a:spcPct val="110000"/>
              </a:lnSpc>
            </a:pPr>
            <a:r>
              <a:rPr sz="1150" b="1" i="0">
                <a:solidFill>
                  <a:srgbClr val="2A2724"/>
                </a:solidFill>
                <a:latin typeface="Yu Gothic"/>
              </a:rPr>
              <a:t>3. G-SYS / Mail 実連携</a:t>
            </a:r>
          </a:p>
        </p:txBody>
      </p:sp>
      <p:sp>
        <p:nvSpPr>
          <p:cNvPr id="12" name="Rounded Rectangle 11"/>
          <p:cNvSpPr/>
          <p:nvPr/>
        </p:nvSpPr>
        <p:spPr>
          <a:xfrm>
            <a:off x="5996940" y="3191256"/>
            <a:ext cx="2171700" cy="329184"/>
          </a:xfrm>
          <a:prstGeom prst="roundRect">
            <a:avLst>
              <a:gd name="adj" fmla="val 50000"/>
            </a:avLst>
          </a:prstGeom>
          <a:solidFill>
            <a:srgbClr val="C8722F"/>
          </a:solidFill>
          <a:ln w="1270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Yu Gothic"/>
              </a:rPr>
              <a:t>約2〜3週間</a:t>
            </a:r>
          </a:p>
        </p:txBody>
      </p:sp>
      <p:sp>
        <p:nvSpPr>
          <p:cNvPr id="13" name="TextBox 12"/>
          <p:cNvSpPr txBox="1"/>
          <p:nvPr/>
        </p:nvSpPr>
        <p:spPr>
          <a:xfrm>
            <a:off x="502920" y="3666744"/>
            <a:ext cx="1783080" cy="566928"/>
          </a:xfrm>
          <a:prstGeom prst="rect">
            <a:avLst/>
          </a:prstGeom>
          <a:noFill/>
        </p:spPr>
        <p:txBody>
          <a:bodyPr wrap="square" lIns="0" tIns="0" rIns="0" bIns="0" anchor="ctr">
            <a:spAutoFit/>
          </a:bodyPr>
          <a:lstStyle/>
          <a:p>
            <a:pPr algn="l">
              <a:lnSpc>
                <a:spcPct val="110000"/>
              </a:lnSpc>
            </a:pPr>
            <a:r>
              <a:rPr sz="1150" b="1" i="0">
                <a:solidFill>
                  <a:srgbClr val="2A2724"/>
                </a:solidFill>
                <a:latin typeface="Yu Gothic"/>
              </a:rPr>
              <a:t>4. 総合・Integration Test</a:t>
            </a:r>
          </a:p>
        </p:txBody>
      </p:sp>
      <p:sp>
        <p:nvSpPr>
          <p:cNvPr id="14" name="Rounded Rectangle 13"/>
          <p:cNvSpPr/>
          <p:nvPr/>
        </p:nvSpPr>
        <p:spPr>
          <a:xfrm>
            <a:off x="8168640" y="3758184"/>
            <a:ext cx="1447800" cy="329184"/>
          </a:xfrm>
          <a:prstGeom prst="roundRect">
            <a:avLst>
              <a:gd name="adj" fmla="val 50000"/>
            </a:avLst>
          </a:prstGeom>
          <a:solidFill>
            <a:srgbClr val="C8722F"/>
          </a:solidFill>
          <a:ln w="1270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Yu Gothic"/>
              </a:rPr>
              <a:t>約2週間</a:t>
            </a:r>
          </a:p>
        </p:txBody>
      </p:sp>
      <p:sp>
        <p:nvSpPr>
          <p:cNvPr id="15" name="TextBox 14"/>
          <p:cNvSpPr txBox="1"/>
          <p:nvPr/>
        </p:nvSpPr>
        <p:spPr>
          <a:xfrm>
            <a:off x="502920" y="4233672"/>
            <a:ext cx="1783080" cy="566928"/>
          </a:xfrm>
          <a:prstGeom prst="rect">
            <a:avLst/>
          </a:prstGeom>
          <a:noFill/>
        </p:spPr>
        <p:txBody>
          <a:bodyPr wrap="square" lIns="0" tIns="0" rIns="0" bIns="0" anchor="ctr">
            <a:spAutoFit/>
          </a:bodyPr>
          <a:lstStyle/>
          <a:p>
            <a:pPr algn="l">
              <a:lnSpc>
                <a:spcPct val="110000"/>
              </a:lnSpc>
            </a:pPr>
            <a:r>
              <a:rPr sz="1150" b="1" i="0">
                <a:solidFill>
                  <a:srgbClr val="2A2724"/>
                </a:solidFill>
                <a:latin typeface="Yu Gothic"/>
              </a:rPr>
              <a:t>5. UAT</a:t>
            </a:r>
          </a:p>
        </p:txBody>
      </p:sp>
      <p:sp>
        <p:nvSpPr>
          <p:cNvPr id="16" name="Rounded Rectangle 15"/>
          <p:cNvSpPr/>
          <p:nvPr/>
        </p:nvSpPr>
        <p:spPr>
          <a:xfrm>
            <a:off x="8892540" y="4325112"/>
            <a:ext cx="1447800" cy="329184"/>
          </a:xfrm>
          <a:prstGeom prst="roundRect">
            <a:avLst>
              <a:gd name="adj" fmla="val 50000"/>
            </a:avLst>
          </a:prstGeom>
          <a:solidFill>
            <a:srgbClr val="C8722F"/>
          </a:solidFill>
          <a:ln w="1270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Yu Gothic"/>
              </a:rPr>
              <a:t>約2週間</a:t>
            </a:r>
          </a:p>
        </p:txBody>
      </p:sp>
      <p:cxnSp>
        <p:nvCxnSpPr>
          <p:cNvPr id="17" name="Connector 16"/>
          <p:cNvCxnSpPr/>
          <p:nvPr/>
        </p:nvCxnSpPr>
        <p:spPr>
          <a:xfrm>
            <a:off x="2377440" y="4892040"/>
            <a:ext cx="8686800"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377440" y="4965192"/>
            <a:ext cx="8686800" cy="274320"/>
          </a:xfrm>
          <a:prstGeom prst="rect">
            <a:avLst/>
          </a:prstGeom>
          <a:noFill/>
        </p:spPr>
        <p:txBody>
          <a:bodyPr wrap="square" lIns="0" tIns="0" rIns="0" bIns="0" anchor="t">
            <a:spAutoFit/>
          </a:bodyPr>
          <a:lstStyle/>
          <a:p>
            <a:pPr algn="l"/>
            <a:r>
              <a:rPr sz="1200" b="1" i="0">
                <a:solidFill>
                  <a:srgbClr val="3F6B3B"/>
                </a:solidFill>
                <a:latin typeface="Yu Gothic"/>
              </a:rPr>
              <a:t>6. 本番リリース</a:t>
            </a:r>
          </a:p>
        </p:txBody>
      </p:sp>
      <p:sp>
        <p:nvSpPr>
          <p:cNvPr id="19" name="TextBox 18"/>
          <p:cNvSpPr txBox="1"/>
          <p:nvPr/>
        </p:nvSpPr>
        <p:spPr>
          <a:xfrm>
            <a:off x="502920" y="5989320"/>
            <a:ext cx="11183112" cy="548640"/>
          </a:xfrm>
          <a:prstGeom prst="rect">
            <a:avLst/>
          </a:prstGeom>
          <a:noFill/>
        </p:spPr>
        <p:txBody>
          <a:bodyPr wrap="square" lIns="0" tIns="0" rIns="0" bIns="0" anchor="t">
            <a:spAutoFit/>
          </a:bodyPr>
          <a:lstStyle/>
          <a:p>
            <a:pPr algn="l">
              <a:lnSpc>
                <a:spcPct val="130000"/>
              </a:lnSpc>
            </a:pPr>
            <a:r>
              <a:rPr sz="1200" b="0" i="0">
                <a:solidFill>
                  <a:srgbClr val="6B655D"/>
                </a:solidFill>
                <a:latin typeface="Yu Gothic"/>
              </a:rPr>
              <a:t>要件確定後にProduction化を開始し、G-SYS・Mailとの実連携やIntegration Test・UATの一部は並行して進めます。全体で約3〜3.5か月を想定しています。</a:t>
            </a:r>
          </a:p>
        </p:txBody>
      </p:sp>
      <p:pic>
        <p:nvPicPr>
          <p:cNvPr id="20" name="図 19">
            <a:extLst>
              <a:ext uri="{FF2B5EF4-FFF2-40B4-BE49-F238E27FC236}">
                <a16:creationId xmlns:a16="http://schemas.microsoft.com/office/drawing/2014/main" id="{047DE639-F427-66A3-8674-A86F3B4494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FINAL ESTIMATE</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23 / 24</a:t>
            </a:r>
          </a:p>
        </p:txBody>
      </p:sp>
      <p:sp>
        <p:nvSpPr>
          <p:cNvPr id="4" name="TextBox 3"/>
          <p:cNvSpPr txBox="1"/>
          <p:nvPr/>
        </p:nvSpPr>
        <p:spPr>
          <a:xfrm>
            <a:off x="502920" y="658368"/>
            <a:ext cx="11183112" cy="548640"/>
          </a:xfrm>
          <a:prstGeom prst="rect">
            <a:avLst/>
          </a:prstGeom>
          <a:noFill/>
        </p:spPr>
        <p:txBody>
          <a:bodyPr wrap="square" lIns="0" tIns="0" rIns="0" bIns="0" anchor="t">
            <a:spAutoFit/>
          </a:bodyPr>
          <a:lstStyle/>
          <a:p>
            <a:pPr algn="l"/>
            <a:r>
              <a:rPr sz="2700" b="1" i="0">
                <a:solidFill>
                  <a:srgbClr val="2A2724"/>
                </a:solidFill>
                <a:latin typeface="Yu Gothic"/>
              </a:rPr>
              <a:t>概算見積 — ご提案の結論</a:t>
            </a:r>
          </a:p>
        </p:txBody>
      </p:sp>
      <p:sp>
        <p:nvSpPr>
          <p:cNvPr id="5" name="TextBox 4"/>
          <p:cNvSpPr txBox="1"/>
          <p:nvPr/>
        </p:nvSpPr>
        <p:spPr>
          <a:xfrm>
            <a:off x="502920" y="1115568"/>
            <a:ext cx="11183112" cy="200055"/>
          </a:xfrm>
          <a:prstGeom prst="rect">
            <a:avLst/>
          </a:prstGeom>
          <a:noFill/>
        </p:spPr>
        <p:txBody>
          <a:bodyPr wrap="square" lIns="0" tIns="0" rIns="0" bIns="0" anchor="t">
            <a:spAutoFit/>
          </a:bodyPr>
          <a:lstStyle/>
          <a:p>
            <a:pPr algn="l"/>
            <a:r>
              <a:rPr sz="1300" b="0" i="0" dirty="0">
                <a:solidFill>
                  <a:srgbClr val="6B655D"/>
                </a:solidFill>
                <a:latin typeface="Yu Gothic"/>
              </a:rPr>
              <a:t>73人日・参考価格400万円の構成をご提案します。</a:t>
            </a:r>
          </a:p>
        </p:txBody>
      </p:sp>
      <p:cxnSp>
        <p:nvCxnSpPr>
          <p:cNvPr id="6" name="Connector 5"/>
          <p:cNvCxnSpPr/>
          <p:nvPr/>
        </p:nvCxnSpPr>
        <p:spPr>
          <a:xfrm>
            <a:off x="502920" y="1609344"/>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2920" y="1783080"/>
            <a:ext cx="5120640" cy="457200"/>
          </a:xfrm>
          <a:prstGeom prst="roundRect">
            <a:avLst>
              <a:gd name="adj" fmla="val 6000"/>
            </a:avLst>
          </a:prstGeom>
          <a:solidFill>
            <a:srgbClr val="FFFFFF"/>
          </a:solidFill>
          <a:ln w="12700">
            <a:solidFill>
              <a:srgbClr val="D9D3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83080"/>
            <a:ext cx="3657600" cy="457200"/>
          </a:xfrm>
          <a:prstGeom prst="rect">
            <a:avLst/>
          </a:prstGeom>
          <a:noFill/>
        </p:spPr>
        <p:txBody>
          <a:bodyPr wrap="square" lIns="0" tIns="0" rIns="0" bIns="0" anchor="ctr">
            <a:spAutoFit/>
          </a:bodyPr>
          <a:lstStyle/>
          <a:p>
            <a:pPr algn="l"/>
            <a:r>
              <a:rPr sz="1250" b="0" i="0">
                <a:solidFill>
                  <a:srgbClr val="2A2724"/>
                </a:solidFill>
                <a:latin typeface="Yu Gothic"/>
              </a:rPr>
              <a:t>基本機能</a:t>
            </a:r>
          </a:p>
        </p:txBody>
      </p:sp>
      <p:sp>
        <p:nvSpPr>
          <p:cNvPr id="9" name="TextBox 8"/>
          <p:cNvSpPr txBox="1"/>
          <p:nvPr/>
        </p:nvSpPr>
        <p:spPr>
          <a:xfrm>
            <a:off x="3977640" y="1783080"/>
            <a:ext cx="1463040" cy="457200"/>
          </a:xfrm>
          <a:prstGeom prst="rect">
            <a:avLst/>
          </a:prstGeom>
          <a:noFill/>
        </p:spPr>
        <p:txBody>
          <a:bodyPr wrap="square" lIns="0" tIns="0" rIns="0" bIns="0" anchor="ctr">
            <a:spAutoFit/>
          </a:bodyPr>
          <a:lstStyle/>
          <a:p>
            <a:pPr algn="r"/>
            <a:r>
              <a:rPr sz="1400" b="1" i="0">
                <a:solidFill>
                  <a:srgbClr val="2A2724"/>
                </a:solidFill>
                <a:latin typeface="Yu Gothic"/>
              </a:rPr>
              <a:t>63人日</a:t>
            </a:r>
          </a:p>
        </p:txBody>
      </p:sp>
      <p:sp>
        <p:nvSpPr>
          <p:cNvPr id="10" name="TextBox 9"/>
          <p:cNvSpPr txBox="1"/>
          <p:nvPr/>
        </p:nvSpPr>
        <p:spPr>
          <a:xfrm>
            <a:off x="2834640" y="2267712"/>
            <a:ext cx="548640" cy="274320"/>
          </a:xfrm>
          <a:prstGeom prst="rect">
            <a:avLst/>
          </a:prstGeom>
          <a:noFill/>
        </p:spPr>
        <p:txBody>
          <a:bodyPr wrap="square" lIns="0" tIns="0" rIns="0" bIns="0" anchor="t">
            <a:spAutoFit/>
          </a:bodyPr>
          <a:lstStyle/>
          <a:p>
            <a:pPr algn="ctr"/>
            <a:r>
              <a:rPr sz="1500" b="1" i="0">
                <a:solidFill>
                  <a:srgbClr val="6B655D"/>
                </a:solidFill>
                <a:latin typeface="Yu Gothic"/>
              </a:rPr>
              <a:t>＋</a:t>
            </a:r>
          </a:p>
        </p:txBody>
      </p:sp>
      <p:sp>
        <p:nvSpPr>
          <p:cNvPr id="11" name="Rounded Rectangle 10"/>
          <p:cNvSpPr/>
          <p:nvPr/>
        </p:nvSpPr>
        <p:spPr>
          <a:xfrm>
            <a:off x="502920" y="2560320"/>
            <a:ext cx="5120640" cy="457200"/>
          </a:xfrm>
          <a:prstGeom prst="roundRect">
            <a:avLst>
              <a:gd name="adj" fmla="val 6000"/>
            </a:avLst>
          </a:prstGeom>
          <a:solidFill>
            <a:srgbClr val="FCF8F3"/>
          </a:solidFill>
          <a:ln w="12700">
            <a:solidFill>
              <a:srgbClr val="EAD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92740"/>
            <a:ext cx="3657600" cy="192360"/>
          </a:xfrm>
          <a:prstGeom prst="rect">
            <a:avLst/>
          </a:prstGeom>
          <a:noFill/>
        </p:spPr>
        <p:txBody>
          <a:bodyPr wrap="square" lIns="0" tIns="0" rIns="0" bIns="0" anchor="ctr">
            <a:spAutoFit/>
          </a:bodyPr>
          <a:lstStyle/>
          <a:p>
            <a:pPr algn="l"/>
            <a:r>
              <a:rPr lang="ja-JP" altLang="en-US" sz="1250" b="0" i="0" dirty="0">
                <a:solidFill>
                  <a:srgbClr val="2A2724"/>
                </a:solidFill>
                <a:latin typeface="游ゴシック" panose="020B0400000000000000" pitchFamily="50" charset="-128"/>
                <a:ea typeface="游ゴシック" panose="020B0400000000000000" pitchFamily="50" charset="-128"/>
              </a:rPr>
              <a:t>弊社</a:t>
            </a:r>
            <a:r>
              <a:rPr sz="1250" b="0" i="0" dirty="0" err="1">
                <a:solidFill>
                  <a:srgbClr val="2A2724"/>
                </a:solidFill>
                <a:latin typeface="游ゴシック" panose="020B0400000000000000" pitchFamily="50" charset="-128"/>
                <a:ea typeface="游ゴシック" panose="020B0400000000000000" pitchFamily="50" charset="-128"/>
              </a:rPr>
              <a:t>推奨追加機能</a:t>
            </a:r>
            <a:endParaRPr sz="1250" b="0" i="0" dirty="0">
              <a:solidFill>
                <a:srgbClr val="2A2724"/>
              </a:solidFill>
              <a:latin typeface="游ゴシック" panose="020B0400000000000000" pitchFamily="50" charset="-128"/>
              <a:ea typeface="游ゴシック" panose="020B0400000000000000" pitchFamily="50" charset="-128"/>
            </a:endParaRPr>
          </a:p>
        </p:txBody>
      </p:sp>
      <p:sp>
        <p:nvSpPr>
          <p:cNvPr id="13" name="TextBox 12"/>
          <p:cNvSpPr txBox="1"/>
          <p:nvPr/>
        </p:nvSpPr>
        <p:spPr>
          <a:xfrm>
            <a:off x="3977640" y="2560320"/>
            <a:ext cx="1463040" cy="457200"/>
          </a:xfrm>
          <a:prstGeom prst="rect">
            <a:avLst/>
          </a:prstGeom>
          <a:noFill/>
        </p:spPr>
        <p:txBody>
          <a:bodyPr wrap="square" lIns="0" tIns="0" rIns="0" bIns="0" anchor="ctr">
            <a:spAutoFit/>
          </a:bodyPr>
          <a:lstStyle/>
          <a:p>
            <a:pPr algn="r"/>
            <a:r>
              <a:rPr sz="1400" b="1" i="0">
                <a:solidFill>
                  <a:srgbClr val="A85A1F"/>
                </a:solidFill>
                <a:latin typeface="Yu Gothic"/>
              </a:rPr>
              <a:t>10人日</a:t>
            </a:r>
          </a:p>
        </p:txBody>
      </p:sp>
      <p:sp>
        <p:nvSpPr>
          <p:cNvPr id="14" name="Rounded Rectangle 13"/>
          <p:cNvSpPr/>
          <p:nvPr/>
        </p:nvSpPr>
        <p:spPr>
          <a:xfrm>
            <a:off x="502920" y="3337560"/>
            <a:ext cx="5120640" cy="1874519"/>
          </a:xfrm>
          <a:prstGeom prst="roundRect">
            <a:avLst>
              <a:gd name="adj" fmla="val 6000"/>
            </a:avLst>
          </a:prstGeom>
          <a:solidFill>
            <a:srgbClr val="FCEAD8"/>
          </a:solidFill>
          <a:ln w="22225">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465576"/>
            <a:ext cx="4572000" cy="230832"/>
          </a:xfrm>
          <a:prstGeom prst="rect">
            <a:avLst/>
          </a:prstGeom>
          <a:noFill/>
        </p:spPr>
        <p:txBody>
          <a:bodyPr wrap="square" lIns="0" tIns="0" rIns="0" bIns="0" anchor="t">
            <a:spAutoFit/>
          </a:bodyPr>
          <a:lstStyle/>
          <a:p>
            <a:pPr algn="l"/>
            <a:r>
              <a:rPr sz="1500" b="1" i="0" dirty="0">
                <a:solidFill>
                  <a:srgbClr val="A85A1F"/>
                </a:solidFill>
                <a:latin typeface="Yu Gothic"/>
              </a:rPr>
              <a:t>★ </a:t>
            </a:r>
            <a:r>
              <a:rPr lang="ja-JP" altLang="en-US" sz="1500" b="1" i="0" dirty="0">
                <a:solidFill>
                  <a:srgbClr val="A85A1F"/>
                </a:solidFill>
                <a:latin typeface="Yu Gothic"/>
              </a:rPr>
              <a:t>弊社</a:t>
            </a:r>
            <a:r>
              <a:rPr sz="1500" b="1" i="0" dirty="0" err="1">
                <a:solidFill>
                  <a:srgbClr val="A85A1F"/>
                </a:solidFill>
                <a:latin typeface="Yu Gothic"/>
              </a:rPr>
              <a:t>推奨構成</a:t>
            </a:r>
            <a:r>
              <a:rPr sz="1500" b="1" i="0" dirty="0">
                <a:solidFill>
                  <a:srgbClr val="A85A1F"/>
                </a:solidFill>
                <a:latin typeface="Yu Gothic"/>
              </a:rPr>
              <a:t> ★</a:t>
            </a:r>
          </a:p>
        </p:txBody>
      </p:sp>
      <p:sp>
        <p:nvSpPr>
          <p:cNvPr id="16" name="TextBox 15"/>
          <p:cNvSpPr txBox="1"/>
          <p:nvPr/>
        </p:nvSpPr>
        <p:spPr>
          <a:xfrm>
            <a:off x="777240" y="3794760"/>
            <a:ext cx="4572000" cy="502920"/>
          </a:xfrm>
          <a:prstGeom prst="rect">
            <a:avLst/>
          </a:prstGeom>
          <a:noFill/>
        </p:spPr>
        <p:txBody>
          <a:bodyPr wrap="square" lIns="0" tIns="0" rIns="0" bIns="0" anchor="t">
            <a:spAutoFit/>
          </a:bodyPr>
          <a:lstStyle/>
          <a:p>
            <a:pPr algn="l"/>
            <a:r>
              <a:rPr sz="2200" b="1" i="0">
                <a:solidFill>
                  <a:srgbClr val="A85A1F"/>
                </a:solidFill>
                <a:latin typeface="Yu Gothic"/>
              </a:rPr>
              <a:t>73人日（約3.65人月）</a:t>
            </a:r>
          </a:p>
        </p:txBody>
      </p:sp>
      <p:cxnSp>
        <p:nvCxnSpPr>
          <p:cNvPr id="17" name="Connector 16"/>
          <p:cNvCxnSpPr/>
          <p:nvPr/>
        </p:nvCxnSpPr>
        <p:spPr>
          <a:xfrm>
            <a:off x="777240" y="4343400"/>
            <a:ext cx="4572000" cy="0"/>
          </a:xfrm>
          <a:prstGeom prst="line">
            <a:avLst/>
          </a:prstGeom>
          <a:ln w="9525">
            <a:solidFill>
              <a:srgbClr val="EAD2B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4416552"/>
            <a:ext cx="4572000" cy="274320"/>
          </a:xfrm>
          <a:prstGeom prst="rect">
            <a:avLst/>
          </a:prstGeom>
          <a:noFill/>
        </p:spPr>
        <p:txBody>
          <a:bodyPr wrap="square" lIns="0" tIns="0" rIns="0" bIns="0" anchor="t">
            <a:spAutoFit/>
          </a:bodyPr>
          <a:lstStyle/>
          <a:p>
            <a:pPr algn="l"/>
            <a:r>
              <a:rPr sz="1200" b="0" i="0">
                <a:solidFill>
                  <a:srgbClr val="2A2724"/>
                </a:solidFill>
                <a:latin typeface="Yu Gothic"/>
              </a:rPr>
              <a:t>参考価格</a:t>
            </a:r>
          </a:p>
        </p:txBody>
      </p:sp>
      <p:sp>
        <p:nvSpPr>
          <p:cNvPr id="19" name="TextBox 18"/>
          <p:cNvSpPr txBox="1"/>
          <p:nvPr/>
        </p:nvSpPr>
        <p:spPr>
          <a:xfrm>
            <a:off x="777240" y="4690872"/>
            <a:ext cx="4572000" cy="457200"/>
          </a:xfrm>
          <a:prstGeom prst="rect">
            <a:avLst/>
          </a:prstGeom>
          <a:noFill/>
        </p:spPr>
        <p:txBody>
          <a:bodyPr wrap="square" lIns="0" tIns="0" rIns="0" bIns="0" anchor="t">
            <a:spAutoFit/>
          </a:bodyPr>
          <a:lstStyle/>
          <a:p>
            <a:pPr algn="l"/>
            <a:r>
              <a:rPr sz="2200" b="1" i="0">
                <a:solidFill>
                  <a:srgbClr val="A85A1F"/>
                </a:solidFill>
                <a:latin typeface="Yu Gothic"/>
              </a:rPr>
              <a:t>4,000,000円（税別）</a:t>
            </a:r>
          </a:p>
        </p:txBody>
      </p:sp>
      <p:sp>
        <p:nvSpPr>
          <p:cNvPr id="20" name="TextBox 19"/>
          <p:cNvSpPr txBox="1"/>
          <p:nvPr/>
        </p:nvSpPr>
        <p:spPr>
          <a:xfrm>
            <a:off x="6263640" y="1783080"/>
            <a:ext cx="5394960" cy="320040"/>
          </a:xfrm>
          <a:prstGeom prst="rect">
            <a:avLst/>
          </a:prstGeom>
          <a:noFill/>
        </p:spPr>
        <p:txBody>
          <a:bodyPr wrap="square" lIns="0" tIns="0" rIns="0" bIns="0" anchor="t">
            <a:spAutoFit/>
          </a:bodyPr>
          <a:lstStyle/>
          <a:p>
            <a:pPr algn="l"/>
            <a:r>
              <a:rPr sz="1400" b="1" i="0">
                <a:solidFill>
                  <a:srgbClr val="2A2724"/>
                </a:solidFill>
                <a:latin typeface="Yu Gothic"/>
              </a:rPr>
              <a:t>必要に応じてOption追加（別途見積）</a:t>
            </a:r>
          </a:p>
        </p:txBody>
      </p:sp>
      <p:sp>
        <p:nvSpPr>
          <p:cNvPr id="21" name="Rounded Rectangle 20"/>
          <p:cNvSpPr/>
          <p:nvPr/>
        </p:nvSpPr>
        <p:spPr>
          <a:xfrm>
            <a:off x="6263640" y="2194560"/>
            <a:ext cx="5394960" cy="457200"/>
          </a:xfrm>
          <a:prstGeom prst="roundRect">
            <a:avLst>
              <a:gd name="adj" fmla="val 6000"/>
            </a:avLst>
          </a:prstGeom>
          <a:solidFill>
            <a:srgbClr val="FBF2E8"/>
          </a:solidFill>
          <a:ln w="12700">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2194560"/>
            <a:ext cx="1005840" cy="457200"/>
          </a:xfrm>
          <a:prstGeom prst="rect">
            <a:avLst/>
          </a:prstGeom>
          <a:noFill/>
        </p:spPr>
        <p:txBody>
          <a:bodyPr wrap="square" lIns="0" tIns="0" rIns="0" bIns="0" anchor="ctr">
            <a:spAutoFit/>
          </a:bodyPr>
          <a:lstStyle/>
          <a:p>
            <a:pPr algn="l"/>
            <a:r>
              <a:rPr sz="1100" b="1" i="0">
                <a:solidFill>
                  <a:srgbClr val="C8722F"/>
                </a:solidFill>
                <a:latin typeface="Yu Gothic"/>
              </a:rPr>
              <a:t>Option A</a:t>
            </a:r>
          </a:p>
        </p:txBody>
      </p:sp>
      <p:sp>
        <p:nvSpPr>
          <p:cNvPr id="23" name="TextBox 22"/>
          <p:cNvSpPr txBox="1"/>
          <p:nvPr/>
        </p:nvSpPr>
        <p:spPr>
          <a:xfrm>
            <a:off x="7498080" y="2194560"/>
            <a:ext cx="2743200" cy="457200"/>
          </a:xfrm>
          <a:prstGeom prst="rect">
            <a:avLst/>
          </a:prstGeom>
          <a:noFill/>
        </p:spPr>
        <p:txBody>
          <a:bodyPr wrap="square" lIns="0" tIns="0" rIns="0" bIns="0" anchor="ctr">
            <a:spAutoFit/>
          </a:bodyPr>
          <a:lstStyle/>
          <a:p>
            <a:pPr algn="l"/>
            <a:r>
              <a:rPr sz="1200" b="0" i="0">
                <a:solidFill>
                  <a:srgbClr val="2A2724"/>
                </a:solidFill>
                <a:latin typeface="Yu Gothic"/>
              </a:rPr>
              <a:t>EDI実連携</a:t>
            </a:r>
          </a:p>
        </p:txBody>
      </p:sp>
      <p:sp>
        <p:nvSpPr>
          <p:cNvPr id="24" name="TextBox 23"/>
          <p:cNvSpPr txBox="1"/>
          <p:nvPr/>
        </p:nvSpPr>
        <p:spPr>
          <a:xfrm>
            <a:off x="10241279" y="2194560"/>
            <a:ext cx="1280160" cy="457200"/>
          </a:xfrm>
          <a:prstGeom prst="rect">
            <a:avLst/>
          </a:prstGeom>
          <a:noFill/>
        </p:spPr>
        <p:txBody>
          <a:bodyPr wrap="square" lIns="0" tIns="0" rIns="0" bIns="0" anchor="ctr">
            <a:spAutoFit/>
          </a:bodyPr>
          <a:lstStyle/>
          <a:p>
            <a:pPr algn="r"/>
            <a:r>
              <a:rPr sz="1200" b="1" i="0">
                <a:solidFill>
                  <a:srgbClr val="A85A1F"/>
                </a:solidFill>
                <a:latin typeface="Yu Gothic"/>
              </a:rPr>
              <a:t>別途見積</a:t>
            </a:r>
          </a:p>
        </p:txBody>
      </p:sp>
      <p:sp>
        <p:nvSpPr>
          <p:cNvPr id="25" name="Rounded Rectangle 24"/>
          <p:cNvSpPr/>
          <p:nvPr/>
        </p:nvSpPr>
        <p:spPr>
          <a:xfrm>
            <a:off x="6263640" y="2743200"/>
            <a:ext cx="5394960" cy="457200"/>
          </a:xfrm>
          <a:prstGeom prst="roundRect">
            <a:avLst>
              <a:gd name="adj" fmla="val 6000"/>
            </a:avLst>
          </a:prstGeom>
          <a:solidFill>
            <a:srgbClr val="FBF2E8"/>
          </a:solidFill>
          <a:ln w="12700">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2743200"/>
            <a:ext cx="1005840" cy="457200"/>
          </a:xfrm>
          <a:prstGeom prst="rect">
            <a:avLst/>
          </a:prstGeom>
          <a:noFill/>
        </p:spPr>
        <p:txBody>
          <a:bodyPr wrap="square" lIns="0" tIns="0" rIns="0" bIns="0" anchor="ctr">
            <a:spAutoFit/>
          </a:bodyPr>
          <a:lstStyle/>
          <a:p>
            <a:pPr algn="l"/>
            <a:r>
              <a:rPr sz="1100" b="1" i="0">
                <a:solidFill>
                  <a:srgbClr val="C8722F"/>
                </a:solidFill>
                <a:latin typeface="Yu Gothic"/>
              </a:rPr>
              <a:t>Option B</a:t>
            </a:r>
          </a:p>
        </p:txBody>
      </p:sp>
      <p:sp>
        <p:nvSpPr>
          <p:cNvPr id="27" name="TextBox 26"/>
          <p:cNvSpPr txBox="1"/>
          <p:nvPr/>
        </p:nvSpPr>
        <p:spPr>
          <a:xfrm>
            <a:off x="7498080" y="2743200"/>
            <a:ext cx="2743200" cy="457200"/>
          </a:xfrm>
          <a:prstGeom prst="rect">
            <a:avLst/>
          </a:prstGeom>
          <a:noFill/>
        </p:spPr>
        <p:txBody>
          <a:bodyPr wrap="square" lIns="0" tIns="0" rIns="0" bIns="0" anchor="ctr">
            <a:spAutoFit/>
          </a:bodyPr>
          <a:lstStyle/>
          <a:p>
            <a:pPr algn="l"/>
            <a:r>
              <a:rPr sz="1200" b="0" i="0">
                <a:solidFill>
                  <a:srgbClr val="2A2724"/>
                </a:solidFill>
                <a:latin typeface="Yu Gothic"/>
              </a:rPr>
              <a:t>高度な承認Workflow</a:t>
            </a:r>
          </a:p>
        </p:txBody>
      </p:sp>
      <p:sp>
        <p:nvSpPr>
          <p:cNvPr id="28" name="TextBox 27"/>
          <p:cNvSpPr txBox="1"/>
          <p:nvPr/>
        </p:nvSpPr>
        <p:spPr>
          <a:xfrm>
            <a:off x="10241279" y="2743200"/>
            <a:ext cx="1280160" cy="457200"/>
          </a:xfrm>
          <a:prstGeom prst="rect">
            <a:avLst/>
          </a:prstGeom>
          <a:noFill/>
        </p:spPr>
        <p:txBody>
          <a:bodyPr wrap="square" lIns="0" tIns="0" rIns="0" bIns="0" anchor="ctr">
            <a:spAutoFit/>
          </a:bodyPr>
          <a:lstStyle/>
          <a:p>
            <a:pPr algn="r"/>
            <a:r>
              <a:rPr sz="1200" b="1" i="0">
                <a:solidFill>
                  <a:srgbClr val="A85A1F"/>
                </a:solidFill>
                <a:latin typeface="Yu Gothic"/>
              </a:rPr>
              <a:t>3〜5人日</a:t>
            </a:r>
          </a:p>
        </p:txBody>
      </p:sp>
      <p:sp>
        <p:nvSpPr>
          <p:cNvPr id="29" name="Rounded Rectangle 28"/>
          <p:cNvSpPr/>
          <p:nvPr/>
        </p:nvSpPr>
        <p:spPr>
          <a:xfrm>
            <a:off x="6263640" y="3291840"/>
            <a:ext cx="5394960" cy="457200"/>
          </a:xfrm>
          <a:prstGeom prst="roundRect">
            <a:avLst>
              <a:gd name="adj" fmla="val 6000"/>
            </a:avLst>
          </a:prstGeom>
          <a:solidFill>
            <a:srgbClr val="FBF2E8"/>
          </a:solidFill>
          <a:ln w="12700">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46520" y="3291840"/>
            <a:ext cx="1005840" cy="457200"/>
          </a:xfrm>
          <a:prstGeom prst="rect">
            <a:avLst/>
          </a:prstGeom>
          <a:noFill/>
        </p:spPr>
        <p:txBody>
          <a:bodyPr wrap="square" lIns="0" tIns="0" rIns="0" bIns="0" anchor="ctr">
            <a:spAutoFit/>
          </a:bodyPr>
          <a:lstStyle/>
          <a:p>
            <a:pPr algn="l"/>
            <a:r>
              <a:rPr sz="1100" b="1" i="0">
                <a:solidFill>
                  <a:srgbClr val="C8722F"/>
                </a:solidFill>
                <a:latin typeface="Yu Gothic"/>
              </a:rPr>
              <a:t>Option C</a:t>
            </a:r>
          </a:p>
        </p:txBody>
      </p:sp>
      <p:sp>
        <p:nvSpPr>
          <p:cNvPr id="31" name="TextBox 30"/>
          <p:cNvSpPr txBox="1"/>
          <p:nvPr/>
        </p:nvSpPr>
        <p:spPr>
          <a:xfrm>
            <a:off x="7498080" y="3291840"/>
            <a:ext cx="2743200" cy="457200"/>
          </a:xfrm>
          <a:prstGeom prst="rect">
            <a:avLst/>
          </a:prstGeom>
          <a:noFill/>
        </p:spPr>
        <p:txBody>
          <a:bodyPr wrap="square" lIns="0" tIns="0" rIns="0" bIns="0" anchor="ctr">
            <a:spAutoFit/>
          </a:bodyPr>
          <a:lstStyle/>
          <a:p>
            <a:pPr algn="l"/>
            <a:r>
              <a:rPr sz="1200" b="0" i="0">
                <a:solidFill>
                  <a:srgbClr val="2A2724"/>
                </a:solidFill>
                <a:latin typeface="Yu Gothic"/>
              </a:rPr>
              <a:t>価格変更オンライン化</a:t>
            </a:r>
          </a:p>
        </p:txBody>
      </p:sp>
      <p:sp>
        <p:nvSpPr>
          <p:cNvPr id="32" name="TextBox 31"/>
          <p:cNvSpPr txBox="1"/>
          <p:nvPr/>
        </p:nvSpPr>
        <p:spPr>
          <a:xfrm>
            <a:off x="10241279" y="3291840"/>
            <a:ext cx="1280160" cy="457200"/>
          </a:xfrm>
          <a:prstGeom prst="rect">
            <a:avLst/>
          </a:prstGeom>
          <a:noFill/>
        </p:spPr>
        <p:txBody>
          <a:bodyPr wrap="square" lIns="0" tIns="0" rIns="0" bIns="0" anchor="ctr">
            <a:spAutoFit/>
          </a:bodyPr>
          <a:lstStyle/>
          <a:p>
            <a:pPr algn="r"/>
            <a:r>
              <a:rPr sz="1200" b="1" i="0">
                <a:solidFill>
                  <a:srgbClr val="A85A1F"/>
                </a:solidFill>
                <a:latin typeface="Yu Gothic"/>
              </a:rPr>
              <a:t>別途見積</a:t>
            </a:r>
          </a:p>
        </p:txBody>
      </p:sp>
      <p:sp>
        <p:nvSpPr>
          <p:cNvPr id="33" name="Rounded Rectangle 32"/>
          <p:cNvSpPr/>
          <p:nvPr/>
        </p:nvSpPr>
        <p:spPr>
          <a:xfrm>
            <a:off x="6263640" y="3840480"/>
            <a:ext cx="5394960" cy="457200"/>
          </a:xfrm>
          <a:prstGeom prst="roundRect">
            <a:avLst>
              <a:gd name="adj" fmla="val 6000"/>
            </a:avLst>
          </a:prstGeom>
          <a:solidFill>
            <a:srgbClr val="FBF2E8"/>
          </a:solidFill>
          <a:ln w="12700">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46520" y="3840480"/>
            <a:ext cx="1005840" cy="457200"/>
          </a:xfrm>
          <a:prstGeom prst="rect">
            <a:avLst/>
          </a:prstGeom>
          <a:noFill/>
        </p:spPr>
        <p:txBody>
          <a:bodyPr wrap="square" lIns="0" tIns="0" rIns="0" bIns="0" anchor="ctr">
            <a:spAutoFit/>
          </a:bodyPr>
          <a:lstStyle/>
          <a:p>
            <a:pPr algn="l"/>
            <a:r>
              <a:rPr sz="1100" b="1" i="0">
                <a:solidFill>
                  <a:srgbClr val="C8722F"/>
                </a:solidFill>
                <a:latin typeface="Yu Gothic"/>
              </a:rPr>
              <a:t>Option D</a:t>
            </a:r>
          </a:p>
        </p:txBody>
      </p:sp>
      <p:sp>
        <p:nvSpPr>
          <p:cNvPr id="35" name="TextBox 34"/>
          <p:cNvSpPr txBox="1"/>
          <p:nvPr/>
        </p:nvSpPr>
        <p:spPr>
          <a:xfrm>
            <a:off x="7498080" y="3840480"/>
            <a:ext cx="2743200" cy="457200"/>
          </a:xfrm>
          <a:prstGeom prst="rect">
            <a:avLst/>
          </a:prstGeom>
          <a:noFill/>
        </p:spPr>
        <p:txBody>
          <a:bodyPr wrap="square" lIns="0" tIns="0" rIns="0" bIns="0" anchor="ctr">
            <a:spAutoFit/>
          </a:bodyPr>
          <a:lstStyle/>
          <a:p>
            <a:pPr algn="l"/>
            <a:r>
              <a:rPr sz="1200" b="0" i="0">
                <a:solidFill>
                  <a:srgbClr val="2A2724"/>
                </a:solidFill>
                <a:latin typeface="Yu Gothic"/>
              </a:rPr>
              <a:t>在庫・販売分析強化</a:t>
            </a:r>
          </a:p>
        </p:txBody>
      </p:sp>
      <p:sp>
        <p:nvSpPr>
          <p:cNvPr id="36" name="TextBox 35"/>
          <p:cNvSpPr txBox="1"/>
          <p:nvPr/>
        </p:nvSpPr>
        <p:spPr>
          <a:xfrm>
            <a:off x="10241279" y="3840480"/>
            <a:ext cx="1280160" cy="457200"/>
          </a:xfrm>
          <a:prstGeom prst="rect">
            <a:avLst/>
          </a:prstGeom>
          <a:noFill/>
        </p:spPr>
        <p:txBody>
          <a:bodyPr wrap="square" lIns="0" tIns="0" rIns="0" bIns="0" anchor="ctr">
            <a:spAutoFit/>
          </a:bodyPr>
          <a:lstStyle/>
          <a:p>
            <a:pPr algn="r"/>
            <a:r>
              <a:rPr sz="1200" b="1" i="0">
                <a:solidFill>
                  <a:srgbClr val="A85A1F"/>
                </a:solidFill>
                <a:latin typeface="Yu Gothic"/>
              </a:rPr>
              <a:t>別途見積</a:t>
            </a:r>
          </a:p>
        </p:txBody>
      </p:sp>
      <p:sp>
        <p:nvSpPr>
          <p:cNvPr id="37" name="Rounded Rectangle 36"/>
          <p:cNvSpPr/>
          <p:nvPr/>
        </p:nvSpPr>
        <p:spPr>
          <a:xfrm>
            <a:off x="6263640" y="4389120"/>
            <a:ext cx="5394960" cy="457200"/>
          </a:xfrm>
          <a:prstGeom prst="roundRect">
            <a:avLst>
              <a:gd name="adj" fmla="val 6000"/>
            </a:avLst>
          </a:prstGeom>
          <a:solidFill>
            <a:srgbClr val="FBF2E8"/>
          </a:solidFill>
          <a:ln w="12700">
            <a:solidFill>
              <a:srgbClr val="E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46520" y="4389120"/>
            <a:ext cx="1005840" cy="457200"/>
          </a:xfrm>
          <a:prstGeom prst="rect">
            <a:avLst/>
          </a:prstGeom>
          <a:noFill/>
        </p:spPr>
        <p:txBody>
          <a:bodyPr wrap="square" lIns="0" tIns="0" rIns="0" bIns="0" anchor="ctr">
            <a:spAutoFit/>
          </a:bodyPr>
          <a:lstStyle/>
          <a:p>
            <a:pPr algn="l"/>
            <a:r>
              <a:rPr sz="1100" b="1" i="0">
                <a:solidFill>
                  <a:srgbClr val="C8722F"/>
                </a:solidFill>
                <a:latin typeface="Yu Gothic"/>
              </a:rPr>
              <a:t>Option E</a:t>
            </a:r>
          </a:p>
        </p:txBody>
      </p:sp>
      <p:sp>
        <p:nvSpPr>
          <p:cNvPr id="39" name="TextBox 38"/>
          <p:cNvSpPr txBox="1"/>
          <p:nvPr/>
        </p:nvSpPr>
        <p:spPr>
          <a:xfrm>
            <a:off x="7498080" y="4389120"/>
            <a:ext cx="2743200" cy="457200"/>
          </a:xfrm>
          <a:prstGeom prst="rect">
            <a:avLst/>
          </a:prstGeom>
          <a:noFill/>
        </p:spPr>
        <p:txBody>
          <a:bodyPr wrap="square" lIns="0" tIns="0" rIns="0" bIns="0" anchor="ctr">
            <a:spAutoFit/>
          </a:bodyPr>
          <a:lstStyle/>
          <a:p>
            <a:pPr algn="l"/>
            <a:r>
              <a:rPr sz="1200" b="0" i="0">
                <a:solidFill>
                  <a:srgbClr val="2A2724"/>
                </a:solidFill>
                <a:latin typeface="Yu Gothic"/>
              </a:rPr>
              <a:t>倉庫・物流連携</a:t>
            </a:r>
          </a:p>
        </p:txBody>
      </p:sp>
      <p:sp>
        <p:nvSpPr>
          <p:cNvPr id="40" name="TextBox 39"/>
          <p:cNvSpPr txBox="1"/>
          <p:nvPr/>
        </p:nvSpPr>
        <p:spPr>
          <a:xfrm>
            <a:off x="10241279" y="4389120"/>
            <a:ext cx="1280160" cy="457200"/>
          </a:xfrm>
          <a:prstGeom prst="rect">
            <a:avLst/>
          </a:prstGeom>
          <a:noFill/>
        </p:spPr>
        <p:txBody>
          <a:bodyPr wrap="square" lIns="0" tIns="0" rIns="0" bIns="0" anchor="ctr">
            <a:spAutoFit/>
          </a:bodyPr>
          <a:lstStyle/>
          <a:p>
            <a:pPr algn="r"/>
            <a:r>
              <a:rPr sz="1200" b="1" i="0">
                <a:solidFill>
                  <a:srgbClr val="A85A1F"/>
                </a:solidFill>
                <a:latin typeface="Yu Gothic"/>
              </a:rPr>
              <a:t>別途見積</a:t>
            </a:r>
          </a:p>
        </p:txBody>
      </p:sp>
      <p:sp>
        <p:nvSpPr>
          <p:cNvPr id="41" name="TextBox 40"/>
          <p:cNvSpPr txBox="1"/>
          <p:nvPr/>
        </p:nvSpPr>
        <p:spPr>
          <a:xfrm>
            <a:off x="6263640" y="5029200"/>
            <a:ext cx="5394960" cy="320040"/>
          </a:xfrm>
          <a:prstGeom prst="rect">
            <a:avLst/>
          </a:prstGeom>
          <a:noFill/>
        </p:spPr>
        <p:txBody>
          <a:bodyPr wrap="square" lIns="0" tIns="0" rIns="0" bIns="0" anchor="t">
            <a:spAutoFit/>
          </a:bodyPr>
          <a:lstStyle/>
          <a:p>
            <a:pPr algn="l">
              <a:lnSpc>
                <a:spcPct val="125000"/>
              </a:lnSpc>
            </a:pPr>
            <a:r>
              <a:rPr sz="1000" b="0" i="0">
                <a:solidFill>
                  <a:srgbClr val="6B655D"/>
                </a:solidFill>
                <a:latin typeface="Yu Gothic"/>
              </a:rPr>
              <a:t>Optionの金額は今回の参考価格400万円には含まれません。別途お見積りいたします。</a:t>
            </a:r>
          </a:p>
        </p:txBody>
      </p:sp>
      <p:sp>
        <p:nvSpPr>
          <p:cNvPr id="42" name="TextBox 41"/>
          <p:cNvSpPr txBox="1"/>
          <p:nvPr/>
        </p:nvSpPr>
        <p:spPr>
          <a:xfrm>
            <a:off x="502920" y="6355080"/>
            <a:ext cx="11183112" cy="365760"/>
          </a:xfrm>
          <a:prstGeom prst="rect">
            <a:avLst/>
          </a:prstGeom>
          <a:noFill/>
        </p:spPr>
        <p:txBody>
          <a:bodyPr wrap="square" lIns="0" tIns="0" rIns="0" bIns="0" anchor="t">
            <a:spAutoFit/>
          </a:bodyPr>
          <a:lstStyle/>
          <a:p>
            <a:pPr algn="l">
              <a:lnSpc>
                <a:spcPct val="120000"/>
              </a:lnSpc>
            </a:pPr>
            <a:r>
              <a:rPr sz="1000" b="0" i="0">
                <a:solidFill>
                  <a:srgbClr val="9A938A"/>
                </a:solidFill>
                <a:latin typeface="Yu Gothic"/>
              </a:rPr>
              <a:t>本価格は現時点で確認できている仕様・運用を前提とした概算（参考価格）です。要件定義・現行運用確認の結果により変更となる場合があります。確定見積ではありません。</a:t>
            </a:r>
          </a:p>
        </p:txBody>
      </p:sp>
      <p:sp>
        <p:nvSpPr>
          <p:cNvPr id="43" name="TextBox 42"/>
          <p:cNvSpPr txBox="1"/>
          <p:nvPr/>
        </p:nvSpPr>
        <p:spPr>
          <a:xfrm>
            <a:off x="777240" y="5349240"/>
            <a:ext cx="5120640" cy="777240"/>
          </a:xfrm>
          <a:prstGeom prst="rect">
            <a:avLst/>
          </a:prstGeom>
          <a:noFill/>
        </p:spPr>
        <p:txBody>
          <a:bodyPr wrap="square" lIns="0" tIns="0" rIns="0" bIns="0" anchor="t">
            <a:spAutoFit/>
          </a:bodyPr>
          <a:lstStyle/>
          <a:p>
            <a:pPr algn="l">
              <a:lnSpc>
                <a:spcPct val="130000"/>
              </a:lnSpc>
            </a:pPr>
            <a:r>
              <a:rPr sz="1050" b="0">
                <a:solidFill>
                  <a:srgbClr val="6B655D"/>
                </a:solidFill>
                <a:latin typeface="Yu Gothic"/>
              </a:rPr>
              <a:t>※ 参考価格は初期導入費。運用保守費・クラウド利用料・Optionは別途となります。</a:t>
            </a:r>
          </a:p>
        </p:txBody>
      </p:sp>
      <p:pic>
        <p:nvPicPr>
          <p:cNvPr id="44" name="図 43">
            <a:extLst>
              <a:ext uri="{FF2B5EF4-FFF2-40B4-BE49-F238E27FC236}">
                <a16:creationId xmlns:a16="http://schemas.microsoft.com/office/drawing/2014/main" id="{6E299A62-A390-D247-276E-379E0E64ED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5486400" cy="274320"/>
          </a:xfrm>
          <a:prstGeom prst="rect">
            <a:avLst/>
          </a:prstGeom>
          <a:noFill/>
        </p:spPr>
        <p:txBody>
          <a:bodyPr wrap="square" lIns="0" tIns="0" rIns="0" bIns="0" anchor="t">
            <a:spAutoFit/>
          </a:bodyPr>
          <a:lstStyle/>
          <a:p>
            <a:pPr algn="l"/>
            <a:r>
              <a:rPr sz="1150" b="1" i="0">
                <a:solidFill>
                  <a:srgbClr val="C8722F"/>
                </a:solidFill>
                <a:latin typeface="Yu Gothic"/>
              </a:rPr>
              <a:t>CLOSING</a:t>
            </a:r>
          </a:p>
        </p:txBody>
      </p:sp>
      <p:sp>
        <p:nvSpPr>
          <p:cNvPr id="3" name="TextBox 2"/>
          <p:cNvSpPr txBox="1"/>
          <p:nvPr/>
        </p:nvSpPr>
        <p:spPr>
          <a:xfrm>
            <a:off x="9400032" y="384048"/>
            <a:ext cx="2286000" cy="274320"/>
          </a:xfrm>
          <a:prstGeom prst="rect">
            <a:avLst/>
          </a:prstGeom>
          <a:noFill/>
        </p:spPr>
        <p:txBody>
          <a:bodyPr wrap="square" lIns="0" tIns="0" rIns="0" bIns="0" anchor="t">
            <a:spAutoFit/>
          </a:bodyPr>
          <a:lstStyle/>
          <a:p>
            <a:pPr algn="r"/>
            <a:r>
              <a:rPr sz="1050" b="0" i="0">
                <a:solidFill>
                  <a:srgbClr val="9A938A"/>
                </a:solidFill>
                <a:latin typeface="Yu Gothic"/>
              </a:rPr>
              <a:t>24 / 24</a:t>
            </a:r>
          </a:p>
        </p:txBody>
      </p:sp>
      <p:sp>
        <p:nvSpPr>
          <p:cNvPr id="4" name="TextBox 3"/>
          <p:cNvSpPr txBox="1"/>
          <p:nvPr/>
        </p:nvSpPr>
        <p:spPr>
          <a:xfrm>
            <a:off x="502920" y="1554480"/>
            <a:ext cx="11183112" cy="640080"/>
          </a:xfrm>
          <a:prstGeom prst="rect">
            <a:avLst/>
          </a:prstGeom>
          <a:noFill/>
        </p:spPr>
        <p:txBody>
          <a:bodyPr wrap="square" lIns="0" tIns="0" rIns="0" bIns="0" anchor="t">
            <a:spAutoFit/>
          </a:bodyPr>
          <a:lstStyle/>
          <a:p>
            <a:pPr algn="l"/>
            <a:r>
              <a:rPr sz="3000" b="1" i="0">
                <a:solidFill>
                  <a:srgbClr val="2A2724"/>
                </a:solidFill>
                <a:latin typeface="Yu Gothic"/>
              </a:rPr>
              <a:t>まずは、発注から入荷・未納管理まで</a:t>
            </a:r>
          </a:p>
        </p:txBody>
      </p:sp>
      <p:sp>
        <p:nvSpPr>
          <p:cNvPr id="5" name="TextBox 4"/>
          <p:cNvSpPr txBox="1"/>
          <p:nvPr/>
        </p:nvSpPr>
        <p:spPr>
          <a:xfrm>
            <a:off x="502920" y="2240280"/>
            <a:ext cx="11183112" cy="640080"/>
          </a:xfrm>
          <a:prstGeom prst="rect">
            <a:avLst/>
          </a:prstGeom>
          <a:noFill/>
        </p:spPr>
        <p:txBody>
          <a:bodyPr wrap="square" lIns="0" tIns="0" rIns="0" bIns="0" anchor="t">
            <a:spAutoFit/>
          </a:bodyPr>
          <a:lstStyle/>
          <a:p>
            <a:pPr algn="l"/>
            <a:r>
              <a:rPr sz="3000" b="1" i="0">
                <a:solidFill>
                  <a:srgbClr val="2A2724"/>
                </a:solidFill>
                <a:latin typeface="Yu Gothic"/>
              </a:rPr>
              <a:t>ひとつの業務フローとして、オンライン化します。</a:t>
            </a:r>
          </a:p>
        </p:txBody>
      </p:sp>
      <p:cxnSp>
        <p:nvCxnSpPr>
          <p:cNvPr id="6" name="Connector 5"/>
          <p:cNvCxnSpPr/>
          <p:nvPr/>
        </p:nvCxnSpPr>
        <p:spPr>
          <a:xfrm>
            <a:off x="502920" y="3063240"/>
            <a:ext cx="11183112" cy="0"/>
          </a:xfrm>
          <a:prstGeom prst="line">
            <a:avLst/>
          </a:prstGeom>
          <a:ln w="9525">
            <a:solidFill>
              <a:srgbClr val="E2DD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3337560"/>
            <a:ext cx="11183112" cy="942887"/>
          </a:xfrm>
          <a:prstGeom prst="rect">
            <a:avLst/>
          </a:prstGeom>
          <a:noFill/>
        </p:spPr>
        <p:txBody>
          <a:bodyPr wrap="square" lIns="0" tIns="0" rIns="0" bIns="0" anchor="t">
            <a:spAutoFit/>
          </a:bodyPr>
          <a:lstStyle/>
          <a:p>
            <a:pPr algn="l">
              <a:lnSpc>
                <a:spcPct val="140000"/>
              </a:lnSpc>
            </a:pPr>
            <a:r>
              <a:rPr sz="1500" b="0" i="0" dirty="0" err="1">
                <a:solidFill>
                  <a:srgbClr val="6B655D"/>
                </a:solidFill>
                <a:latin typeface="Yu Gothic"/>
              </a:rPr>
              <a:t>その後、G-OPSを共通基盤として</a:t>
            </a:r>
            <a:r>
              <a:rPr sz="1500" b="0" i="0" dirty="0">
                <a:solidFill>
                  <a:srgbClr val="6B655D"/>
                </a:solidFill>
                <a:latin typeface="Yu Gothic"/>
              </a:rPr>
              <a:t>、</a:t>
            </a:r>
            <a:endParaRPr lang="en-US" sz="1500" b="0" i="0" dirty="0">
              <a:solidFill>
                <a:srgbClr val="6B655D"/>
              </a:solidFill>
              <a:latin typeface="Yu Gothic"/>
            </a:endParaRPr>
          </a:p>
          <a:p>
            <a:pPr algn="l">
              <a:lnSpc>
                <a:spcPct val="140000"/>
              </a:lnSpc>
            </a:pPr>
            <a:r>
              <a:rPr lang="en-US" sz="1500" dirty="0">
                <a:solidFill>
                  <a:srgbClr val="6B655D"/>
                </a:solidFill>
                <a:latin typeface="Yu Gothic"/>
              </a:rPr>
              <a:t>	</a:t>
            </a:r>
            <a:r>
              <a:rPr sz="1500" b="0" i="0" dirty="0" err="1">
                <a:solidFill>
                  <a:srgbClr val="6B655D"/>
                </a:solidFill>
                <a:latin typeface="Yu Gothic"/>
              </a:rPr>
              <a:t>EDI・価格変更・在庫販売分析・倉庫物流へ</a:t>
            </a:r>
            <a:r>
              <a:rPr sz="1500" b="0" i="0" dirty="0">
                <a:solidFill>
                  <a:srgbClr val="6B655D"/>
                </a:solidFill>
                <a:latin typeface="Yu Gothic"/>
              </a:rPr>
              <a:t>、</a:t>
            </a:r>
            <a:endParaRPr lang="en-US" sz="1500" b="0" i="0" dirty="0">
              <a:solidFill>
                <a:srgbClr val="6B655D"/>
              </a:solidFill>
              <a:latin typeface="Yu Gothic"/>
            </a:endParaRPr>
          </a:p>
          <a:p>
            <a:pPr algn="l">
              <a:lnSpc>
                <a:spcPct val="140000"/>
              </a:lnSpc>
            </a:pPr>
            <a:r>
              <a:rPr sz="1500" b="0" i="0" dirty="0" err="1">
                <a:solidFill>
                  <a:srgbClr val="6B655D"/>
                </a:solidFill>
                <a:latin typeface="Yu Gothic"/>
              </a:rPr>
              <a:t>段階的に業務領域を広げていくことができます</a:t>
            </a:r>
            <a:r>
              <a:rPr sz="1500" b="0" i="0" dirty="0">
                <a:solidFill>
                  <a:srgbClr val="6B655D"/>
                </a:solidFill>
                <a:latin typeface="Yu Gothic"/>
              </a:rPr>
              <a:t>。</a:t>
            </a:r>
          </a:p>
        </p:txBody>
      </p:sp>
      <p:sp>
        <p:nvSpPr>
          <p:cNvPr id="8" name="Rounded Rectangle 7"/>
          <p:cNvSpPr/>
          <p:nvPr/>
        </p:nvSpPr>
        <p:spPr>
          <a:xfrm>
            <a:off x="502920" y="4617720"/>
            <a:ext cx="11183112" cy="1234440"/>
          </a:xfrm>
          <a:prstGeom prst="roundRect">
            <a:avLst>
              <a:gd name="adj" fmla="val 6000"/>
            </a:avLst>
          </a:prstGeom>
          <a:solidFill>
            <a:srgbClr val="FCEAD8"/>
          </a:solidFill>
          <a:ln w="15875">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4955440"/>
            <a:ext cx="10543032" cy="558999"/>
          </a:xfrm>
          <a:prstGeom prst="rect">
            <a:avLst/>
          </a:prstGeom>
          <a:noFill/>
        </p:spPr>
        <p:txBody>
          <a:bodyPr wrap="square" lIns="0" tIns="0" rIns="0" bIns="0" anchor="ctr">
            <a:spAutoFit/>
          </a:bodyPr>
          <a:lstStyle/>
          <a:p>
            <a:pPr algn="l">
              <a:lnSpc>
                <a:spcPct val="135000"/>
              </a:lnSpc>
            </a:pPr>
            <a:r>
              <a:rPr lang="ja-JP" altLang="en-US" sz="1400" b="1" i="0" dirty="0">
                <a:solidFill>
                  <a:srgbClr val="A85A1F"/>
                </a:solidFill>
                <a:latin typeface="Yu Gothic"/>
              </a:rPr>
              <a:t>弊社</a:t>
            </a:r>
            <a:r>
              <a:rPr sz="1400" b="1" i="0" dirty="0">
                <a:solidFill>
                  <a:srgbClr val="A85A1F"/>
                </a:solidFill>
                <a:latin typeface="Yu Gothic"/>
              </a:rPr>
              <a:t>推奨構成（73人日／参考価格400万円）についてご確認いただき、要件・現行運用の確定へ進めさせていただければと考えています。ご不明点・ご要望がございましたら、遠慮なくご連絡ください。</a:t>
            </a:r>
          </a:p>
        </p:txBody>
      </p:sp>
      <p:sp>
        <p:nvSpPr>
          <p:cNvPr id="10" name="TextBox 9"/>
          <p:cNvSpPr txBox="1"/>
          <p:nvPr/>
        </p:nvSpPr>
        <p:spPr>
          <a:xfrm>
            <a:off x="502920" y="6492240"/>
            <a:ext cx="11183112" cy="146194"/>
          </a:xfrm>
          <a:prstGeom prst="rect">
            <a:avLst/>
          </a:prstGeom>
          <a:noFill/>
        </p:spPr>
        <p:txBody>
          <a:bodyPr wrap="square" lIns="0" tIns="0" rIns="0" bIns="0" anchor="t">
            <a:spAutoFit/>
          </a:bodyPr>
          <a:lstStyle/>
          <a:p>
            <a:pPr algn="l"/>
            <a:r>
              <a:rPr lang="ja-JP" altLang="en-US" sz="950" b="0" i="0" dirty="0">
                <a:solidFill>
                  <a:srgbClr val="9A938A"/>
                </a:solidFill>
                <a:latin typeface="Yu Gothic"/>
              </a:rPr>
              <a:t>株式会社ガリバー</a:t>
            </a:r>
            <a:r>
              <a:rPr sz="950" b="0" i="0" dirty="0">
                <a:solidFill>
                  <a:srgbClr val="9A938A"/>
                </a:solidFill>
                <a:latin typeface="Yu Gothic"/>
              </a:rPr>
              <a:t> </a:t>
            </a:r>
            <a:r>
              <a:rPr sz="950" b="0" i="0" dirty="0" err="1">
                <a:solidFill>
                  <a:srgbClr val="9A938A"/>
                </a:solidFill>
                <a:latin typeface="Yu Gothic"/>
              </a:rPr>
              <a:t>御中</a:t>
            </a:r>
            <a:r>
              <a:rPr sz="950" b="0" i="0" dirty="0">
                <a:solidFill>
                  <a:srgbClr val="9A938A"/>
                </a:solidFill>
                <a:latin typeface="Yu Gothic"/>
              </a:rPr>
              <a:t>　／　G-OPS（G-SYS Operations </a:t>
            </a:r>
            <a:r>
              <a:rPr sz="950" b="0" i="0" dirty="0" err="1">
                <a:solidFill>
                  <a:srgbClr val="9A938A"/>
                </a:solidFill>
                <a:latin typeface="Yu Gothic"/>
              </a:rPr>
              <a:t>Portal）ご提案</a:t>
            </a:r>
            <a:endParaRPr sz="950" b="0" i="0" dirty="0">
              <a:solidFill>
                <a:srgbClr val="9A938A"/>
              </a:solidFill>
              <a:latin typeface="Yu Gothic"/>
            </a:endParaRPr>
          </a:p>
        </p:txBody>
      </p:sp>
      <p:pic>
        <p:nvPicPr>
          <p:cNvPr id="11" name="図 10">
            <a:extLst>
              <a:ext uri="{FF2B5EF4-FFF2-40B4-BE49-F238E27FC236}">
                <a16:creationId xmlns:a16="http://schemas.microsoft.com/office/drawing/2014/main" id="{4D54E0F4-0CF3-69A2-49A0-1C3176E61CC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65992" y="6478254"/>
            <a:ext cx="721934" cy="287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TotalTime>
  <Words>2080</Words>
  <Application>Microsoft Office PowerPoint</Application>
  <PresentationFormat>ワイド画面</PresentationFormat>
  <Paragraphs>438</Paragraphs>
  <Slides>24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Yu Gothic</vt:lpstr>
      <vt:lpstr>Yu Gothic</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Phase1,Inc.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ガリバー様提案書</dc:title>
  <dc:subject>G-Sys ops</dc:subject>
  <dc:creator>Tomoaki Harashima</dc:creator>
  <cp:keywords/>
  <dc:description/>
  <cp:lastModifiedBy>phase1</cp:lastModifiedBy>
  <cp:revision>4</cp:revision>
  <dcterms:created xsi:type="dcterms:W3CDTF">2013-01-27T09:14:16Z</dcterms:created>
  <dcterms:modified xsi:type="dcterms:W3CDTF">2026-09-05T05:48:07Z</dcterms:modified>
  <cp:category/>
</cp:coreProperties>
</file>